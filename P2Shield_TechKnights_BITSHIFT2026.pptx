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saveSubsetFonts="1" autoCompressPictures="0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embeddedFontLst>
    <p:embeddedFont>
      <p:font typeface="Arial Black" panose="020B0A04020102020204" pitchFamily="34" charset="0"/>
      <p:bold r:id="rId9"/>
    </p:embeddedFont>
    <p:embeddedFont>
      <p:font typeface="Consolas" panose="020B0609020204030204" pitchFamily="49" charset="0"/>
      <p:regular r:id="rId10"/>
      <p:bold r:id="rId11"/>
      <p:italic r:id="rId12"/>
      <p:boldItalic r:id="rId13"/>
    </p:embeddedFont>
    <p:embeddedFont>
      <p:font typeface="Garamond" panose="02020404030301010803" pitchFamily="18" charset="0"/>
      <p:regular r:id="rId14"/>
      <p:bold r:id="rId15"/>
      <p:italic r:id="rId16"/>
    </p:embeddedFont>
    <p:embeddedFont>
      <p:font typeface="Oswald" panose="00000500000000000000" pitchFamily="2" charset="0"/>
      <p:regular r:id="rId17"/>
    </p:embeddedFont>
    <p:embeddedFont>
      <p:font typeface="Segoe UI Symbol" panose="020B0502040204020203" pitchFamily="34" charset="0"/>
      <p:regular r:id="rId1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19" roundtripDataSignature="AMtx7mjh2le2S78G+d43hnL7hqE1scHUE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100" d="100"/>
          <a:sy n="100" d="100"/>
        </p:scale>
        <p:origin x="0" y="0"/>
      </p:cViewPr>
      <p:guideLst>
        <p:guide orient="horz" pos="2160"/>
        <p:guide pos="3840"/>
      </p:guideLst>
    </p:cSldViewPr>
  </p:slide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font" Target="fonts/font5.fntdata"/><Relationship Id="rId18" Type="http://schemas.openxmlformats.org/officeDocument/2006/relationships/font" Target="fonts/font10.fntdata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font" Target="fonts/font4.fntdata"/><Relationship Id="rId17" Type="http://schemas.openxmlformats.org/officeDocument/2006/relationships/font" Target="fonts/font9.fntdata"/><Relationship Id="rId2" Type="http://schemas.openxmlformats.org/officeDocument/2006/relationships/slide" Target="slides/slide1.xml"/><Relationship Id="rId16" Type="http://schemas.openxmlformats.org/officeDocument/2006/relationships/font" Target="fonts/font8.fntdata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3.fntdata"/><Relationship Id="rId5" Type="http://schemas.openxmlformats.org/officeDocument/2006/relationships/slide" Target="slides/slide4.xml"/><Relationship Id="rId15" Type="http://schemas.openxmlformats.org/officeDocument/2006/relationships/font" Target="fonts/font7.fntdata"/><Relationship Id="rId23" Type="http://schemas.openxmlformats.org/officeDocument/2006/relationships/tableStyles" Target="tableStyles.xml"/><Relationship Id="rId10" Type="http://schemas.openxmlformats.org/officeDocument/2006/relationships/font" Target="fonts/font2.fntdata"/><Relationship Id="rId19" Type="http://customschemas.google.com/relationships/presentationmetadata" Target="metadata"/><Relationship Id="rId4" Type="http://schemas.openxmlformats.org/officeDocument/2006/relationships/slide" Target="slides/slide3.xml"/><Relationship Id="rId9" Type="http://schemas.openxmlformats.org/officeDocument/2006/relationships/font" Target="fonts/font1.fntdata"/><Relationship Id="rId14" Type="http://schemas.openxmlformats.org/officeDocument/2006/relationships/font" Target="fonts/font6.fntdata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36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" name="Google Shape;8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"/>
            <a:headEnd type="none" w="sm" len="sm"/>
            <a:tailEnd type="none" w="sm" len="sm"/>
          </a:ln>
        </p:spPr>
      </p:sp>
      <p:sp>
        <p:nvSpPr>
          <p:cNvPr id="96" name="Google Shape;96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7" name="Google Shape;97;p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"/>
            <a:headEnd type="none" w="sm" len="sm"/>
            <a:tailEnd type="none" w="sm" len="sm"/>
          </a:ln>
        </p:spPr>
      </p:sp>
      <p:sp>
        <p:nvSpPr>
          <p:cNvPr id="108" name="Google Shape;108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9" name="Google Shape;109;p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3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"/>
            <a:headEnd type="none" w="sm" len="sm"/>
            <a:tailEnd type="none" w="sm" len="sm"/>
          </a:ln>
        </p:spPr>
      </p:sp>
      <p:sp>
        <p:nvSpPr>
          <p:cNvPr id="120" name="Google Shape;120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1" name="Google Shape;121;p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Calibri"/>
              <a:buNone/>
            </a:pPr>
            <a:fld id="{00000000-1234-1234-1234-123412341234}" type="slidenum">
              <a:rPr lang="en-US" sz="1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4</a:t>
            </a:fld>
            <a:endParaRPr sz="12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"/>
            <a:headEnd type="none" w="sm" len="sm"/>
            <a:tailEnd type="none" w="sm" len="sm"/>
          </a:ln>
        </p:spPr>
      </p:sp>
      <p:sp>
        <p:nvSpPr>
          <p:cNvPr id="132" name="Google Shape;132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3" name="Google Shape;133;p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Calibri"/>
              <a:buNone/>
            </a:pPr>
            <a:fld id="{00000000-1234-1234-1234-123412341234}" type="slidenum">
              <a:rPr lang="en-US" sz="1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5</a:t>
            </a:fld>
            <a:endParaRPr sz="12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"/>
            <a:headEnd type="none" w="sm" len="sm"/>
            <a:tailEnd type="none" w="sm" len="sm"/>
          </a:ln>
        </p:spPr>
      </p:sp>
      <p:sp>
        <p:nvSpPr>
          <p:cNvPr id="144" name="Google Shape;144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5" name="Google Shape;145;p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Calibri"/>
              <a:buNone/>
            </a:pPr>
            <a:fld id="{00000000-1234-1234-1234-123412341234}" type="slidenum">
              <a:rPr lang="en-US" sz="1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6</a:t>
            </a:fld>
            <a:endParaRPr sz="12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9"/>
          <p:cNvSpPr txBox="1"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9"/>
          <p:cNvSpPr txBox="1"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9"/>
          <p:cNvSpPr txBox="1">
            <a:spLocks noGrp="1"/>
          </p:cNvSpPr>
          <p:nvPr>
            <p:ph type="dt" idx="10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9"/>
          <p:cNvSpPr txBox="1">
            <a:spLocks noGrp="1"/>
          </p:cNvSpPr>
          <p:nvPr>
            <p:ph type="ftr" idx="11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9"/>
          <p:cNvSpPr txBox="1">
            <a:spLocks noGrp="1"/>
          </p:cNvSpPr>
          <p:nvPr>
            <p:ph type="sldNum" idx="12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10"/>
          <p:cNvSpPr txBox="1">
            <a:spLocks noGrp="1"/>
          </p:cNvSpPr>
          <p:nvPr>
            <p:ph type="title"/>
          </p:nvPr>
        </p:nvSpPr>
        <p:spPr>
          <a:xfrm>
            <a:off x="609600" y="-47625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10"/>
          <p:cNvSpPr txBox="1">
            <a:spLocks noGrp="1"/>
          </p:cNvSpPr>
          <p:nvPr>
            <p:ph type="body" idx="1"/>
          </p:nvPr>
        </p:nvSpPr>
        <p:spPr>
          <a:xfrm>
            <a:off x="609600" y="1095375"/>
            <a:ext cx="10972800" cy="5030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10"/>
          <p:cNvSpPr txBox="1">
            <a:spLocks noGrp="1"/>
          </p:cNvSpPr>
          <p:nvPr>
            <p:ph type="dt" idx="10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10"/>
          <p:cNvSpPr txBox="1">
            <a:spLocks noGrp="1"/>
          </p:cNvSpPr>
          <p:nvPr>
            <p:ph type="ftr" idx="11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10"/>
          <p:cNvSpPr txBox="1">
            <a:spLocks noGrp="1"/>
          </p:cNvSpPr>
          <p:nvPr>
            <p:ph type="sldNum" idx="12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11"/>
          <p:cNvSpPr txBox="1"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4000" b="1" cap="none"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11"/>
          <p:cNvSpPr txBox="1"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11"/>
          <p:cNvSpPr txBox="1">
            <a:spLocks noGrp="1"/>
          </p:cNvSpPr>
          <p:nvPr>
            <p:ph type="dt" idx="10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11"/>
          <p:cNvSpPr txBox="1">
            <a:spLocks noGrp="1"/>
          </p:cNvSpPr>
          <p:nvPr>
            <p:ph type="ftr" idx="11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11"/>
          <p:cNvSpPr txBox="1">
            <a:spLocks noGrp="1"/>
          </p:cNvSpPr>
          <p:nvPr>
            <p:ph type="sldNum" idx="12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12"/>
          <p:cNvSpPr txBox="1">
            <a:spLocks noGrp="1"/>
          </p:cNvSpPr>
          <p:nvPr>
            <p:ph type="title"/>
          </p:nvPr>
        </p:nvSpPr>
        <p:spPr>
          <a:xfrm>
            <a:off x="609600" y="-47625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12"/>
          <p:cNvSpPr txBox="1">
            <a:spLocks noGrp="1"/>
          </p:cNvSpPr>
          <p:nvPr>
            <p:ph type="body" idx="1"/>
          </p:nvPr>
        </p:nvSpPr>
        <p:spPr>
          <a:xfrm>
            <a:off x="609600" y="1600203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12"/>
          <p:cNvSpPr txBox="1">
            <a:spLocks noGrp="1"/>
          </p:cNvSpPr>
          <p:nvPr>
            <p:ph type="body" idx="2"/>
          </p:nvPr>
        </p:nvSpPr>
        <p:spPr>
          <a:xfrm>
            <a:off x="6197600" y="1600203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12"/>
          <p:cNvSpPr txBox="1">
            <a:spLocks noGrp="1"/>
          </p:cNvSpPr>
          <p:nvPr>
            <p:ph type="dt" idx="10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12"/>
          <p:cNvSpPr txBox="1">
            <a:spLocks noGrp="1"/>
          </p:cNvSpPr>
          <p:nvPr>
            <p:ph type="ftr" idx="11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12"/>
          <p:cNvSpPr txBox="1">
            <a:spLocks noGrp="1"/>
          </p:cNvSpPr>
          <p:nvPr>
            <p:ph type="sldNum" idx="12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3"/>
          <p:cNvSpPr txBox="1">
            <a:spLocks noGrp="1"/>
          </p:cNvSpPr>
          <p:nvPr>
            <p:ph type="title"/>
          </p:nvPr>
        </p:nvSpPr>
        <p:spPr>
          <a:xfrm>
            <a:off x="609600" y="-47625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13"/>
          <p:cNvSpPr txBox="1"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13"/>
          <p:cNvSpPr txBox="1">
            <a:spLocks noGrp="1"/>
          </p:cNvSpPr>
          <p:nvPr>
            <p:ph type="body" idx="2"/>
          </p:nvPr>
        </p:nvSpPr>
        <p:spPr>
          <a:xfrm>
            <a:off x="609600" y="2174875"/>
            <a:ext cx="5386917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13"/>
          <p:cNvSpPr txBox="1">
            <a:spLocks noGrp="1"/>
          </p:cNvSpPr>
          <p:nvPr>
            <p:ph type="body" idx="3"/>
          </p:nvPr>
        </p:nvSpPr>
        <p:spPr>
          <a:xfrm>
            <a:off x="6193369" y="1535113"/>
            <a:ext cx="5389033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13"/>
          <p:cNvSpPr txBox="1">
            <a:spLocks noGrp="1"/>
          </p:cNvSpPr>
          <p:nvPr>
            <p:ph type="body" idx="4"/>
          </p:nvPr>
        </p:nvSpPr>
        <p:spPr>
          <a:xfrm>
            <a:off x="6193369" y="2174875"/>
            <a:ext cx="5389033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13"/>
          <p:cNvSpPr txBox="1">
            <a:spLocks noGrp="1"/>
          </p:cNvSpPr>
          <p:nvPr>
            <p:ph type="dt" idx="10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13"/>
          <p:cNvSpPr txBox="1">
            <a:spLocks noGrp="1"/>
          </p:cNvSpPr>
          <p:nvPr>
            <p:ph type="ftr" idx="11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13"/>
          <p:cNvSpPr txBox="1">
            <a:spLocks noGrp="1"/>
          </p:cNvSpPr>
          <p:nvPr>
            <p:ph type="sldNum" idx="12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4"/>
          <p:cNvSpPr txBox="1">
            <a:spLocks noGrp="1"/>
          </p:cNvSpPr>
          <p:nvPr>
            <p:ph type="title"/>
          </p:nvPr>
        </p:nvSpPr>
        <p:spPr>
          <a:xfrm>
            <a:off x="609600" y="-47625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14"/>
          <p:cNvSpPr txBox="1">
            <a:spLocks noGrp="1"/>
          </p:cNvSpPr>
          <p:nvPr>
            <p:ph type="dt" idx="10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14"/>
          <p:cNvSpPr txBox="1">
            <a:spLocks noGrp="1"/>
          </p:cNvSpPr>
          <p:nvPr>
            <p:ph type="ftr" idx="11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14"/>
          <p:cNvSpPr txBox="1">
            <a:spLocks noGrp="1"/>
          </p:cNvSpPr>
          <p:nvPr>
            <p:ph type="sldNum" idx="12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5"/>
          <p:cNvSpPr txBox="1">
            <a:spLocks noGrp="1"/>
          </p:cNvSpPr>
          <p:nvPr>
            <p:ph type="dt" idx="10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15"/>
          <p:cNvSpPr txBox="1">
            <a:spLocks noGrp="1"/>
          </p:cNvSpPr>
          <p:nvPr>
            <p:ph type="ftr" idx="11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15"/>
          <p:cNvSpPr txBox="1">
            <a:spLocks noGrp="1"/>
          </p:cNvSpPr>
          <p:nvPr>
            <p:ph type="sldNum" idx="12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6"/>
          <p:cNvSpPr txBox="1"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16"/>
          <p:cNvSpPr txBox="1">
            <a:spLocks noGrp="1"/>
          </p:cNvSpPr>
          <p:nvPr>
            <p:ph type="body" idx="1"/>
          </p:nvPr>
        </p:nvSpPr>
        <p:spPr>
          <a:xfrm>
            <a:off x="4766733" y="273053"/>
            <a:ext cx="6815667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61" name="Google Shape;61;p16"/>
          <p:cNvSpPr txBox="1">
            <a:spLocks noGrp="1"/>
          </p:cNvSpPr>
          <p:nvPr>
            <p:ph type="body" idx="2"/>
          </p:nvPr>
        </p:nvSpPr>
        <p:spPr>
          <a:xfrm>
            <a:off x="609602" y="1435103"/>
            <a:ext cx="4011084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2" name="Google Shape;62;p16"/>
          <p:cNvSpPr txBox="1">
            <a:spLocks noGrp="1"/>
          </p:cNvSpPr>
          <p:nvPr>
            <p:ph type="dt" idx="10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6"/>
          <p:cNvSpPr txBox="1">
            <a:spLocks noGrp="1"/>
          </p:cNvSpPr>
          <p:nvPr>
            <p:ph type="ftr" idx="11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16"/>
          <p:cNvSpPr txBox="1">
            <a:spLocks noGrp="1"/>
          </p:cNvSpPr>
          <p:nvPr>
            <p:ph type="sldNum" idx="12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7"/>
          <p:cNvSpPr txBox="1"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7"/>
          <p:cNvSpPr>
            <a:spLocks noGrp="1"/>
          </p:cNvSpPr>
          <p:nvPr>
            <p:ph type="pic" idx="2"/>
          </p:nvPr>
        </p:nvSpPr>
        <p:spPr>
          <a:xfrm>
            <a:off x="2389717" y="612775"/>
            <a:ext cx="73152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17"/>
          <p:cNvSpPr txBox="1">
            <a:spLocks noGrp="1"/>
          </p:cNvSpPr>
          <p:nvPr>
            <p:ph type="body" idx="1"/>
          </p:nvPr>
        </p:nvSpPr>
        <p:spPr>
          <a:xfrm>
            <a:off x="2389717" y="5367338"/>
            <a:ext cx="73152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9" name="Google Shape;69;p17"/>
          <p:cNvSpPr txBox="1">
            <a:spLocks noGrp="1"/>
          </p:cNvSpPr>
          <p:nvPr>
            <p:ph type="dt" idx="10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7"/>
          <p:cNvSpPr txBox="1">
            <a:spLocks noGrp="1"/>
          </p:cNvSpPr>
          <p:nvPr>
            <p:ph type="ftr" idx="11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17"/>
          <p:cNvSpPr txBox="1">
            <a:spLocks noGrp="1"/>
          </p:cNvSpPr>
          <p:nvPr>
            <p:ph type="sldNum" idx="12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8"/>
          <p:cNvSpPr txBox="1">
            <a:spLocks noGrp="1"/>
          </p:cNvSpPr>
          <p:nvPr>
            <p:ph type="title"/>
          </p:nvPr>
        </p:nvSpPr>
        <p:spPr>
          <a:xfrm>
            <a:off x="609600" y="-47625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18"/>
          <p:cNvSpPr txBox="1">
            <a:spLocks noGrp="1"/>
          </p:cNvSpPr>
          <p:nvPr>
            <p:ph type="body" idx="1"/>
          </p:nvPr>
        </p:nvSpPr>
        <p:spPr>
          <a:xfrm rot="5400000">
            <a:off x="3580606" y="-1875631"/>
            <a:ext cx="5030788" cy="1097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18"/>
          <p:cNvSpPr txBox="1">
            <a:spLocks noGrp="1"/>
          </p:cNvSpPr>
          <p:nvPr>
            <p:ph type="dt" idx="10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8"/>
          <p:cNvSpPr txBox="1">
            <a:spLocks noGrp="1"/>
          </p:cNvSpPr>
          <p:nvPr>
            <p:ph type="ftr" idx="11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18"/>
          <p:cNvSpPr txBox="1">
            <a:spLocks noGrp="1"/>
          </p:cNvSpPr>
          <p:nvPr>
            <p:ph type="sldNum" idx="12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9"/>
          <p:cNvSpPr txBox="1">
            <a:spLocks noGrp="1"/>
          </p:cNvSpPr>
          <p:nvPr>
            <p:ph type="title"/>
          </p:nvPr>
        </p:nvSpPr>
        <p:spPr>
          <a:xfrm rot="5400000">
            <a:off x="7285038" y="1828804"/>
            <a:ext cx="5851525" cy="274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19"/>
          <p:cNvSpPr txBox="1">
            <a:spLocks noGrp="1"/>
          </p:cNvSpPr>
          <p:nvPr>
            <p:ph type="body" idx="1"/>
          </p:nvPr>
        </p:nvSpPr>
        <p:spPr>
          <a:xfrm rot="5400000">
            <a:off x="1697038" y="-812796"/>
            <a:ext cx="5851525" cy="80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1" name="Google Shape;81;p19"/>
          <p:cNvSpPr txBox="1">
            <a:spLocks noGrp="1"/>
          </p:cNvSpPr>
          <p:nvPr>
            <p:ph type="dt" idx="10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19"/>
          <p:cNvSpPr txBox="1">
            <a:spLocks noGrp="1"/>
          </p:cNvSpPr>
          <p:nvPr>
            <p:ph type="ftr" idx="11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19"/>
          <p:cNvSpPr txBox="1">
            <a:spLocks noGrp="1"/>
          </p:cNvSpPr>
          <p:nvPr>
            <p:ph type="sldNum" idx="12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8"/>
          <p:cNvSpPr txBox="1">
            <a:spLocks noGrp="1"/>
          </p:cNvSpPr>
          <p:nvPr>
            <p:ph type="title"/>
          </p:nvPr>
        </p:nvSpPr>
        <p:spPr>
          <a:xfrm>
            <a:off x="609600" y="-47625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marR="0"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marR="0"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marR="0"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marR="0"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marR="0"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marR="0"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marR="0"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marR="0"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endParaRPr/>
          </a:p>
        </p:txBody>
      </p:sp>
      <p:sp>
        <p:nvSpPr>
          <p:cNvPr id="11" name="Google Shape;11;p8"/>
          <p:cNvSpPr txBox="1">
            <a:spLocks noGrp="1"/>
          </p:cNvSpPr>
          <p:nvPr>
            <p:ph type="body" idx="1"/>
          </p:nvPr>
        </p:nvSpPr>
        <p:spPr>
          <a:xfrm>
            <a:off x="609600" y="1095375"/>
            <a:ext cx="10972800" cy="5030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8"/>
          <p:cNvSpPr txBox="1">
            <a:spLocks noGrp="1"/>
          </p:cNvSpPr>
          <p:nvPr>
            <p:ph type="dt" idx="10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8"/>
          <p:cNvSpPr txBox="1">
            <a:spLocks noGrp="1"/>
          </p:cNvSpPr>
          <p:nvPr>
            <p:ph type="ftr" idx="11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8"/>
          <p:cNvSpPr txBox="1">
            <a:spLocks noGrp="1"/>
          </p:cNvSpPr>
          <p:nvPr>
            <p:ph type="sldNum" idx="12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marL="0" marR="0" lvl="1" indent="0" algn="r" rtl="0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marL="0" marR="0" lvl="2" indent="0" algn="r" rtl="0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marL="0" marR="0" lvl="3" indent="0" algn="r" rtl="0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marL="0" marR="0" lvl="4" indent="0" algn="r" rtl="0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marL="0" marR="0" lvl="5" indent="0" algn="r" rtl="0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marL="0" marR="0" lvl="6" indent="0" algn="r" rtl="0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marL="0" marR="0" lvl="7" indent="0" algn="r" rtl="0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marL="0" marR="0" lvl="8" indent="0" algn="r" rtl="0">
              <a:spcBef>
                <a:spcPts val="0"/>
              </a:spcBef>
              <a:spcAft>
                <a:spcPts val="0"/>
              </a:spcAft>
              <a:buNone/>
              <a:defRPr sz="1200" b="0" i="0" u="none" strike="noStrike" cap="non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3" Type="http://schemas.openxmlformats.org/officeDocument/2006/relationships/image" Target="../media/image1.png"/><Relationship Id="rId7" Type="http://schemas.openxmlformats.org/officeDocument/2006/relationships/image" Target="../media/image6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svg"/><Relationship Id="rId11" Type="http://schemas.openxmlformats.org/officeDocument/2006/relationships/image" Target="../media/image2.png"/><Relationship Id="rId5" Type="http://schemas.openxmlformats.org/officeDocument/2006/relationships/image" Target="../media/image4.svg"/><Relationship Id="rId10" Type="http://schemas.openxmlformats.org/officeDocument/2006/relationships/image" Target="../media/image9.svg"/><Relationship Id="rId4" Type="http://schemas.openxmlformats.org/officeDocument/2006/relationships/image" Target="../media/image3.svg"/><Relationship Id="rId9" Type="http://schemas.openxmlformats.org/officeDocument/2006/relationships/image" Target="../media/image8.sv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svg"/><Relationship Id="rId13" Type="http://schemas.openxmlformats.org/officeDocument/2006/relationships/image" Target="../media/image16.svg"/><Relationship Id="rId3" Type="http://schemas.openxmlformats.org/officeDocument/2006/relationships/image" Target="../media/image1.png"/><Relationship Id="rId7" Type="http://schemas.openxmlformats.org/officeDocument/2006/relationships/image" Target="../media/image12.svg"/><Relationship Id="rId12" Type="http://schemas.openxmlformats.org/officeDocument/2006/relationships/image" Target="../media/image7.svg"/><Relationship Id="rId2" Type="http://schemas.openxmlformats.org/officeDocument/2006/relationships/notesSlide" Target="../notesSlides/notesSlide3.xml"/><Relationship Id="rId16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svg"/><Relationship Id="rId11" Type="http://schemas.openxmlformats.org/officeDocument/2006/relationships/image" Target="../media/image6.svg"/><Relationship Id="rId5" Type="http://schemas.openxmlformats.org/officeDocument/2006/relationships/image" Target="../media/image10.svg"/><Relationship Id="rId15" Type="http://schemas.openxmlformats.org/officeDocument/2006/relationships/image" Target="../media/image9.svg"/><Relationship Id="rId10" Type="http://schemas.openxmlformats.org/officeDocument/2006/relationships/image" Target="../media/image15.svg"/><Relationship Id="rId4" Type="http://schemas.openxmlformats.org/officeDocument/2006/relationships/image" Target="../media/image4.svg"/><Relationship Id="rId9" Type="http://schemas.openxmlformats.org/officeDocument/2006/relationships/image" Target="../media/image14.svg"/><Relationship Id="rId14" Type="http://schemas.openxmlformats.org/officeDocument/2006/relationships/image" Target="../media/image17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21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svg"/><Relationship Id="rId5" Type="http://schemas.openxmlformats.org/officeDocument/2006/relationships/image" Target="../media/image20.svg"/><Relationship Id="rId4" Type="http://schemas.openxmlformats.org/officeDocument/2006/relationships/image" Target="../media/image19.sv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svg"/><Relationship Id="rId13" Type="http://schemas.openxmlformats.org/officeDocument/2006/relationships/image" Target="../media/image31.svg"/><Relationship Id="rId18" Type="http://schemas.openxmlformats.org/officeDocument/2006/relationships/image" Target="../media/image36.svg"/><Relationship Id="rId3" Type="http://schemas.openxmlformats.org/officeDocument/2006/relationships/image" Target="../media/image1.png"/><Relationship Id="rId7" Type="http://schemas.openxmlformats.org/officeDocument/2006/relationships/image" Target="../media/image25.svg"/><Relationship Id="rId12" Type="http://schemas.openxmlformats.org/officeDocument/2006/relationships/image" Target="../media/image30.svg"/><Relationship Id="rId17" Type="http://schemas.openxmlformats.org/officeDocument/2006/relationships/image" Target="../media/image35.svg"/><Relationship Id="rId2" Type="http://schemas.openxmlformats.org/officeDocument/2006/relationships/notesSlide" Target="../notesSlides/notesSlide5.xml"/><Relationship Id="rId16" Type="http://schemas.openxmlformats.org/officeDocument/2006/relationships/image" Target="../media/image34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svg"/><Relationship Id="rId11" Type="http://schemas.openxmlformats.org/officeDocument/2006/relationships/image" Target="../media/image29.svg"/><Relationship Id="rId5" Type="http://schemas.openxmlformats.org/officeDocument/2006/relationships/image" Target="../media/image23.svg"/><Relationship Id="rId15" Type="http://schemas.openxmlformats.org/officeDocument/2006/relationships/image" Target="../media/image33.svg"/><Relationship Id="rId10" Type="http://schemas.openxmlformats.org/officeDocument/2006/relationships/image" Target="../media/image28.svg"/><Relationship Id="rId4" Type="http://schemas.openxmlformats.org/officeDocument/2006/relationships/image" Target="../media/image22.svg"/><Relationship Id="rId9" Type="http://schemas.openxmlformats.org/officeDocument/2006/relationships/image" Target="../media/image27.svg"/><Relationship Id="rId14" Type="http://schemas.openxmlformats.org/officeDocument/2006/relationships/image" Target="../media/image32.sv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svg"/><Relationship Id="rId13" Type="http://schemas.openxmlformats.org/officeDocument/2006/relationships/image" Target="../media/image38.svg"/><Relationship Id="rId18" Type="http://schemas.openxmlformats.org/officeDocument/2006/relationships/hyperlink" Target="https://microsoft.github.io/presidio/" TargetMode="External"/><Relationship Id="rId3" Type="http://schemas.openxmlformats.org/officeDocument/2006/relationships/image" Target="../media/image1.png"/><Relationship Id="rId7" Type="http://schemas.openxmlformats.org/officeDocument/2006/relationships/hyperlink" Target="https://techcrunch.com/2023/05/02/samsung-bans-use-of-generative-ai-tools-like-chatgpt-after-april-internal-data-leak/" TargetMode="External"/><Relationship Id="rId12" Type="http://schemas.openxmlformats.org/officeDocument/2006/relationships/hyperlink" Target="https://gdpr-info.eu/art-25-gdpr/" TargetMode="External"/><Relationship Id="rId17" Type="http://schemas.openxmlformats.org/officeDocument/2006/relationships/hyperlink" Target="https://developer.chrome.com/docs/extensions/reference/api/storage" TargetMode="External"/><Relationship Id="rId2" Type="http://schemas.openxmlformats.org/officeDocument/2006/relationships/notesSlide" Target="../notesSlides/notesSlide6.xml"/><Relationship Id="rId16" Type="http://schemas.openxmlformats.org/officeDocument/2006/relationships/hyperlink" Target="https://developer.chrome.com/docs/extensions/ai/prompt-api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cyberhaven.com/press-releases/cyberhaven-2026-ai-adoption-risk-report" TargetMode="External"/><Relationship Id="rId11" Type="http://schemas.openxmlformats.org/officeDocument/2006/relationships/hyperlink" Target="https://csrc.nist.gov/pubs/sp/800/122/final" TargetMode="External"/><Relationship Id="rId5" Type="http://schemas.openxmlformats.org/officeDocument/2006/relationships/hyperlink" Target="https://go.layerxsecurity.com/the-layerx-enterprise-ai-saas-data-security-report-2025" TargetMode="External"/><Relationship Id="rId15" Type="http://schemas.openxmlformats.org/officeDocument/2006/relationships/image" Target="../media/image39.svg"/><Relationship Id="rId10" Type="http://schemas.openxmlformats.org/officeDocument/2006/relationships/hyperlink" Target="https://www.meity.gov.in/data-protection-framework" TargetMode="External"/><Relationship Id="rId19" Type="http://schemas.openxmlformats.org/officeDocument/2006/relationships/hyperlink" Target="https://github.com/Rohittiger99/Guardrail_hackathon" TargetMode="External"/><Relationship Id="rId4" Type="http://schemas.openxmlformats.org/officeDocument/2006/relationships/image" Target="../media/image37.svg"/><Relationship Id="rId9" Type="http://schemas.openxmlformats.org/officeDocument/2006/relationships/hyperlink" Target="https://genai.owasp.org/llm-top-10/" TargetMode="External"/><Relationship Id="rId14" Type="http://schemas.openxmlformats.org/officeDocument/2006/relationships/hyperlink" Target="https://www.grandviewresearch.com/industry-analysis/data-loss-prevention-market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"/>
          <p:cNvSpPr/>
          <p:nvPr/>
        </p:nvSpPr>
        <p:spPr>
          <a:xfrm>
            <a:off x="1524000" y="0"/>
            <a:ext cx="9144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" name="Google Shape;89;p1"/>
          <p:cNvSpPr/>
          <p:nvPr/>
        </p:nvSpPr>
        <p:spPr>
          <a:xfrm>
            <a:off x="5656780" y="851521"/>
            <a:ext cx="4638605" cy="5154967"/>
          </a:xfrm>
          <a:custGeom>
            <a:avLst/>
            <a:gdLst/>
            <a:ahLst/>
            <a:cxnLst/>
            <a:rect l="l" t="t" r="r" b="b"/>
            <a:pathLst>
              <a:path w="6184806" h="5154967" extrusionOk="0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rgbClr val="7F7F7F">
              <a:alpha val="14902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" name="Google Shape;91;p1"/>
          <p:cNvSpPr txBox="1"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>
                <a:solidFill>
                  <a:schemeClr val="dk2"/>
                </a:solidFill>
                <a:latin typeface="Garamond"/>
                <a:ea typeface="Garamond"/>
                <a:cs typeface="Garamond"/>
                <a:sym typeface="Garamond"/>
              </a:rPr>
              <a:t>BITSHIFT 2026</a:t>
            </a:r>
            <a:endParaRPr sz="4000" b="1">
              <a:solidFill>
                <a:schemeClr val="dk2"/>
              </a:solidFill>
              <a:latin typeface="Garamond"/>
              <a:ea typeface="Garamond"/>
              <a:cs typeface="Garamond"/>
              <a:sym typeface="Garamond"/>
            </a:endParaRPr>
          </a:p>
        </p:txBody>
      </p:sp>
      <p:pic>
        <p:nvPicPr>
          <p:cNvPr id="93" name="Google Shape;93;p1"/>
          <p:cNvPicPr preferRelativeResize="0"/>
          <p:nvPr/>
        </p:nvPicPr>
        <p:blipFill rotWithShape="1">
          <a:blip r:embed="rId3">
            <a:alphaModFix/>
          </a:blip>
          <a:srcRect r="13096" b="-9830"/>
          <a:stretch/>
        </p:blipFill>
        <p:spPr>
          <a:xfrm>
            <a:off x="9438825" y="212100"/>
            <a:ext cx="2380700" cy="1687550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B63A6EB4-967A-C0F7-2ED4-54207F23CAB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F10D578-69DA-8116-9BD2-990795997EFC}"/>
              </a:ext>
            </a:extLst>
          </p:cNvPr>
          <p:cNvSpPr txBox="1"/>
          <p:nvPr/>
        </p:nvSpPr>
        <p:spPr>
          <a:xfrm>
            <a:off x="508000" y="1371600"/>
            <a:ext cx="6096000" cy="8382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IN" sz="4800">
                <a:solidFill>
                  <a:srgbClr val="1F497D"/>
                </a:solidFill>
                <a:latin typeface="Arial Black" panose="020B0A04020102020204" pitchFamily="34" charset="0"/>
              </a:rPr>
              <a:t>P2</a:t>
            </a:r>
            <a:r>
              <a:rPr lang="en-IN" sz="4800">
                <a:solidFill>
                  <a:srgbClr val="0070C0"/>
                </a:solidFill>
                <a:latin typeface="Arial Black" panose="020B0A04020102020204" pitchFamily="34" charset="0"/>
              </a:rPr>
              <a:t>Shield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6A4FEB4-FE94-58B2-C40D-9DF98904C384}"/>
              </a:ext>
            </a:extLst>
          </p:cNvPr>
          <p:cNvSpPr txBox="1"/>
          <p:nvPr/>
        </p:nvSpPr>
        <p:spPr>
          <a:xfrm>
            <a:off x="533400" y="2209800"/>
            <a:ext cx="5969000" cy="558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05000"/>
              </a:lnSpc>
            </a:pPr>
            <a:r>
              <a:rPr lang="en-IN" sz="1500">
                <a:solidFill>
                  <a:srgbClr val="404040"/>
                </a:solidFill>
                <a:latin typeface="Arial" panose="020B0604020202020204" pitchFamily="34" charset="0"/>
              </a:rPr>
              <a:t>A pre-LLM privacy firewall that cleans every prompt on your own device, before any chatbot sees it.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2D298A7-537E-6167-6F9E-87C0F9A0F657}"/>
              </a:ext>
            </a:extLst>
          </p:cNvPr>
          <p:cNvSpPr/>
          <p:nvPr/>
        </p:nvSpPr>
        <p:spPr>
          <a:xfrm>
            <a:off x="533400" y="2870200"/>
            <a:ext cx="914400" cy="50800"/>
          </a:xfrm>
          <a:prstGeom prst="rect">
            <a:avLst/>
          </a:prstGeom>
          <a:gradFill flip="none" rotWithShape="1">
            <a:gsLst>
              <a:gs pos="0">
                <a:srgbClr val="22D3EE"/>
              </a:gs>
              <a:gs pos="100000">
                <a:srgbClr val="6D28D9"/>
              </a:gs>
            </a:gsLst>
            <a:lin ang="0" scaled="1"/>
            <a:tileRect/>
          </a:gra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A5A6F2F-AB9B-3DAC-7CB6-958C56565C6F}"/>
              </a:ext>
            </a:extLst>
          </p:cNvPr>
          <p:cNvSpPr txBox="1"/>
          <p:nvPr/>
        </p:nvSpPr>
        <p:spPr>
          <a:xfrm>
            <a:off x="508000" y="3175000"/>
            <a:ext cx="5969000" cy="2921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marL="228600" indent="-228600">
              <a:spcAft>
                <a:spcPts val="1600"/>
              </a:spcAft>
              <a:buSzPct val="100000"/>
              <a:buFont typeface="Arial" panose="020B0604020202020204" pitchFamily="34" charset="0"/>
              <a:buChar char="•"/>
            </a:pPr>
            <a:r>
              <a:rPr lang="en-IN" sz="1900" b="1">
                <a:latin typeface="Arial" panose="020B0604020202020204" pitchFamily="34" charset="0"/>
              </a:rPr>
              <a:t>Problem Statement Title – </a:t>
            </a:r>
            <a:r>
              <a:rPr lang="en-IN" sz="1900" b="1">
                <a:solidFill>
                  <a:srgbClr val="1F497D"/>
                </a:solidFill>
                <a:latin typeface="Arial" panose="020B0604020202020204" pitchFamily="34" charset="0"/>
              </a:rPr>
              <a:t>Pre-LLM Privacy Firewall for Sensitive Data Protection</a:t>
            </a:r>
          </a:p>
          <a:p>
            <a:pPr marL="228600" indent="-228600">
              <a:spcAft>
                <a:spcPts val="1600"/>
              </a:spcAft>
              <a:buSzPct val="100000"/>
              <a:buFont typeface="Arial" panose="020B0604020202020204" pitchFamily="34" charset="0"/>
              <a:buChar char="•"/>
            </a:pPr>
            <a:r>
              <a:rPr lang="en-IN" sz="1900" b="1">
                <a:latin typeface="Arial" panose="020B0604020202020204" pitchFamily="34" charset="0"/>
              </a:rPr>
              <a:t>Theme – </a:t>
            </a:r>
            <a:r>
              <a:rPr lang="en-IN" sz="1900" b="1">
                <a:solidFill>
                  <a:srgbClr val="1F497D"/>
                </a:solidFill>
                <a:latin typeface="Arial" panose="020B0604020202020204" pitchFamily="34" charset="0"/>
              </a:rPr>
              <a:t>AI / Web3</a:t>
            </a:r>
          </a:p>
          <a:p>
            <a:pPr marL="228600" indent="-228600">
              <a:spcAft>
                <a:spcPts val="1600"/>
              </a:spcAft>
              <a:buSzPct val="100000"/>
              <a:buFont typeface="Arial" panose="020B0604020202020204" pitchFamily="34" charset="0"/>
              <a:buChar char="•"/>
            </a:pPr>
            <a:r>
              <a:rPr lang="en-IN" sz="1900" b="1">
                <a:latin typeface="Arial" panose="020B0604020202020204" pitchFamily="34" charset="0"/>
              </a:rPr>
              <a:t>PS Category – </a:t>
            </a:r>
            <a:r>
              <a:rPr lang="en-IN" sz="1900" b="1">
                <a:solidFill>
                  <a:srgbClr val="1F497D"/>
                </a:solidFill>
                <a:latin typeface="Arial" panose="020B0604020202020204" pitchFamily="34" charset="0"/>
              </a:rPr>
              <a:t>Software</a:t>
            </a:r>
          </a:p>
          <a:p>
            <a:pPr marL="228600" indent="-228600">
              <a:spcAft>
                <a:spcPts val="1600"/>
              </a:spcAft>
              <a:buSzPct val="100000"/>
              <a:buFont typeface="Arial" panose="020B0604020202020204" pitchFamily="34" charset="0"/>
              <a:buChar char="•"/>
            </a:pPr>
            <a:r>
              <a:rPr lang="en-IN" sz="1900" b="1">
                <a:latin typeface="Arial" panose="020B0604020202020204" pitchFamily="34" charset="0"/>
              </a:rPr>
              <a:t>Team Name – </a:t>
            </a:r>
            <a:r>
              <a:rPr lang="en-IN" sz="1900" b="1">
                <a:solidFill>
                  <a:srgbClr val="1F497D"/>
                </a:solidFill>
                <a:latin typeface="Arial" panose="020B0604020202020204" pitchFamily="34" charset="0"/>
              </a:rPr>
              <a:t>TechKnights</a:t>
            </a:r>
          </a:p>
        </p:txBody>
      </p:sp>
      <p:pic>
        <p:nvPicPr>
          <p:cNvPr id="9" name="Picture 8" descr="P2Shield logo: a shield protecting a chat message with masked text">
            <a:extLst>
              <a:ext uri="{FF2B5EF4-FFF2-40B4-BE49-F238E27FC236}">
                <a16:creationId xmlns:a16="http://schemas.microsoft.com/office/drawing/2014/main" id="{00163603-00F7-954A-24BA-22AF14406EE5}"/>
              </a:ext>
            </a:extLst>
          </p:cNvPr>
          <p:cNvPicPr>
            <a:picLocks/>
          </p:cNvPicPr>
          <p:nvPr/>
        </p:nvPicPr>
        <p:blipFill>
          <a:blip r:embed="rId4"/>
          <a:stretch>
            <a:fillRect/>
          </a:stretch>
        </p:blipFill>
        <p:spPr>
          <a:xfrm>
            <a:off x="7188200" y="2260600"/>
            <a:ext cx="2311400" cy="2654300"/>
          </a:xfrm>
          <a:prstGeom prst="rect">
            <a:avLst/>
          </a:prstGeom>
        </p:spPr>
      </p:pic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C80C1EF9-39D0-EF53-290C-1E36449DACF7}"/>
              </a:ext>
            </a:extLst>
          </p:cNvPr>
          <p:cNvSpPr/>
          <p:nvPr/>
        </p:nvSpPr>
        <p:spPr>
          <a:xfrm>
            <a:off x="6350000" y="2489200"/>
            <a:ext cx="927100" cy="2794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6F4FB0"/>
            </a:solidFill>
          </a:ln>
          <a:effectLst>
            <a:outerShdw blurRad="101600" dist="25400" dir="5400000" rotWithShape="0">
              <a:srgbClr val="1E293B">
                <a:alpha val="18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IN" sz="1050" b="1">
                <a:solidFill>
                  <a:srgbClr val="6F4FB0"/>
                </a:solidFill>
                <a:latin typeface="Consolas" panose="020B0609020204030204" pitchFamily="49" charset="0"/>
              </a:rPr>
              <a:t>[PERSON_1]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DEEEEABC-6A97-1718-F3DA-EC7C1A65FC80}"/>
              </a:ext>
            </a:extLst>
          </p:cNvPr>
          <p:cNvSpPr/>
          <p:nvPr/>
        </p:nvSpPr>
        <p:spPr>
          <a:xfrm>
            <a:off x="9042400" y="2997200"/>
            <a:ext cx="1008380" cy="2794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1F6FB2"/>
            </a:solidFill>
          </a:ln>
          <a:effectLst>
            <a:outerShdw blurRad="101600" dist="25400" dir="5400000" rotWithShape="0">
              <a:srgbClr val="1E293B">
                <a:alpha val="18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IN" sz="1050" b="1">
                <a:solidFill>
                  <a:srgbClr val="1F6FB2"/>
                </a:solidFill>
                <a:latin typeface="Consolas" panose="020B0609020204030204" pitchFamily="49" charset="0"/>
              </a:rPr>
              <a:t>98*** ***10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060BE414-58C8-9544-129A-89342C1CDF38}"/>
              </a:ext>
            </a:extLst>
          </p:cNvPr>
          <p:cNvSpPr/>
          <p:nvPr/>
        </p:nvSpPr>
        <p:spPr>
          <a:xfrm>
            <a:off x="6070600" y="4368800"/>
            <a:ext cx="1577340" cy="2794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D9473F"/>
            </a:solidFill>
          </a:ln>
          <a:effectLst>
            <a:outerShdw blurRad="101600" dist="25400" dir="5400000" rotWithShape="0">
              <a:srgbClr val="1E293B">
                <a:alpha val="18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IN" sz="1050" b="1">
                <a:solidFill>
                  <a:srgbClr val="D9473F"/>
                </a:solidFill>
                <a:latin typeface="Consolas" panose="020B0609020204030204" pitchFamily="49" charset="0"/>
              </a:rPr>
              <a:t>[REDACTED_AADHAAR]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F6C8A839-5FF2-45E4-96A3-1AC8A5881C96}"/>
              </a:ext>
            </a:extLst>
          </p:cNvPr>
          <p:cNvSpPr/>
          <p:nvPr/>
        </p:nvSpPr>
        <p:spPr>
          <a:xfrm>
            <a:off x="8813800" y="4876800"/>
            <a:ext cx="1414780" cy="2794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1F2937"/>
            </a:solidFill>
          </a:ln>
          <a:effectLst>
            <a:outerShdw blurRad="101600" dist="25400" dir="5400000" rotWithShape="0">
              <a:srgbClr val="1E293B">
                <a:alpha val="18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IN" sz="1050" b="1">
                <a:solidFill>
                  <a:srgbClr val="1F2937"/>
                </a:solidFill>
                <a:latin typeface="Consolas" panose="020B0609020204030204" pitchFamily="49" charset="0"/>
              </a:rPr>
              <a:t>[SECRET_REMOVED]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2"/>
          <p:cNvSpPr/>
          <p:nvPr/>
        </p:nvSpPr>
        <p:spPr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>
            <a:noFill/>
          </a:ln>
          <a:effectLst>
            <a:outerShdw dist="23000" dir="5400000" rotWithShape="0">
              <a:srgbClr val="80808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95373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" name="Google Shape;100;p2"/>
          <p:cNvSpPr txBox="1">
            <a:spLocks noGrp="1"/>
          </p:cNvSpPr>
          <p:nvPr>
            <p:ph type="title"/>
          </p:nvPr>
        </p:nvSpPr>
        <p:spPr>
          <a:xfrm>
            <a:off x="1905000" y="50800"/>
            <a:ext cx="8382000" cy="63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lvl="0" rtl="0"/>
            <a:r>
              <a:rPr lang="en-US" sz="3400" b="1">
                <a:solidFill>
                  <a:srgbClr val="000000"/>
                </a:solidFill>
                <a:latin typeface="Times New Roman" panose="02020603050405020304" pitchFamily="18" charset="0"/>
                <a:ea typeface="Times New Roman"/>
                <a:cs typeface="Times New Roman"/>
                <a:sym typeface="Times New Roman"/>
              </a:rPr>
              <a:t>P2SHIELD</a:t>
            </a:r>
            <a:endParaRPr sz="3400" b="1">
              <a:solidFill>
                <a:srgbClr val="000000"/>
              </a:solidFill>
              <a:latin typeface="Times New Roman" panose="02020603050405020304" pitchFamily="18" charset="0"/>
            </a:endParaRPr>
          </a:p>
        </p:txBody>
      </p:sp>
      <p:sp>
        <p:nvSpPr>
          <p:cNvPr id="102" name="Google Shape;102;p2"/>
          <p:cNvSpPr txBox="1">
            <a:spLocks noGrp="1"/>
          </p:cNvSpPr>
          <p:nvPr>
            <p:ph type="sldNum" idx="12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b="1">
                <a:solidFill>
                  <a:schemeClr val="lt1"/>
                </a:solidFill>
              </a:rPr>
              <a:t>2</a:t>
            </a:fld>
            <a:endParaRPr b="1">
              <a:solidFill>
                <a:schemeClr val="lt1"/>
              </a:solidFill>
            </a:endParaRPr>
          </a:p>
        </p:txBody>
      </p:sp>
      <p:sp>
        <p:nvSpPr>
          <p:cNvPr id="103" name="Google Shape;103;p2"/>
          <p:cNvSpPr txBox="1">
            <a:spLocks noGrp="1"/>
          </p:cNvSpPr>
          <p:nvPr>
            <p:ph type="ftr" idx="11"/>
          </p:nvPr>
        </p:nvSpPr>
        <p:spPr>
          <a:xfrm>
            <a:off x="4648200" y="6356353"/>
            <a:ext cx="32040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lvl="0" rtl="0"/>
            <a:r>
              <a:rPr lang="en-IN" sz="1100">
                <a:solidFill>
                  <a:srgbClr val="FFFFFF"/>
                </a:solidFill>
                <a:latin typeface="Oswald" panose="00000500000000000000" pitchFamily="2" charset="0"/>
              </a:rPr>
              <a:t>@BITSHIFT Idea submission  ·  TechKnights  ·  P2Shield</a:t>
            </a:r>
            <a:endParaRPr sz="1100">
              <a:solidFill>
                <a:srgbClr val="FFFFFF"/>
              </a:solidFill>
              <a:latin typeface="Oswald" panose="00000500000000000000" pitchFamily="2" charset="0"/>
            </a:endParaRPr>
          </a:p>
        </p:txBody>
      </p:sp>
      <p:sp>
        <p:nvSpPr>
          <p:cNvPr id="104" name="Google Shape;104;p2" descr="Your startup LOGO"/>
          <p:cNvSpPr/>
          <p:nvPr/>
        </p:nvSpPr>
        <p:spPr>
          <a:xfrm>
            <a:off x="253999" y="228600"/>
            <a:ext cx="1422400" cy="584200"/>
          </a:xfrm>
          <a:prstGeom prst="ellipse">
            <a:avLst/>
          </a:prstGeom>
          <a:solidFill>
            <a:schemeClr val="lt1"/>
          </a:solidFill>
          <a:ln w="25400" cap="flat" cmpd="sng">
            <a:solidFill>
              <a:srgbClr val="8064A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R="0" lvl="0" algn="ctr" rtl="0"/>
            <a:r>
              <a:rPr lang="en-US" sz="1500" b="1">
                <a:solidFill>
                  <a:srgbClr val="4B2E83"/>
                </a:solidFill>
                <a:latin typeface="Calibri" panose="020F0502020204030204" pitchFamily="34" charset="0"/>
                <a:ea typeface="Calibri"/>
                <a:cs typeface="Calibri"/>
                <a:sym typeface="Calibri"/>
              </a:rPr>
              <a:t>TechKnights</a:t>
            </a:r>
            <a:endParaRPr sz="1500" b="1">
              <a:solidFill>
                <a:srgbClr val="4B2E83"/>
              </a:solidFill>
              <a:latin typeface="Calibri" panose="020F0502020204030204" pitchFamily="34" charset="0"/>
              <a:ea typeface="Calibri"/>
              <a:cs typeface="Calibri"/>
              <a:sym typeface="Calibri"/>
            </a:endParaRPr>
          </a:p>
        </p:txBody>
      </p:sp>
      <p:pic>
        <p:nvPicPr>
          <p:cNvPr id="105" name="Google Shape;105;p2"/>
          <p:cNvPicPr preferRelativeResize="0">
            <a:picLocks noChangeAspect="1"/>
          </p:cNvPicPr>
          <p:nvPr/>
        </p:nvPicPr>
        <p:blipFill rotWithShape="1">
          <a:blip r:embed="rId3">
            <a:alphaModFix/>
          </a:blip>
          <a:srcRect r="13096" b="-9830"/>
          <a:stretch/>
        </p:blipFill>
        <p:spPr>
          <a:xfrm>
            <a:off x="10490200" y="76200"/>
            <a:ext cx="1498600" cy="10622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BD8FC90C-C993-69BC-10CF-5F5551278A3A}"/>
              </a:ext>
            </a:extLst>
          </p:cNvPr>
          <p:cNvSpPr txBox="1"/>
          <p:nvPr/>
        </p:nvSpPr>
        <p:spPr>
          <a:xfrm>
            <a:off x="1905000" y="685800"/>
            <a:ext cx="83820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IN" b="1">
                <a:solidFill>
                  <a:srgbClr val="1F497D"/>
                </a:solidFill>
                <a:latin typeface="Arial" panose="020B0604020202020204" pitchFamily="34" charset="0"/>
              </a:rPr>
              <a:t>Clean every prompt on your own device, before the LLM ever sees it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163BD3E9-5382-4D85-6B61-A0F2F9309DC9}"/>
              </a:ext>
            </a:extLst>
          </p:cNvPr>
          <p:cNvSpPr/>
          <p:nvPr/>
        </p:nvSpPr>
        <p:spPr>
          <a:xfrm>
            <a:off x="228600" y="1219200"/>
            <a:ext cx="3657600" cy="5029200"/>
          </a:xfrm>
          <a:prstGeom prst="roundRect">
            <a:avLst>
              <a:gd name="adj" fmla="val 6250"/>
            </a:avLst>
          </a:prstGeom>
          <a:gradFill flip="none" rotWithShape="1">
            <a:gsLst>
              <a:gs pos="0">
                <a:srgbClr val="E9E2F8"/>
              </a:gs>
              <a:gs pos="100000">
                <a:srgbClr val="DDEBFB"/>
              </a:gs>
            </a:gsLst>
            <a:lin ang="5400000" scaled="1"/>
            <a:tileRect/>
          </a:gra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E57CDC6-507D-4557-8FB8-553A9CDCF246}"/>
              </a:ext>
            </a:extLst>
          </p:cNvPr>
          <p:cNvSpPr txBox="1"/>
          <p:nvPr/>
        </p:nvSpPr>
        <p:spPr>
          <a:xfrm>
            <a:off x="431800" y="1320800"/>
            <a:ext cx="2794000" cy="4572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IN" sz="2600" b="1">
                <a:solidFill>
                  <a:srgbClr val="7A5CC2"/>
                </a:solidFill>
                <a:latin typeface="Arial" panose="020B0604020202020204" pitchFamily="34" charset="0"/>
              </a:rPr>
              <a:t>PROBLEM</a:t>
            </a:r>
          </a:p>
        </p:txBody>
      </p:sp>
      <p:pic>
        <p:nvPicPr>
          <p:cNvPr id="6" name="Graphic 5" descr="Warning icon">
            <a:extLst>
              <a:ext uri="{FF2B5EF4-FFF2-40B4-BE49-F238E27FC236}">
                <a16:creationId xmlns:a16="http://schemas.microsoft.com/office/drawing/2014/main" id="{E5010132-307F-5FE8-79BB-5E3C84942A0D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276600" y="1371600"/>
            <a:ext cx="355600" cy="355600"/>
          </a:xfrm>
          <a:prstGeom prst="rect">
            <a:avLst/>
          </a:prstGeom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F081DC2C-BE5A-8CAE-1676-CE22C824C73D}"/>
              </a:ext>
            </a:extLst>
          </p:cNvPr>
          <p:cNvSpPr/>
          <p:nvPr/>
        </p:nvSpPr>
        <p:spPr>
          <a:xfrm>
            <a:off x="406400" y="1854200"/>
            <a:ext cx="3302000" cy="685800"/>
          </a:xfrm>
          <a:prstGeom prst="roundRect">
            <a:avLst>
              <a:gd name="adj" fmla="val 18519"/>
            </a:avLst>
          </a:prstGeom>
          <a:solidFill>
            <a:srgbClr val="FFFFFF"/>
          </a:solidFill>
          <a:ln w="25400" cap="flat" cmpd="sng" algn="ctr">
            <a:noFill/>
            <a:prstDash val="solid"/>
          </a:ln>
          <a:effectLst>
            <a:outerShdw blurRad="101600" dist="25400" dir="5400000" rotWithShape="0">
              <a:srgbClr val="1E293B">
                <a:alpha val="18000"/>
              </a:srgbClr>
            </a:outerShdw>
          </a:effectLst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C240316-5732-731B-4B49-3D5EE8B81F0D}"/>
              </a:ext>
            </a:extLst>
          </p:cNvPr>
          <p:cNvSpPr txBox="1"/>
          <p:nvPr/>
        </p:nvSpPr>
        <p:spPr>
          <a:xfrm>
            <a:off x="482600" y="1854200"/>
            <a:ext cx="1244600" cy="6858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IN" sz="2100" b="1">
                <a:solidFill>
                  <a:srgbClr val="D9473F"/>
                </a:solidFill>
                <a:latin typeface="Arial" panose="020B0604020202020204" pitchFamily="34" charset="0"/>
              </a:rPr>
              <a:t>77%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B91CCE3-11D2-3A99-3418-622C59B2B2BA}"/>
              </a:ext>
            </a:extLst>
          </p:cNvPr>
          <p:cNvSpPr txBox="1"/>
          <p:nvPr/>
        </p:nvSpPr>
        <p:spPr>
          <a:xfrm>
            <a:off x="1752600" y="1892300"/>
            <a:ext cx="1879600" cy="6096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IN" sz="1050">
                <a:solidFill>
                  <a:srgbClr val="1A1A1A"/>
                </a:solidFill>
                <a:latin typeface="Arial" panose="020B0604020202020204" pitchFamily="34" charset="0"/>
              </a:rPr>
              <a:t>of GenAI users paste data into prompts </a:t>
            </a:r>
            <a:r>
              <a:rPr lang="en-IN" sz="1050">
                <a:solidFill>
                  <a:srgbClr val="6B7280"/>
                </a:solidFill>
                <a:latin typeface="Arial" panose="020B0604020202020204" pitchFamily="34" charset="0"/>
              </a:rPr>
              <a:t>(LayerX 2025)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B98CE27-351C-35A6-1933-EDC65EB0A4AF}"/>
              </a:ext>
            </a:extLst>
          </p:cNvPr>
          <p:cNvSpPr/>
          <p:nvPr/>
        </p:nvSpPr>
        <p:spPr>
          <a:xfrm>
            <a:off x="406400" y="2641600"/>
            <a:ext cx="3302000" cy="685800"/>
          </a:xfrm>
          <a:prstGeom prst="roundRect">
            <a:avLst>
              <a:gd name="adj" fmla="val 18519"/>
            </a:avLst>
          </a:prstGeom>
          <a:solidFill>
            <a:srgbClr val="FFFFFF"/>
          </a:solidFill>
          <a:ln w="25400" cap="flat" cmpd="sng" algn="ctr">
            <a:noFill/>
            <a:prstDash val="solid"/>
          </a:ln>
          <a:effectLst>
            <a:outerShdw blurRad="101600" dist="25400" dir="5400000" rotWithShape="0">
              <a:srgbClr val="1E293B">
                <a:alpha val="18000"/>
              </a:srgbClr>
            </a:outerShdw>
          </a:effectLst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9317F47-A4E9-50F5-8FED-D07944B1BC0C}"/>
              </a:ext>
            </a:extLst>
          </p:cNvPr>
          <p:cNvSpPr txBox="1"/>
          <p:nvPr/>
        </p:nvSpPr>
        <p:spPr>
          <a:xfrm>
            <a:off x="482600" y="2641600"/>
            <a:ext cx="1244600" cy="6858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IN" sz="2100" b="1">
                <a:solidFill>
                  <a:srgbClr val="E07B00"/>
                </a:solidFill>
                <a:latin typeface="Arial" panose="020B0604020202020204" pitchFamily="34" charset="0"/>
              </a:rPr>
              <a:t>39.7%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E5739B9-A4B4-1A0E-20D1-029D1370121A}"/>
              </a:ext>
            </a:extLst>
          </p:cNvPr>
          <p:cNvSpPr txBox="1"/>
          <p:nvPr/>
        </p:nvSpPr>
        <p:spPr>
          <a:xfrm>
            <a:off x="1752600" y="2679700"/>
            <a:ext cx="1879600" cy="6096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IN" sz="1050">
                <a:solidFill>
                  <a:srgbClr val="1A1A1A"/>
                </a:solidFill>
                <a:latin typeface="Arial" panose="020B0604020202020204" pitchFamily="34" charset="0"/>
              </a:rPr>
              <a:t>of data shared with AI tools is sensitive </a:t>
            </a:r>
            <a:r>
              <a:rPr lang="en-IN" sz="1050">
                <a:solidFill>
                  <a:srgbClr val="6B7280"/>
                </a:solidFill>
                <a:latin typeface="Arial" panose="020B0604020202020204" pitchFamily="34" charset="0"/>
              </a:rPr>
              <a:t>(Cyberhaven 2026)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DFAB838D-DCCA-31B0-E3A3-E4ADE6085758}"/>
              </a:ext>
            </a:extLst>
          </p:cNvPr>
          <p:cNvSpPr/>
          <p:nvPr/>
        </p:nvSpPr>
        <p:spPr>
          <a:xfrm>
            <a:off x="406400" y="3429000"/>
            <a:ext cx="3302000" cy="685800"/>
          </a:xfrm>
          <a:prstGeom prst="roundRect">
            <a:avLst>
              <a:gd name="adj" fmla="val 18519"/>
            </a:avLst>
          </a:prstGeom>
          <a:solidFill>
            <a:srgbClr val="FFFFFF"/>
          </a:solidFill>
          <a:ln w="25400" cap="flat" cmpd="sng" algn="ctr">
            <a:noFill/>
            <a:prstDash val="solid"/>
          </a:ln>
          <a:effectLst>
            <a:outerShdw blurRad="101600" dist="25400" dir="5400000" rotWithShape="0">
              <a:srgbClr val="1E293B">
                <a:alpha val="18000"/>
              </a:srgbClr>
            </a:outerShdw>
          </a:effectLst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1EE1D7C-C48B-F94C-FFF0-AB7BB2C7861B}"/>
              </a:ext>
            </a:extLst>
          </p:cNvPr>
          <p:cNvSpPr txBox="1"/>
          <p:nvPr/>
        </p:nvSpPr>
        <p:spPr>
          <a:xfrm>
            <a:off x="482600" y="3429000"/>
            <a:ext cx="1244600" cy="6858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IN" sz="2100" b="1">
                <a:solidFill>
                  <a:srgbClr val="6F4FB0"/>
                </a:solidFill>
                <a:latin typeface="Arial" panose="020B0604020202020204" pitchFamily="34" charset="0"/>
              </a:rPr>
              <a:t>₹250 Cr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71C2359-3120-C1E5-2559-33AF4C947916}"/>
              </a:ext>
            </a:extLst>
          </p:cNvPr>
          <p:cNvSpPr txBox="1"/>
          <p:nvPr/>
        </p:nvSpPr>
        <p:spPr>
          <a:xfrm>
            <a:off x="1752600" y="3467100"/>
            <a:ext cx="1879600" cy="6096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IN" sz="1050">
                <a:solidFill>
                  <a:srgbClr val="1A1A1A"/>
                </a:solidFill>
                <a:latin typeface="Arial" panose="020B0604020202020204" pitchFamily="34" charset="0"/>
              </a:rPr>
              <a:t>max DPDP Act penalty for failing to protect personal data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026A3AB-BF09-9170-3D62-A7A9A8927DA5}"/>
              </a:ext>
            </a:extLst>
          </p:cNvPr>
          <p:cNvSpPr txBox="1"/>
          <p:nvPr/>
        </p:nvSpPr>
        <p:spPr>
          <a:xfrm>
            <a:off x="431800" y="4292600"/>
            <a:ext cx="3327400" cy="18796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marL="152400" indent="-152400">
              <a:lnSpc>
                <a:spcPct val="102000"/>
              </a:lnSpc>
              <a:spcAft>
                <a:spcPts val="700"/>
              </a:spcAft>
              <a:buClr>
                <a:srgbClr val="6F4FB0"/>
              </a:buClr>
              <a:buSzPct val="100000"/>
              <a:buFont typeface="Arial" panose="020B0604020202020204" pitchFamily="34" charset="0"/>
              <a:buChar char="•"/>
            </a:pPr>
            <a:r>
              <a:rPr lang="en-IN" sz="1150">
                <a:solidFill>
                  <a:srgbClr val="1A1A1A"/>
                </a:solidFill>
                <a:latin typeface="Arial" panose="020B0604020202020204" pitchFamily="34" charset="0"/>
              </a:rPr>
              <a:t>Names, Aadhaar, card numbers, API keys and health records are pasted straight into chatbots</a:t>
            </a:r>
          </a:p>
          <a:p>
            <a:pPr marL="152400" indent="-152400">
              <a:lnSpc>
                <a:spcPct val="102000"/>
              </a:lnSpc>
              <a:spcAft>
                <a:spcPts val="700"/>
              </a:spcAft>
              <a:buClr>
                <a:srgbClr val="6F4FB0"/>
              </a:buClr>
              <a:buSzPct val="100000"/>
              <a:buFont typeface="Arial" panose="020B0604020202020204" pitchFamily="34" charset="0"/>
              <a:buChar char="•"/>
            </a:pPr>
            <a:r>
              <a:rPr lang="en-IN" sz="1150">
                <a:solidFill>
                  <a:srgbClr val="1A1A1A"/>
                </a:solidFill>
                <a:latin typeface="Arial" panose="020B0604020202020204" pitchFamily="34" charset="0"/>
              </a:rPr>
              <a:t>Once sent, the data sits on third-party servers, outside the user's control</a:t>
            </a:r>
          </a:p>
          <a:p>
            <a:pPr marL="152400" indent="-152400">
              <a:lnSpc>
                <a:spcPct val="102000"/>
              </a:lnSpc>
              <a:spcAft>
                <a:spcPts val="700"/>
              </a:spcAft>
              <a:buClr>
                <a:srgbClr val="6F4FB0"/>
              </a:buClr>
              <a:buSzPct val="100000"/>
              <a:buFont typeface="Arial" panose="020B0604020202020204" pitchFamily="34" charset="0"/>
              <a:buChar char="•"/>
            </a:pPr>
            <a:r>
              <a:rPr lang="en-IN" sz="1150">
                <a:solidFill>
                  <a:srgbClr val="1A1A1A"/>
                </a:solidFill>
                <a:latin typeface="Arial" panose="020B0604020202020204" pitchFamily="34" charset="0"/>
              </a:rPr>
              <a:t>Today's options: ban AI outright, or route every prompt through a cloud DLP proxy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FDA96CA7-DE40-1E1D-E21D-3115526B8763}"/>
              </a:ext>
            </a:extLst>
          </p:cNvPr>
          <p:cNvSpPr/>
          <p:nvPr/>
        </p:nvSpPr>
        <p:spPr>
          <a:xfrm>
            <a:off x="4013200" y="1244600"/>
            <a:ext cx="1155700" cy="787400"/>
          </a:xfrm>
          <a:prstGeom prst="roundRect">
            <a:avLst>
              <a:gd name="adj" fmla="val 16129"/>
            </a:avLst>
          </a:prstGeom>
          <a:solidFill>
            <a:srgbClr val="1F6FB2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19" name="Graphic 18" descr="message-square-text icon">
            <a:extLst>
              <a:ext uri="{FF2B5EF4-FFF2-40B4-BE49-F238E27FC236}">
                <a16:creationId xmlns:a16="http://schemas.microsoft.com/office/drawing/2014/main" id="{DE378FFB-7462-8093-64C2-1A293B0B657D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464050" y="1320800"/>
            <a:ext cx="254000" cy="254000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1D24071F-1A17-EFCC-AA47-0ABF44DC2072}"/>
              </a:ext>
            </a:extLst>
          </p:cNvPr>
          <p:cNvSpPr txBox="1"/>
          <p:nvPr/>
        </p:nvSpPr>
        <p:spPr>
          <a:xfrm>
            <a:off x="4064000" y="1600200"/>
            <a:ext cx="1054100" cy="4064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ct val="95000"/>
              </a:lnSpc>
            </a:pPr>
            <a:r>
              <a:rPr lang="en-IN" sz="1000" b="1">
                <a:solidFill>
                  <a:srgbClr val="FFFFFF"/>
                </a:solidFill>
                <a:latin typeface="Arial" panose="020B0604020202020204" pitchFamily="34" charset="0"/>
              </a:rPr>
              <a:t>Your prompt</a:t>
            </a:r>
          </a:p>
        </p:txBody>
      </p:sp>
      <p:sp>
        <p:nvSpPr>
          <p:cNvPr id="21" name="Isosceles Triangle 20">
            <a:extLst>
              <a:ext uri="{FF2B5EF4-FFF2-40B4-BE49-F238E27FC236}">
                <a16:creationId xmlns:a16="http://schemas.microsoft.com/office/drawing/2014/main" id="{B2773618-16E6-DD66-1497-301D2B48AB72}"/>
              </a:ext>
            </a:extLst>
          </p:cNvPr>
          <p:cNvSpPr/>
          <p:nvPr/>
        </p:nvSpPr>
        <p:spPr>
          <a:xfrm rot="5400000">
            <a:off x="5200650" y="1568450"/>
            <a:ext cx="139700" cy="139700"/>
          </a:xfrm>
          <a:prstGeom prst="triangle">
            <a:avLst/>
          </a:prstGeom>
          <a:solidFill>
            <a:srgbClr val="1F497D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B65D3093-F16E-B556-2876-6DF8AC7BD9E6}"/>
              </a:ext>
            </a:extLst>
          </p:cNvPr>
          <p:cNvSpPr/>
          <p:nvPr/>
        </p:nvSpPr>
        <p:spPr>
          <a:xfrm>
            <a:off x="5372100" y="1244600"/>
            <a:ext cx="1155700" cy="787400"/>
          </a:xfrm>
          <a:prstGeom prst="roundRect">
            <a:avLst>
              <a:gd name="adj" fmla="val 16129"/>
            </a:avLst>
          </a:prstGeom>
          <a:solidFill>
            <a:srgbClr val="2B8CD6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24" name="Graphic 23" descr="scan-search icon">
            <a:extLst>
              <a:ext uri="{FF2B5EF4-FFF2-40B4-BE49-F238E27FC236}">
                <a16:creationId xmlns:a16="http://schemas.microsoft.com/office/drawing/2014/main" id="{0DFD6B05-31AC-C5D3-7250-98EF00C63F2C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822950" y="1320800"/>
            <a:ext cx="254000" cy="254000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17A77867-69A6-305B-2F40-2A09B829DA0F}"/>
              </a:ext>
            </a:extLst>
          </p:cNvPr>
          <p:cNvSpPr txBox="1"/>
          <p:nvPr/>
        </p:nvSpPr>
        <p:spPr>
          <a:xfrm>
            <a:off x="5422900" y="1600200"/>
            <a:ext cx="1054100" cy="4064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ct val="95000"/>
              </a:lnSpc>
            </a:pPr>
            <a:r>
              <a:rPr lang="en-IN" sz="1000" b="1">
                <a:solidFill>
                  <a:srgbClr val="FFFFFF"/>
                </a:solidFill>
                <a:latin typeface="Arial" panose="020B0604020202020204" pitchFamily="34" charset="0"/>
              </a:rPr>
              <a:t>Detect 28 data types</a:t>
            </a:r>
          </a:p>
        </p:txBody>
      </p:sp>
      <p:sp>
        <p:nvSpPr>
          <p:cNvPr id="26" name="Isosceles Triangle 25">
            <a:extLst>
              <a:ext uri="{FF2B5EF4-FFF2-40B4-BE49-F238E27FC236}">
                <a16:creationId xmlns:a16="http://schemas.microsoft.com/office/drawing/2014/main" id="{8DAC3C15-5045-4D0E-C484-9BCA0947368F}"/>
              </a:ext>
            </a:extLst>
          </p:cNvPr>
          <p:cNvSpPr/>
          <p:nvPr/>
        </p:nvSpPr>
        <p:spPr>
          <a:xfrm rot="5400000">
            <a:off x="6559550" y="1568450"/>
            <a:ext cx="139700" cy="139700"/>
          </a:xfrm>
          <a:prstGeom prst="triangle">
            <a:avLst/>
          </a:prstGeom>
          <a:solidFill>
            <a:srgbClr val="1F497D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972252F4-1BC3-9D12-BE58-302219BBA79F}"/>
              </a:ext>
            </a:extLst>
          </p:cNvPr>
          <p:cNvSpPr/>
          <p:nvPr/>
        </p:nvSpPr>
        <p:spPr>
          <a:xfrm>
            <a:off x="6731000" y="1244600"/>
            <a:ext cx="1155700" cy="787400"/>
          </a:xfrm>
          <a:prstGeom prst="roundRect">
            <a:avLst>
              <a:gd name="adj" fmla="val 16129"/>
            </a:avLst>
          </a:prstGeom>
          <a:solidFill>
            <a:srgbClr val="6F4FB0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29" name="Graphic 28" descr="sliders-horizontal icon">
            <a:extLst>
              <a:ext uri="{FF2B5EF4-FFF2-40B4-BE49-F238E27FC236}">
                <a16:creationId xmlns:a16="http://schemas.microsoft.com/office/drawing/2014/main" id="{026AC149-A4C8-0CDF-9D9E-F7D9959B0729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181850" y="1320800"/>
            <a:ext cx="254000" cy="254000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70E72181-53CB-BF9F-832A-37C68CF0A1FC}"/>
              </a:ext>
            </a:extLst>
          </p:cNvPr>
          <p:cNvSpPr txBox="1"/>
          <p:nvPr/>
        </p:nvSpPr>
        <p:spPr>
          <a:xfrm>
            <a:off x="6781800" y="1600200"/>
            <a:ext cx="1054100" cy="4064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ct val="95000"/>
              </a:lnSpc>
            </a:pPr>
            <a:r>
              <a:rPr lang="en-IN" sz="1000" b="1">
                <a:solidFill>
                  <a:srgbClr val="FFFFFF"/>
                </a:solidFill>
                <a:latin typeface="Arial" panose="020B0604020202020204" pitchFamily="34" charset="0"/>
              </a:rPr>
              <a:t>Apply privacy policy</a:t>
            </a:r>
          </a:p>
        </p:txBody>
      </p:sp>
      <p:sp>
        <p:nvSpPr>
          <p:cNvPr id="31" name="Isosceles Triangle 30">
            <a:extLst>
              <a:ext uri="{FF2B5EF4-FFF2-40B4-BE49-F238E27FC236}">
                <a16:creationId xmlns:a16="http://schemas.microsoft.com/office/drawing/2014/main" id="{2974AC00-8B05-CC87-8582-6CC72F1EBF5C}"/>
              </a:ext>
            </a:extLst>
          </p:cNvPr>
          <p:cNvSpPr/>
          <p:nvPr/>
        </p:nvSpPr>
        <p:spPr>
          <a:xfrm rot="5400000">
            <a:off x="7918450" y="1568450"/>
            <a:ext cx="139700" cy="139700"/>
          </a:xfrm>
          <a:prstGeom prst="triangle">
            <a:avLst/>
          </a:prstGeom>
          <a:solidFill>
            <a:srgbClr val="1F497D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8D7C32FA-81B4-2CC5-23AB-8871CEF0CFEB}"/>
              </a:ext>
            </a:extLst>
          </p:cNvPr>
          <p:cNvSpPr/>
          <p:nvPr/>
        </p:nvSpPr>
        <p:spPr>
          <a:xfrm>
            <a:off x="8089900" y="1244600"/>
            <a:ext cx="1155700" cy="787400"/>
          </a:xfrm>
          <a:prstGeom prst="roundRect">
            <a:avLst>
              <a:gd name="adj" fmla="val 16129"/>
            </a:avLst>
          </a:prstGeom>
          <a:solidFill>
            <a:srgbClr val="E07B00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34" name="Graphic 33" descr="gauge icon">
            <a:extLst>
              <a:ext uri="{FF2B5EF4-FFF2-40B4-BE49-F238E27FC236}">
                <a16:creationId xmlns:a16="http://schemas.microsoft.com/office/drawing/2014/main" id="{89B531D6-7D14-F51C-32D0-A061F126824D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540750" y="1320800"/>
            <a:ext cx="254000" cy="254000"/>
          </a:xfrm>
          <a:prstGeom prst="rect">
            <a:avLst/>
          </a:prstGeom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642DA6CB-C678-C6E6-2B54-17AC649921CA}"/>
              </a:ext>
            </a:extLst>
          </p:cNvPr>
          <p:cNvSpPr txBox="1"/>
          <p:nvPr/>
        </p:nvSpPr>
        <p:spPr>
          <a:xfrm>
            <a:off x="8140700" y="1600200"/>
            <a:ext cx="1054100" cy="4064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ct val="95000"/>
              </a:lnSpc>
            </a:pPr>
            <a:r>
              <a:rPr lang="en-IN" sz="1000" b="1">
                <a:solidFill>
                  <a:srgbClr val="FFFFFF"/>
                </a:solidFill>
                <a:latin typeface="Arial" panose="020B0604020202020204" pitchFamily="34" charset="0"/>
              </a:rPr>
              <a:t>Score risk 0–100</a:t>
            </a:r>
          </a:p>
        </p:txBody>
      </p:sp>
      <p:sp>
        <p:nvSpPr>
          <p:cNvPr id="36" name="Isosceles Triangle 35">
            <a:extLst>
              <a:ext uri="{FF2B5EF4-FFF2-40B4-BE49-F238E27FC236}">
                <a16:creationId xmlns:a16="http://schemas.microsoft.com/office/drawing/2014/main" id="{FD0A3726-8F6C-5DEF-C107-1094EFAD038B}"/>
              </a:ext>
            </a:extLst>
          </p:cNvPr>
          <p:cNvSpPr/>
          <p:nvPr/>
        </p:nvSpPr>
        <p:spPr>
          <a:xfrm rot="5400000">
            <a:off x="9277350" y="1568450"/>
            <a:ext cx="139700" cy="139700"/>
          </a:xfrm>
          <a:prstGeom prst="triangle">
            <a:avLst/>
          </a:prstGeom>
          <a:solidFill>
            <a:srgbClr val="1F497D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D3BCB661-FB77-33C2-82F1-607ECE3066A4}"/>
              </a:ext>
            </a:extLst>
          </p:cNvPr>
          <p:cNvSpPr/>
          <p:nvPr/>
        </p:nvSpPr>
        <p:spPr>
          <a:xfrm>
            <a:off x="9448800" y="1244600"/>
            <a:ext cx="1155700" cy="787400"/>
          </a:xfrm>
          <a:prstGeom prst="roundRect">
            <a:avLst>
              <a:gd name="adj" fmla="val 16129"/>
            </a:avLst>
          </a:prstGeom>
          <a:solidFill>
            <a:srgbClr val="2E9E5B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39" name="Graphic 38" descr="circle-check icon">
            <a:extLst>
              <a:ext uri="{FF2B5EF4-FFF2-40B4-BE49-F238E27FC236}">
                <a16:creationId xmlns:a16="http://schemas.microsoft.com/office/drawing/2014/main" id="{4BD2CA8E-EE7D-DABA-5F1D-568CF511026E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899650" y="1320800"/>
            <a:ext cx="254000" cy="254000"/>
          </a:xfrm>
          <a:prstGeom prst="rect">
            <a:avLst/>
          </a:prstGeom>
        </p:spPr>
      </p:pic>
      <p:sp>
        <p:nvSpPr>
          <p:cNvPr id="40" name="TextBox 39">
            <a:extLst>
              <a:ext uri="{FF2B5EF4-FFF2-40B4-BE49-F238E27FC236}">
                <a16:creationId xmlns:a16="http://schemas.microsoft.com/office/drawing/2014/main" id="{1C34F81E-6047-A14B-9710-F76444191803}"/>
              </a:ext>
            </a:extLst>
          </p:cNvPr>
          <p:cNvSpPr txBox="1"/>
          <p:nvPr/>
        </p:nvSpPr>
        <p:spPr>
          <a:xfrm>
            <a:off x="9499600" y="1600200"/>
            <a:ext cx="1054100" cy="4064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ct val="95000"/>
              </a:lnSpc>
            </a:pPr>
            <a:r>
              <a:rPr lang="en-IN" sz="1000" b="1">
                <a:solidFill>
                  <a:srgbClr val="FFFFFF"/>
                </a:solidFill>
                <a:latin typeface="Arial" panose="020B0604020202020204" pitchFamily="34" charset="0"/>
              </a:rPr>
              <a:t>Safe prompt in the box</a:t>
            </a:r>
          </a:p>
        </p:txBody>
      </p:sp>
      <p:sp>
        <p:nvSpPr>
          <p:cNvPr id="41" name="Isosceles Triangle 40">
            <a:extLst>
              <a:ext uri="{FF2B5EF4-FFF2-40B4-BE49-F238E27FC236}">
                <a16:creationId xmlns:a16="http://schemas.microsoft.com/office/drawing/2014/main" id="{6A36626B-1634-9CC2-88FA-7F84D55D3981}"/>
              </a:ext>
            </a:extLst>
          </p:cNvPr>
          <p:cNvSpPr/>
          <p:nvPr/>
        </p:nvSpPr>
        <p:spPr>
          <a:xfrm rot="5400000">
            <a:off x="10636250" y="1568450"/>
            <a:ext cx="139700" cy="139700"/>
          </a:xfrm>
          <a:prstGeom prst="triangle">
            <a:avLst/>
          </a:prstGeom>
          <a:solidFill>
            <a:srgbClr val="1F497D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2" name="Rectangle: Rounded Corners 41">
            <a:extLst>
              <a:ext uri="{FF2B5EF4-FFF2-40B4-BE49-F238E27FC236}">
                <a16:creationId xmlns:a16="http://schemas.microsoft.com/office/drawing/2014/main" id="{62FDA6BF-50F7-F005-0EA2-A9E298C3D79A}"/>
              </a:ext>
            </a:extLst>
          </p:cNvPr>
          <p:cNvSpPr/>
          <p:nvPr/>
        </p:nvSpPr>
        <p:spPr>
          <a:xfrm>
            <a:off x="10807700" y="1244600"/>
            <a:ext cx="1155700" cy="787400"/>
          </a:xfrm>
          <a:prstGeom prst="roundRect">
            <a:avLst>
              <a:gd name="adj" fmla="val 16129"/>
            </a:avLst>
          </a:prstGeom>
          <a:solidFill>
            <a:srgbClr val="1F2937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44" name="Graphic 43" descr="bot icon">
            <a:extLst>
              <a:ext uri="{FF2B5EF4-FFF2-40B4-BE49-F238E27FC236}">
                <a16:creationId xmlns:a16="http://schemas.microsoft.com/office/drawing/2014/main" id="{036ACAC1-E152-3C8F-27B5-C18AB9FDF0DE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258550" y="1320800"/>
            <a:ext cx="254000" cy="254000"/>
          </a:xfrm>
          <a:prstGeom prst="rect">
            <a:avLst/>
          </a:prstGeom>
        </p:spPr>
      </p:pic>
      <p:sp>
        <p:nvSpPr>
          <p:cNvPr id="45" name="TextBox 44">
            <a:extLst>
              <a:ext uri="{FF2B5EF4-FFF2-40B4-BE49-F238E27FC236}">
                <a16:creationId xmlns:a16="http://schemas.microsoft.com/office/drawing/2014/main" id="{16187084-07D7-ADE1-2610-A1EB901E790A}"/>
              </a:ext>
            </a:extLst>
          </p:cNvPr>
          <p:cNvSpPr txBox="1"/>
          <p:nvPr/>
        </p:nvSpPr>
        <p:spPr>
          <a:xfrm>
            <a:off x="10858500" y="1600200"/>
            <a:ext cx="1054100" cy="4064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ct val="95000"/>
              </a:lnSpc>
            </a:pPr>
            <a:r>
              <a:rPr lang="en-IN" sz="1000" b="1">
                <a:solidFill>
                  <a:srgbClr val="FFFFFF"/>
                </a:solidFill>
                <a:latin typeface="Arial" panose="020B0604020202020204" pitchFamily="34" charset="0"/>
              </a:rPr>
              <a:t>Send to any LLM</a:t>
            </a:r>
          </a:p>
        </p:txBody>
      </p:sp>
      <p:sp>
        <p:nvSpPr>
          <p:cNvPr id="46" name="Rectangle: Rounded Corners 45">
            <a:extLst>
              <a:ext uri="{FF2B5EF4-FFF2-40B4-BE49-F238E27FC236}">
                <a16:creationId xmlns:a16="http://schemas.microsoft.com/office/drawing/2014/main" id="{F2FECDA8-8219-9FD0-87F8-6D95EF10B901}"/>
              </a:ext>
            </a:extLst>
          </p:cNvPr>
          <p:cNvSpPr/>
          <p:nvPr/>
        </p:nvSpPr>
        <p:spPr>
          <a:xfrm>
            <a:off x="4013200" y="2159000"/>
            <a:ext cx="3911600" cy="241300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28575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504EB130-D5D4-12D8-6DBC-456BD3A0E518}"/>
              </a:ext>
            </a:extLst>
          </p:cNvPr>
          <p:cNvSpPr txBox="1"/>
          <p:nvPr/>
        </p:nvSpPr>
        <p:spPr>
          <a:xfrm>
            <a:off x="4140200" y="2222500"/>
            <a:ext cx="3657600" cy="3302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IN" sz="1600" b="1">
                <a:latin typeface="Arial" panose="020B0604020202020204" pitchFamily="34" charset="0"/>
              </a:rPr>
              <a:t>Proposed Solution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E9AA22D0-8CCB-E377-6F1B-184D066B63E5}"/>
              </a:ext>
            </a:extLst>
          </p:cNvPr>
          <p:cNvSpPr txBox="1"/>
          <p:nvPr/>
        </p:nvSpPr>
        <p:spPr>
          <a:xfrm>
            <a:off x="4191000" y="2590800"/>
            <a:ext cx="3606800" cy="1930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marL="139700" indent="-139700">
              <a:spcAft>
                <a:spcPts val="450"/>
              </a:spcAft>
              <a:buSzPct val="100000"/>
              <a:buFont typeface="Arial" panose="020B0604020202020204" pitchFamily="34" charset="0"/>
              <a:buChar char="•"/>
            </a:pPr>
            <a:r>
              <a:rPr lang="en-IN" sz="1100">
                <a:solidFill>
                  <a:srgbClr val="1A1A1A"/>
                </a:solidFill>
                <a:latin typeface="Arial" panose="020B0604020202020204" pitchFamily="34" charset="0"/>
              </a:rPr>
              <a:t>A </a:t>
            </a:r>
            <a:r>
              <a:rPr lang="en-IN" sz="1100" b="1">
                <a:solidFill>
                  <a:srgbClr val="1A1A1A"/>
                </a:solidFill>
                <a:latin typeface="Arial" panose="020B0604020202020204" pitchFamily="34" charset="0"/>
              </a:rPr>
              <a:t>Chrome extension</a:t>
            </a:r>
            <a:r>
              <a:rPr lang="en-IN" sz="1100">
                <a:solidFill>
                  <a:srgbClr val="1A1A1A"/>
                </a:solidFill>
                <a:latin typeface="Arial" panose="020B0604020202020204" pitchFamily="34" charset="0"/>
              </a:rPr>
              <a:t>: a shield appears on every AI chat box</a:t>
            </a:r>
          </a:p>
          <a:p>
            <a:pPr marL="139700" indent="-139700">
              <a:spcAft>
                <a:spcPts val="450"/>
              </a:spcAft>
              <a:buSzPct val="100000"/>
              <a:buFont typeface="Arial" panose="020B0604020202020204" pitchFamily="34" charset="0"/>
              <a:buChar char="•"/>
            </a:pPr>
            <a:r>
              <a:rPr lang="en-IN" sz="1100">
                <a:solidFill>
                  <a:srgbClr val="1A1A1A"/>
                </a:solidFill>
                <a:latin typeface="Arial" panose="020B0604020202020204" pitchFamily="34" charset="0"/>
              </a:rPr>
              <a:t>One click finds </a:t>
            </a:r>
            <a:r>
              <a:rPr lang="en-IN" sz="1100" b="1">
                <a:solidFill>
                  <a:srgbClr val="1A1A1A"/>
                </a:solidFill>
                <a:latin typeface="Arial" panose="020B0604020202020204" pitchFamily="34" charset="0"/>
              </a:rPr>
              <a:t>28 types</a:t>
            </a:r>
            <a:r>
              <a:rPr lang="en-IN" sz="1100">
                <a:solidFill>
                  <a:srgbClr val="1A1A1A"/>
                </a:solidFill>
                <a:latin typeface="Arial" panose="020B0604020202020204" pitchFamily="34" charset="0"/>
              </a:rPr>
              <a:t> of sensitive data and rewrites the prompt in place</a:t>
            </a:r>
          </a:p>
          <a:p>
            <a:pPr marL="139700" indent="-139700">
              <a:spcAft>
                <a:spcPts val="450"/>
              </a:spcAft>
              <a:buSzPct val="100000"/>
              <a:buFont typeface="Arial" panose="020B0604020202020204" pitchFamily="34" charset="0"/>
              <a:buChar char="•"/>
            </a:pPr>
            <a:r>
              <a:rPr lang="en-IN" sz="1100" b="1">
                <a:solidFill>
                  <a:srgbClr val="1A1A1A"/>
                </a:solidFill>
                <a:latin typeface="Arial" panose="020B0604020202020204" pitchFamily="34" charset="0"/>
              </a:rPr>
              <a:t>Mask, tokenize, redact, generalize</a:t>
            </a:r>
            <a:r>
              <a:rPr lang="en-IN" sz="1100">
                <a:solidFill>
                  <a:srgbClr val="1A1A1A"/>
                </a:solidFill>
                <a:latin typeface="Arial" panose="020B0604020202020204" pitchFamily="34" charset="0"/>
              </a:rPr>
              <a:t>; secrets are always removed</a:t>
            </a:r>
          </a:p>
          <a:p>
            <a:pPr marL="139700" indent="-139700">
              <a:spcAft>
                <a:spcPts val="450"/>
              </a:spcAft>
              <a:buSzPct val="100000"/>
              <a:buFont typeface="Arial" panose="020B0604020202020204" pitchFamily="34" charset="0"/>
              <a:buChar char="•"/>
            </a:pPr>
            <a:r>
              <a:rPr lang="en-IN" sz="1100" b="1">
                <a:solidFill>
                  <a:srgbClr val="1A1A1A"/>
                </a:solidFill>
                <a:latin typeface="Arial" panose="020B0604020202020204" pitchFamily="34" charset="0"/>
              </a:rPr>
              <a:t>Risk score</a:t>
            </a:r>
            <a:r>
              <a:rPr lang="en-IN" sz="1100">
                <a:solidFill>
                  <a:srgbClr val="1A1A1A"/>
                </a:solidFill>
                <a:latin typeface="Arial" panose="020B0604020202020204" pitchFamily="34" charset="0"/>
              </a:rPr>
              <a:t> before → after, with Undo and per-item review</a:t>
            </a:r>
          </a:p>
          <a:p>
            <a:pPr marL="139700" indent="-139700">
              <a:spcAft>
                <a:spcPts val="450"/>
              </a:spcAft>
              <a:buSzPct val="100000"/>
              <a:buFont typeface="Arial" panose="020B0604020202020204" pitchFamily="34" charset="0"/>
              <a:buChar char="•"/>
            </a:pPr>
            <a:r>
              <a:rPr lang="en-IN" sz="1100" b="1">
                <a:solidFill>
                  <a:srgbClr val="1A1A1A"/>
                </a:solidFill>
                <a:latin typeface="Arial" panose="020B0604020202020204" pitchFamily="34" charset="0"/>
              </a:rPr>
              <a:t>4 policy profiles</a:t>
            </a:r>
            <a:r>
              <a:rPr lang="en-IN" sz="1100">
                <a:solidFill>
                  <a:srgbClr val="1A1A1A"/>
                </a:solidFill>
                <a:latin typeface="Arial" panose="020B0604020202020204" pitchFamily="34" charset="0"/>
              </a:rPr>
              <a:t>: Personal, Healthcare, Finance, Enterprise</a:t>
            </a:r>
          </a:p>
        </p:txBody>
      </p:sp>
      <p:sp>
        <p:nvSpPr>
          <p:cNvPr id="49" name="Rectangle: Rounded Corners 48">
            <a:extLst>
              <a:ext uri="{FF2B5EF4-FFF2-40B4-BE49-F238E27FC236}">
                <a16:creationId xmlns:a16="http://schemas.microsoft.com/office/drawing/2014/main" id="{AD6E3646-8343-2B1A-5E28-4B90B8918A97}"/>
              </a:ext>
            </a:extLst>
          </p:cNvPr>
          <p:cNvSpPr/>
          <p:nvPr/>
        </p:nvSpPr>
        <p:spPr>
          <a:xfrm>
            <a:off x="8051800" y="2159000"/>
            <a:ext cx="3911600" cy="241300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28575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0ACDDE3B-DA0F-2897-B4C8-FDD909BB4EDB}"/>
              </a:ext>
            </a:extLst>
          </p:cNvPr>
          <p:cNvSpPr txBox="1"/>
          <p:nvPr/>
        </p:nvSpPr>
        <p:spPr>
          <a:xfrm>
            <a:off x="8178800" y="2222500"/>
            <a:ext cx="3657600" cy="3302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IN" sz="1600" b="1">
                <a:latin typeface="Arial" panose="020B0604020202020204" pitchFamily="34" charset="0"/>
              </a:rPr>
              <a:t>Innovation &amp; Uniqueness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F31D17C0-3825-3B32-2A28-9F29278AB30F}"/>
              </a:ext>
            </a:extLst>
          </p:cNvPr>
          <p:cNvSpPr txBox="1"/>
          <p:nvPr/>
        </p:nvSpPr>
        <p:spPr>
          <a:xfrm>
            <a:off x="8229600" y="2590800"/>
            <a:ext cx="3606800" cy="1930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marL="139700" indent="-139700">
              <a:spcAft>
                <a:spcPts val="450"/>
              </a:spcAft>
              <a:buSzPct val="100000"/>
              <a:buFont typeface="Arial" panose="020B0604020202020204" pitchFamily="34" charset="0"/>
              <a:buChar char="•"/>
            </a:pPr>
            <a:r>
              <a:rPr lang="en-IN" sz="1100" b="1">
                <a:solidFill>
                  <a:srgbClr val="1A1A1A"/>
                </a:solidFill>
                <a:latin typeface="Arial" panose="020B0604020202020204" pitchFamily="34" charset="0"/>
              </a:rPr>
              <a:t>100% on-device</a:t>
            </a:r>
            <a:r>
              <a:rPr lang="en-IN" sz="1100">
                <a:solidFill>
                  <a:srgbClr val="1A1A1A"/>
                </a:solidFill>
                <a:latin typeface="Arial" panose="020B0604020202020204" pitchFamily="34" charset="0"/>
              </a:rPr>
              <a:t>: no server, no account, zero network calls</a:t>
            </a:r>
          </a:p>
          <a:p>
            <a:pPr marL="139700" indent="-139700">
              <a:spcAft>
                <a:spcPts val="450"/>
              </a:spcAft>
              <a:buSzPct val="100000"/>
              <a:buFont typeface="Arial" panose="020B0604020202020204" pitchFamily="34" charset="0"/>
              <a:buChar char="•"/>
            </a:pPr>
            <a:r>
              <a:rPr lang="en-IN" sz="1100">
                <a:solidFill>
                  <a:srgbClr val="1A1A1A"/>
                </a:solidFill>
                <a:latin typeface="Arial" panose="020B0604020202020204" pitchFamily="34" charset="0"/>
              </a:rPr>
              <a:t>Reads </a:t>
            </a:r>
            <a:r>
              <a:rPr lang="en-IN" sz="1100" b="1">
                <a:solidFill>
                  <a:srgbClr val="1A1A1A"/>
                </a:solidFill>
                <a:latin typeface="Arial" panose="020B0604020202020204" pitchFamily="34" charset="0"/>
              </a:rPr>
              <a:t>structure</a:t>
            </a:r>
            <a:r>
              <a:rPr lang="en-IN" sz="1100">
                <a:solidFill>
                  <a:srgbClr val="1A1A1A"/>
                </a:solidFill>
                <a:latin typeface="Arial" panose="020B0604020202020204" pitchFamily="34" charset="0"/>
              </a:rPr>
              <a:t>: JSON, .env, headers, tables, code and prose</a:t>
            </a:r>
          </a:p>
          <a:p>
            <a:pPr marL="139700" indent="-139700">
              <a:spcAft>
                <a:spcPts val="450"/>
              </a:spcAft>
              <a:buSzPct val="100000"/>
              <a:buFont typeface="Arial" panose="020B0604020202020204" pitchFamily="34" charset="0"/>
              <a:buChar char="•"/>
            </a:pPr>
            <a:r>
              <a:rPr lang="en-IN" sz="1100" b="1">
                <a:solidFill>
                  <a:srgbClr val="1A1A1A"/>
                </a:solidFill>
                <a:latin typeface="Arial" panose="020B0604020202020204" pitchFamily="34" charset="0"/>
              </a:rPr>
              <a:t>Checksums</a:t>
            </a:r>
            <a:r>
              <a:rPr lang="en-IN" sz="1100">
                <a:solidFill>
                  <a:srgbClr val="1A1A1A"/>
                </a:solidFill>
                <a:latin typeface="Arial" panose="020B0604020202020204" pitchFamily="34" charset="0"/>
              </a:rPr>
              <a:t> cut false alarms (Luhn, Verhoeff, IBAN mod-97)</a:t>
            </a:r>
          </a:p>
          <a:p>
            <a:pPr marL="139700" indent="-139700">
              <a:spcAft>
                <a:spcPts val="450"/>
              </a:spcAft>
              <a:buSzPct val="100000"/>
              <a:buFont typeface="Arial" panose="020B0604020202020204" pitchFamily="34" charset="0"/>
              <a:buChar char="•"/>
            </a:pPr>
            <a:r>
              <a:rPr lang="en-IN" sz="1100">
                <a:solidFill>
                  <a:srgbClr val="1A1A1A"/>
                </a:solidFill>
                <a:latin typeface="Arial" panose="020B0604020202020204" pitchFamily="34" charset="0"/>
              </a:rPr>
              <a:t>Optional </a:t>
            </a:r>
            <a:r>
              <a:rPr lang="en-IN" sz="1100" b="1">
                <a:solidFill>
                  <a:srgbClr val="1A1A1A"/>
                </a:solidFill>
                <a:latin typeface="Arial" panose="020B0604020202020204" pitchFamily="34" charset="0"/>
              </a:rPr>
              <a:t>on-device AI</a:t>
            </a:r>
            <a:r>
              <a:rPr lang="en-IN" sz="1100">
                <a:solidFill>
                  <a:srgbClr val="1A1A1A"/>
                </a:solidFill>
                <a:latin typeface="Arial" panose="020B0604020202020204" pitchFamily="34" charset="0"/>
              </a:rPr>
              <a:t> (Gemini Nano) keeps only what the task needs</a:t>
            </a:r>
          </a:p>
          <a:p>
            <a:pPr marL="139700" indent="-139700">
              <a:spcAft>
                <a:spcPts val="450"/>
              </a:spcAft>
              <a:buSzPct val="100000"/>
              <a:buFont typeface="Arial" panose="020B0604020202020204" pitchFamily="34" charset="0"/>
              <a:buChar char="•"/>
            </a:pPr>
            <a:r>
              <a:rPr lang="en-IN" sz="1100">
                <a:solidFill>
                  <a:srgbClr val="1A1A1A"/>
                </a:solidFill>
                <a:latin typeface="Arial" panose="020B0604020202020204" pitchFamily="34" charset="0"/>
              </a:rPr>
              <a:t>The AI only labels; the </a:t>
            </a:r>
            <a:r>
              <a:rPr lang="en-IN" sz="1100" b="1">
                <a:solidFill>
                  <a:srgbClr val="1A1A1A"/>
                </a:solidFill>
                <a:latin typeface="Arial" panose="020B0604020202020204" pitchFamily="34" charset="0"/>
              </a:rPr>
              <a:t>policy decides</a:t>
            </a:r>
            <a:r>
              <a:rPr lang="en-IN" sz="1100">
                <a:solidFill>
                  <a:srgbClr val="1A1A1A"/>
                </a:solidFill>
                <a:latin typeface="Arial" panose="020B0604020202020204" pitchFamily="34" charset="0"/>
              </a:rPr>
              <a:t> every replacement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E7D203A1-9FD6-C2BB-D38D-EEE6F8555B6C}"/>
              </a:ext>
            </a:extLst>
          </p:cNvPr>
          <p:cNvSpPr txBox="1"/>
          <p:nvPr/>
        </p:nvSpPr>
        <p:spPr>
          <a:xfrm>
            <a:off x="4013200" y="4648200"/>
            <a:ext cx="7950200" cy="2286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IN" sz="1150" b="1">
                <a:solidFill>
                  <a:srgbClr val="1F497D"/>
                </a:solidFill>
                <a:latin typeface="Arial" panose="020B0604020202020204" pitchFamily="34" charset="0"/>
              </a:rPr>
              <a:t>How it addresses the problem – real output, Healthcare profile</a:t>
            </a:r>
          </a:p>
        </p:txBody>
      </p:sp>
      <p:sp>
        <p:nvSpPr>
          <p:cNvPr id="53" name="Rectangle: Rounded Corners 52">
            <a:extLst>
              <a:ext uri="{FF2B5EF4-FFF2-40B4-BE49-F238E27FC236}">
                <a16:creationId xmlns:a16="http://schemas.microsoft.com/office/drawing/2014/main" id="{13E8AB2D-5434-168B-9CFB-620D775F5F4A}"/>
              </a:ext>
            </a:extLst>
          </p:cNvPr>
          <p:cNvSpPr/>
          <p:nvPr/>
        </p:nvSpPr>
        <p:spPr>
          <a:xfrm>
            <a:off x="4013200" y="4902200"/>
            <a:ext cx="3352800" cy="1346200"/>
          </a:xfrm>
          <a:prstGeom prst="roundRect">
            <a:avLst>
              <a:gd name="adj" fmla="val 9434"/>
            </a:avLst>
          </a:prstGeom>
          <a:solidFill>
            <a:srgbClr val="FDEDEC"/>
          </a:solidFill>
          <a:ln w="12700">
            <a:solidFill>
              <a:srgbClr val="F1B5B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42ACA93-9C42-C4CC-A42B-50ABB15AC5B0}"/>
              </a:ext>
            </a:extLst>
          </p:cNvPr>
          <p:cNvSpPr txBox="1"/>
          <p:nvPr/>
        </p:nvSpPr>
        <p:spPr>
          <a:xfrm>
            <a:off x="4140200" y="4965700"/>
            <a:ext cx="1016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IN" sz="900" b="1">
                <a:solidFill>
                  <a:srgbClr val="D9473F"/>
                </a:solidFill>
                <a:latin typeface="Arial" panose="020B0604020202020204" pitchFamily="34" charset="0"/>
              </a:rPr>
              <a:t>BEFORE</a:t>
            </a:r>
          </a:p>
        </p:txBody>
      </p:sp>
      <p:sp>
        <p:nvSpPr>
          <p:cNvPr id="55" name="Rectangle: Rounded Corners 54">
            <a:extLst>
              <a:ext uri="{FF2B5EF4-FFF2-40B4-BE49-F238E27FC236}">
                <a16:creationId xmlns:a16="http://schemas.microsoft.com/office/drawing/2014/main" id="{42BB4DEE-25C6-82A2-6E0D-8BE27FA00FA4}"/>
              </a:ext>
            </a:extLst>
          </p:cNvPr>
          <p:cNvSpPr/>
          <p:nvPr/>
        </p:nvSpPr>
        <p:spPr>
          <a:xfrm>
            <a:off x="6019800" y="4953000"/>
            <a:ext cx="1244600" cy="203200"/>
          </a:xfrm>
          <a:prstGeom prst="roundRect">
            <a:avLst>
              <a:gd name="adj" fmla="val 50000"/>
            </a:avLst>
          </a:prstGeom>
          <a:solidFill>
            <a:srgbClr val="D9473F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IN" sz="850" b="1">
                <a:solidFill>
                  <a:srgbClr val="FFFFFF"/>
                </a:solidFill>
                <a:latin typeface="Arial" panose="020B0604020202020204" pitchFamily="34" charset="0"/>
              </a:rPr>
              <a:t>Risk 97 · Critical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696F923C-8496-5521-C0FA-534E7B21F697}"/>
              </a:ext>
            </a:extLst>
          </p:cNvPr>
          <p:cNvSpPr txBox="1"/>
          <p:nvPr/>
        </p:nvSpPr>
        <p:spPr>
          <a:xfrm>
            <a:off x="4140200" y="5207000"/>
            <a:ext cx="3124200" cy="9906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05000"/>
              </a:lnSpc>
            </a:pPr>
            <a:r>
              <a:rPr lang="en-IN" sz="1050">
                <a:solidFill>
                  <a:srgbClr val="1A1A1A"/>
                </a:solidFill>
                <a:latin typeface="Arial" panose="020B0604020202020204" pitchFamily="34" charset="0"/>
              </a:rPr>
              <a:t>My name is </a:t>
            </a:r>
            <a:r>
              <a:rPr lang="en-IN" sz="1050" b="1">
                <a:solidFill>
                  <a:srgbClr val="D9473F"/>
                </a:solidFill>
                <a:latin typeface="Arial" panose="020B0604020202020204" pitchFamily="34" charset="0"/>
              </a:rPr>
              <a:t>Rahul Sharma</a:t>
            </a:r>
            <a:r>
              <a:rPr lang="en-IN" sz="1050">
                <a:solidFill>
                  <a:srgbClr val="1A1A1A"/>
                </a:solidFill>
                <a:latin typeface="Arial" panose="020B0604020202020204" pitchFamily="34" charset="0"/>
              </a:rPr>
              <a:t>, I'm </a:t>
            </a:r>
            <a:r>
              <a:rPr lang="en-IN" sz="1050" b="1">
                <a:solidFill>
                  <a:srgbClr val="D9473F"/>
                </a:solidFill>
                <a:latin typeface="Arial" panose="020B0604020202020204" pitchFamily="34" charset="0"/>
              </a:rPr>
              <a:t>27</a:t>
            </a:r>
            <a:r>
              <a:rPr lang="en-IN" sz="1050">
                <a:solidFill>
                  <a:srgbClr val="1A1A1A"/>
                </a:solidFill>
                <a:latin typeface="Arial" panose="020B0604020202020204" pitchFamily="34" charset="0"/>
              </a:rPr>
              <a:t>. Phone </a:t>
            </a:r>
            <a:r>
              <a:rPr lang="en-IN" sz="1050" b="1">
                <a:solidFill>
                  <a:srgbClr val="D9473F"/>
                </a:solidFill>
                <a:latin typeface="Arial" panose="020B0604020202020204" pitchFamily="34" charset="0"/>
              </a:rPr>
              <a:t>98765 43210</a:t>
            </a:r>
            <a:r>
              <a:rPr lang="en-IN" sz="1050">
                <a:solidFill>
                  <a:srgbClr val="1A1A1A"/>
                </a:solidFill>
                <a:latin typeface="Arial" panose="020B0604020202020204" pitchFamily="34" charset="0"/>
              </a:rPr>
              <a:t>, Aadhaar </a:t>
            </a:r>
            <a:r>
              <a:rPr lang="en-IN" sz="1050" b="1">
                <a:solidFill>
                  <a:srgbClr val="D9473F"/>
                </a:solidFill>
                <a:latin typeface="Arial" panose="020B0604020202020204" pitchFamily="34" charset="0"/>
              </a:rPr>
              <a:t>2345 6789 0124</a:t>
            </a:r>
            <a:r>
              <a:rPr lang="en-IN" sz="1050">
                <a:solidFill>
                  <a:srgbClr val="1A1A1A"/>
                </a:solidFill>
                <a:latin typeface="Arial" panose="020B0604020202020204" pitchFamily="34" charset="0"/>
              </a:rPr>
              <a:t>, email </a:t>
            </a:r>
            <a:r>
              <a:rPr lang="en-IN" sz="1050" b="1">
                <a:solidFill>
                  <a:srgbClr val="D9473F"/>
                </a:solidFill>
                <a:latin typeface="Arial" panose="020B0604020202020204" pitchFamily="34" charset="0"/>
              </a:rPr>
              <a:t>rahul.sharma@gmail.com</a:t>
            </a:r>
            <a:r>
              <a:rPr lang="en-IN" sz="1050">
                <a:solidFill>
                  <a:srgbClr val="1A1A1A"/>
                </a:solidFill>
                <a:latin typeface="Arial" panose="020B0604020202020204" pitchFamily="34" charset="0"/>
              </a:rPr>
              <a:t>. I have Type 2 diabetes. What should I ask my doctor?</a:t>
            </a:r>
          </a:p>
        </p:txBody>
      </p:sp>
      <p:pic>
        <p:nvPicPr>
          <p:cNvPr id="58" name="Picture 57" descr="P2Shield">
            <a:extLst>
              <a:ext uri="{FF2B5EF4-FFF2-40B4-BE49-F238E27FC236}">
                <a16:creationId xmlns:a16="http://schemas.microsoft.com/office/drawing/2014/main" id="{7BE35234-439C-FBF9-E1F9-DABF138B2E51}"/>
              </a:ext>
            </a:extLst>
          </p:cNvPr>
          <p:cNvPicPr>
            <a:picLocks/>
          </p:cNvPicPr>
          <p:nvPr/>
        </p:nvPicPr>
        <p:blipFill>
          <a:blip r:embed="rId11"/>
          <a:stretch>
            <a:fillRect/>
          </a:stretch>
        </p:blipFill>
        <p:spPr>
          <a:xfrm>
            <a:off x="7505700" y="5054600"/>
            <a:ext cx="482600" cy="558800"/>
          </a:xfrm>
          <a:prstGeom prst="rect">
            <a:avLst/>
          </a:prstGeom>
        </p:spPr>
      </p:pic>
      <p:sp>
        <p:nvSpPr>
          <p:cNvPr id="59" name="Arrow: Right 58">
            <a:extLst>
              <a:ext uri="{FF2B5EF4-FFF2-40B4-BE49-F238E27FC236}">
                <a16:creationId xmlns:a16="http://schemas.microsoft.com/office/drawing/2014/main" id="{4DF90C83-D842-D01A-65BD-83A004B10045}"/>
              </a:ext>
            </a:extLst>
          </p:cNvPr>
          <p:cNvSpPr/>
          <p:nvPr/>
        </p:nvSpPr>
        <p:spPr>
          <a:xfrm>
            <a:off x="7442200" y="5689600"/>
            <a:ext cx="609600" cy="228600"/>
          </a:xfrm>
          <a:prstGeom prst="rightArrow">
            <a:avLst/>
          </a:prstGeom>
          <a:solidFill>
            <a:srgbClr val="1F497D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60" name="Rectangle: Rounded Corners 59">
            <a:extLst>
              <a:ext uri="{FF2B5EF4-FFF2-40B4-BE49-F238E27FC236}">
                <a16:creationId xmlns:a16="http://schemas.microsoft.com/office/drawing/2014/main" id="{8DBCEF69-E685-89F1-2D84-8C691F381984}"/>
              </a:ext>
            </a:extLst>
          </p:cNvPr>
          <p:cNvSpPr/>
          <p:nvPr/>
        </p:nvSpPr>
        <p:spPr>
          <a:xfrm>
            <a:off x="8153400" y="4902200"/>
            <a:ext cx="3810000" cy="1346200"/>
          </a:xfrm>
          <a:prstGeom prst="roundRect">
            <a:avLst>
              <a:gd name="adj" fmla="val 9434"/>
            </a:avLst>
          </a:prstGeom>
          <a:solidFill>
            <a:srgbClr val="E7F6EC"/>
          </a:solidFill>
          <a:ln w="12700">
            <a:solidFill>
              <a:srgbClr val="9FD6B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ABDA2640-8DCC-89DB-DBC4-19EDAED0E438}"/>
              </a:ext>
            </a:extLst>
          </p:cNvPr>
          <p:cNvSpPr txBox="1"/>
          <p:nvPr/>
        </p:nvSpPr>
        <p:spPr>
          <a:xfrm>
            <a:off x="8280400" y="4965700"/>
            <a:ext cx="1016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IN" sz="900" b="1">
                <a:solidFill>
                  <a:srgbClr val="2E9E5B"/>
                </a:solidFill>
                <a:latin typeface="Arial" panose="020B0604020202020204" pitchFamily="34" charset="0"/>
              </a:rPr>
              <a:t>AFTER</a:t>
            </a:r>
          </a:p>
        </p:txBody>
      </p:sp>
      <p:sp>
        <p:nvSpPr>
          <p:cNvPr id="62" name="Rectangle: Rounded Corners 61">
            <a:extLst>
              <a:ext uri="{FF2B5EF4-FFF2-40B4-BE49-F238E27FC236}">
                <a16:creationId xmlns:a16="http://schemas.microsoft.com/office/drawing/2014/main" id="{DB64A332-ABEB-09AA-22AE-906ECDE07E0E}"/>
              </a:ext>
            </a:extLst>
          </p:cNvPr>
          <p:cNvSpPr/>
          <p:nvPr/>
        </p:nvSpPr>
        <p:spPr>
          <a:xfrm>
            <a:off x="10744200" y="4953000"/>
            <a:ext cx="1117600" cy="203200"/>
          </a:xfrm>
          <a:prstGeom prst="roundRect">
            <a:avLst>
              <a:gd name="adj" fmla="val 50000"/>
            </a:avLst>
          </a:prstGeom>
          <a:solidFill>
            <a:srgbClr val="2E9E5B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IN" sz="850" b="1">
                <a:solidFill>
                  <a:srgbClr val="FFFFFF"/>
                </a:solidFill>
                <a:latin typeface="Arial" panose="020B0604020202020204" pitchFamily="34" charset="0"/>
              </a:rPr>
              <a:t>Risk 23 · Low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DEB4D613-1CDD-BB9D-22F5-0E49DA7213A4}"/>
              </a:ext>
            </a:extLst>
          </p:cNvPr>
          <p:cNvSpPr txBox="1"/>
          <p:nvPr/>
        </p:nvSpPr>
        <p:spPr>
          <a:xfrm>
            <a:off x="8280400" y="5207000"/>
            <a:ext cx="3581400" cy="812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05000"/>
              </a:lnSpc>
            </a:pPr>
            <a:r>
              <a:rPr lang="en-IN" sz="1050">
                <a:solidFill>
                  <a:srgbClr val="1A1A1A"/>
                </a:solidFill>
                <a:latin typeface="Arial" panose="020B0604020202020204" pitchFamily="34" charset="0"/>
              </a:rPr>
              <a:t>My name is </a:t>
            </a:r>
            <a:r>
              <a:rPr lang="en-IN" sz="1050" b="1">
                <a:solidFill>
                  <a:srgbClr val="2E9E5B"/>
                </a:solidFill>
                <a:latin typeface="Arial" panose="020B0604020202020204" pitchFamily="34" charset="0"/>
              </a:rPr>
              <a:t>[PERSON_1]</a:t>
            </a:r>
            <a:r>
              <a:rPr lang="en-IN" sz="1050">
                <a:solidFill>
                  <a:srgbClr val="1A1A1A"/>
                </a:solidFill>
                <a:latin typeface="Arial" panose="020B0604020202020204" pitchFamily="34" charset="0"/>
              </a:rPr>
              <a:t>, I'm </a:t>
            </a:r>
            <a:r>
              <a:rPr lang="en-IN" sz="1050" b="1">
                <a:solidFill>
                  <a:srgbClr val="2E9E5B"/>
                </a:solidFill>
                <a:latin typeface="Arial" panose="020B0604020202020204" pitchFamily="34" charset="0"/>
              </a:rPr>
              <a:t>20-30</a:t>
            </a:r>
            <a:r>
              <a:rPr lang="en-IN" sz="1050">
                <a:solidFill>
                  <a:srgbClr val="1A1A1A"/>
                </a:solidFill>
                <a:latin typeface="Arial" panose="020B0604020202020204" pitchFamily="34" charset="0"/>
              </a:rPr>
              <a:t>. Phone </a:t>
            </a:r>
            <a:r>
              <a:rPr lang="en-IN" sz="1050" b="1">
                <a:solidFill>
                  <a:srgbClr val="2E9E5B"/>
                </a:solidFill>
                <a:latin typeface="Arial" panose="020B0604020202020204" pitchFamily="34" charset="0"/>
              </a:rPr>
              <a:t>[REDACTED_PHONE]</a:t>
            </a:r>
            <a:r>
              <a:rPr lang="en-IN" sz="1050">
                <a:solidFill>
                  <a:srgbClr val="1A1A1A"/>
                </a:solidFill>
                <a:latin typeface="Arial" panose="020B0604020202020204" pitchFamily="34" charset="0"/>
              </a:rPr>
              <a:t>, Aadhaar </a:t>
            </a:r>
            <a:r>
              <a:rPr lang="en-IN" sz="1050" b="1">
                <a:solidFill>
                  <a:srgbClr val="2E9E5B"/>
                </a:solidFill>
                <a:latin typeface="Arial" panose="020B0604020202020204" pitchFamily="34" charset="0"/>
              </a:rPr>
              <a:t>[REDACTED_AADHAAR]</a:t>
            </a:r>
            <a:r>
              <a:rPr lang="en-IN" sz="1050">
                <a:solidFill>
                  <a:srgbClr val="1A1A1A"/>
                </a:solidFill>
                <a:latin typeface="Arial" panose="020B0604020202020204" pitchFamily="34" charset="0"/>
              </a:rPr>
              <a:t>, email </a:t>
            </a:r>
            <a:r>
              <a:rPr lang="en-IN" sz="1050" b="1">
                <a:solidFill>
                  <a:srgbClr val="2E9E5B"/>
                </a:solidFill>
                <a:latin typeface="Arial" panose="020B0604020202020204" pitchFamily="34" charset="0"/>
              </a:rPr>
              <a:t>[REDACTED_EMAIL]</a:t>
            </a:r>
            <a:r>
              <a:rPr lang="en-IN" sz="1050">
                <a:solidFill>
                  <a:srgbClr val="1A1A1A"/>
                </a:solidFill>
                <a:latin typeface="Arial" panose="020B0604020202020204" pitchFamily="34" charset="0"/>
              </a:rPr>
              <a:t>. I have </a:t>
            </a:r>
            <a:r>
              <a:rPr lang="en-IN" sz="1050" b="1">
                <a:solidFill>
                  <a:srgbClr val="1F497D"/>
                </a:solidFill>
                <a:latin typeface="Arial" panose="020B0604020202020204" pitchFamily="34" charset="0"/>
              </a:rPr>
              <a:t>Type 2 diabetes</a:t>
            </a:r>
            <a:r>
              <a:rPr lang="en-IN" sz="1050">
                <a:solidFill>
                  <a:srgbClr val="1A1A1A"/>
                </a:solidFill>
                <a:latin typeface="Arial" panose="020B0604020202020204" pitchFamily="34" charset="0"/>
              </a:rPr>
              <a:t>. What should I ask my doctor?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971F6C08-CB86-D935-FF91-50DFC8DE2361}"/>
              </a:ext>
            </a:extLst>
          </p:cNvPr>
          <p:cNvSpPr txBox="1"/>
          <p:nvPr/>
        </p:nvSpPr>
        <p:spPr>
          <a:xfrm>
            <a:off x="8280400" y="6019800"/>
            <a:ext cx="35814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IN" sz="900" i="1">
                <a:solidFill>
                  <a:srgbClr val="2E6B47"/>
                </a:solidFill>
                <a:latin typeface="Arial" panose="020B0604020202020204" pitchFamily="34" charset="0"/>
              </a:rPr>
              <a:t>Diagnosis kept: the answer needs it. Identity removed.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"/>
          <p:cNvSpPr/>
          <p:nvPr/>
        </p:nvSpPr>
        <p:spPr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>
            <a:noFill/>
          </a:ln>
          <a:effectLst>
            <a:outerShdw dist="23000" dir="5400000" rotWithShape="0">
              <a:srgbClr val="80808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95373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p3"/>
          <p:cNvSpPr txBox="1">
            <a:spLocks noGrp="1"/>
          </p:cNvSpPr>
          <p:nvPr>
            <p:ph type="title"/>
          </p:nvPr>
        </p:nvSpPr>
        <p:spPr>
          <a:xfrm>
            <a:off x="1905000" y="50800"/>
            <a:ext cx="8382000" cy="63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lvl="0" rtl="0"/>
            <a:r>
              <a:rPr lang="en-US" sz="3400" b="1">
                <a:solidFill>
                  <a:srgbClr val="000000"/>
                </a:solidFill>
                <a:latin typeface="Times New Roman" panose="02020603050405020304" pitchFamily="18" charset="0"/>
                <a:ea typeface="Times New Roman"/>
                <a:cs typeface="Times New Roman"/>
                <a:sym typeface="Times New Roman"/>
              </a:rPr>
              <a:t>TECHNICAL APPROACH</a:t>
            </a:r>
            <a:endParaRPr sz="3400" b="1">
              <a:solidFill>
                <a:srgbClr val="000000"/>
              </a:solidFill>
              <a:latin typeface="Times New Roman" panose="02020603050405020304" pitchFamily="18" charset="0"/>
            </a:endParaRPr>
          </a:p>
        </p:txBody>
      </p:sp>
      <p:sp>
        <p:nvSpPr>
          <p:cNvPr id="114" name="Google Shape;114;p3"/>
          <p:cNvSpPr txBox="1">
            <a:spLocks noGrp="1"/>
          </p:cNvSpPr>
          <p:nvPr>
            <p:ph type="sldNum" idx="12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b="1">
                <a:solidFill>
                  <a:schemeClr val="lt1"/>
                </a:solidFill>
              </a:rPr>
              <a:t>3</a:t>
            </a:fld>
            <a:endParaRPr b="1">
              <a:solidFill>
                <a:schemeClr val="lt1"/>
              </a:solidFill>
            </a:endParaRPr>
          </a:p>
        </p:txBody>
      </p:sp>
      <p:sp>
        <p:nvSpPr>
          <p:cNvPr id="115" name="Google Shape;115;p3"/>
          <p:cNvSpPr txBox="1">
            <a:spLocks noGrp="1"/>
          </p:cNvSpPr>
          <p:nvPr>
            <p:ph type="ftr" idx="11"/>
          </p:nvPr>
        </p:nvSpPr>
        <p:spPr>
          <a:xfrm>
            <a:off x="4648200" y="6356353"/>
            <a:ext cx="32040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lvl="0" rtl="0"/>
            <a:r>
              <a:rPr lang="en-IN" sz="1100">
                <a:solidFill>
                  <a:srgbClr val="FFFFFF"/>
                </a:solidFill>
                <a:latin typeface="Oswald" panose="00000500000000000000" pitchFamily="2" charset="0"/>
              </a:rPr>
              <a:t>@BITSHIFT Idea submission  ·  TechKnights  ·  P2Shield</a:t>
            </a:r>
            <a:endParaRPr sz="1100">
              <a:solidFill>
                <a:srgbClr val="FFFFFF"/>
              </a:solidFill>
              <a:latin typeface="Oswald" panose="00000500000000000000" pitchFamily="2" charset="0"/>
            </a:endParaRPr>
          </a:p>
        </p:txBody>
      </p:sp>
      <p:sp>
        <p:nvSpPr>
          <p:cNvPr id="116" name="Google Shape;116;p3" descr="Your startup LOGO"/>
          <p:cNvSpPr/>
          <p:nvPr/>
        </p:nvSpPr>
        <p:spPr>
          <a:xfrm>
            <a:off x="253999" y="228600"/>
            <a:ext cx="1422400" cy="584200"/>
          </a:xfrm>
          <a:prstGeom prst="ellipse">
            <a:avLst/>
          </a:prstGeom>
          <a:solidFill>
            <a:schemeClr val="lt1"/>
          </a:solidFill>
          <a:ln w="25400" cap="flat" cmpd="sng">
            <a:solidFill>
              <a:srgbClr val="8064A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R="0" lvl="0" algn="ctr" rtl="0"/>
            <a:r>
              <a:rPr lang="en-US" sz="1500" b="1">
                <a:solidFill>
                  <a:srgbClr val="4B2E83"/>
                </a:solidFill>
                <a:latin typeface="Calibri" panose="020F0502020204030204" pitchFamily="34" charset="0"/>
                <a:ea typeface="Calibri"/>
                <a:cs typeface="Calibri"/>
                <a:sym typeface="Calibri"/>
              </a:rPr>
              <a:t>TechKnights</a:t>
            </a:r>
            <a:endParaRPr sz="1500" b="1">
              <a:solidFill>
                <a:srgbClr val="4B2E83"/>
              </a:solidFill>
              <a:latin typeface="Calibri" panose="020F0502020204030204" pitchFamily="34" charset="0"/>
              <a:ea typeface="Calibri"/>
              <a:cs typeface="Calibri"/>
              <a:sym typeface="Calibri"/>
            </a:endParaRPr>
          </a:p>
        </p:txBody>
      </p:sp>
      <p:pic>
        <p:nvPicPr>
          <p:cNvPr id="117" name="Google Shape;117;p3"/>
          <p:cNvPicPr preferRelativeResize="0">
            <a:picLocks noChangeAspect="1"/>
          </p:cNvPicPr>
          <p:nvPr/>
        </p:nvPicPr>
        <p:blipFill rotWithShape="1">
          <a:blip r:embed="rId3">
            <a:alphaModFix/>
          </a:blip>
          <a:srcRect r="13096" b="-9830"/>
          <a:stretch/>
        </p:blipFill>
        <p:spPr>
          <a:xfrm>
            <a:off x="10490200" y="76200"/>
            <a:ext cx="1498600" cy="10622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3D7260A-6506-1DFE-1668-C0D0992ECA04}"/>
              </a:ext>
            </a:extLst>
          </p:cNvPr>
          <p:cNvSpPr txBox="1"/>
          <p:nvPr/>
        </p:nvSpPr>
        <p:spPr>
          <a:xfrm>
            <a:off x="1905000" y="685800"/>
            <a:ext cx="83820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IN" b="1">
                <a:solidFill>
                  <a:srgbClr val="1F497D"/>
                </a:solidFill>
                <a:latin typeface="Arial" panose="020B0604020202020204" pitchFamily="34" charset="0"/>
              </a:rPr>
              <a:t>A pure TypeScript engine inside a Chrome extension. Nothing leaves the browser.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54D37EAF-C8A9-AEBB-82C5-3C77F6BE8B7D}"/>
              </a:ext>
            </a:extLst>
          </p:cNvPr>
          <p:cNvSpPr/>
          <p:nvPr/>
        </p:nvSpPr>
        <p:spPr>
          <a:xfrm>
            <a:off x="228600" y="1219200"/>
            <a:ext cx="11734800" cy="2463800"/>
          </a:xfrm>
          <a:prstGeom prst="roundRect">
            <a:avLst>
              <a:gd name="adj" fmla="val 6186"/>
            </a:avLst>
          </a:prstGeom>
          <a:solidFill>
            <a:srgbClr val="F5F7FB"/>
          </a:solidFill>
          <a:ln w="12700">
            <a:solidFill>
              <a:srgbClr val="D5DC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F9C7CCC-494F-5215-C490-F59E32F5BF83}"/>
              </a:ext>
            </a:extLst>
          </p:cNvPr>
          <p:cNvSpPr/>
          <p:nvPr/>
        </p:nvSpPr>
        <p:spPr>
          <a:xfrm>
            <a:off x="381000" y="1308100"/>
            <a:ext cx="2870200" cy="228600"/>
          </a:xfrm>
          <a:prstGeom prst="rect">
            <a:avLst/>
          </a:prstGeom>
          <a:solidFill>
            <a:srgbClr val="FFE45C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5360939-81CC-F757-9D7D-93AFE75D4E46}"/>
              </a:ext>
            </a:extLst>
          </p:cNvPr>
          <p:cNvSpPr txBox="1"/>
          <p:nvPr/>
        </p:nvSpPr>
        <p:spPr>
          <a:xfrm>
            <a:off x="431800" y="1308100"/>
            <a:ext cx="2819400" cy="2286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IN" sz="1150" b="1">
                <a:latin typeface="Arial" panose="020B0604020202020204" pitchFamily="34" charset="0"/>
              </a:rPr>
              <a:t>System Architecture &amp; Process Flow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A57F20E4-EEE3-1E29-FA09-7C87C0AD915A}"/>
              </a:ext>
            </a:extLst>
          </p:cNvPr>
          <p:cNvSpPr/>
          <p:nvPr/>
        </p:nvSpPr>
        <p:spPr>
          <a:xfrm>
            <a:off x="381000" y="2019300"/>
            <a:ext cx="1066800" cy="1168400"/>
          </a:xfrm>
          <a:prstGeom prst="roundRect">
            <a:avLst>
              <a:gd name="adj" fmla="val 10714"/>
            </a:avLst>
          </a:prstGeom>
          <a:solidFill>
            <a:srgbClr val="1F6FB2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8" name="Graphic 7" descr="message-square-text icon">
            <a:extLst>
              <a:ext uri="{FF2B5EF4-FFF2-40B4-BE49-F238E27FC236}">
                <a16:creationId xmlns:a16="http://schemas.microsoft.com/office/drawing/2014/main" id="{25FFFFD0-628A-BDFB-8869-CCF55DD0451C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00100" y="2108200"/>
            <a:ext cx="228600" cy="2286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ADCA8C0-B21A-4CBD-35A5-0DC0B473CFEC}"/>
              </a:ext>
            </a:extLst>
          </p:cNvPr>
          <p:cNvSpPr txBox="1"/>
          <p:nvPr/>
        </p:nvSpPr>
        <p:spPr>
          <a:xfrm>
            <a:off x="431800" y="2374900"/>
            <a:ext cx="9652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IN" sz="950" b="1">
                <a:solidFill>
                  <a:srgbClr val="FFFFFF"/>
                </a:solidFill>
                <a:latin typeface="Arial" panose="020B0604020202020204" pitchFamily="34" charset="0"/>
              </a:rPr>
              <a:t>AI chat box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335F7FB-6F26-CBDC-7572-2119E434E781}"/>
              </a:ext>
            </a:extLst>
          </p:cNvPr>
          <p:cNvSpPr txBox="1"/>
          <p:nvPr/>
        </p:nvSpPr>
        <p:spPr>
          <a:xfrm>
            <a:off x="431800" y="2565400"/>
            <a:ext cx="965200" cy="5715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lnSpc>
                <a:spcPct val="95000"/>
              </a:lnSpc>
            </a:pPr>
            <a:r>
              <a:rPr lang="en-IN" sz="800">
                <a:solidFill>
                  <a:srgbClr val="FFFFFF"/>
                </a:solidFill>
                <a:latin typeface="Arial" panose="020B0604020202020204" pitchFamily="34" charset="0"/>
              </a:rPr>
              <a:t>ChatGPT, Claude, Gemini or any site</a:t>
            </a:r>
          </a:p>
        </p:txBody>
      </p:sp>
      <p:sp>
        <p:nvSpPr>
          <p:cNvPr id="11" name="Isosceles Triangle 10">
            <a:extLst>
              <a:ext uri="{FF2B5EF4-FFF2-40B4-BE49-F238E27FC236}">
                <a16:creationId xmlns:a16="http://schemas.microsoft.com/office/drawing/2014/main" id="{03094E0E-1669-8571-D0B6-A7B5A9EFFF82}"/>
              </a:ext>
            </a:extLst>
          </p:cNvPr>
          <p:cNvSpPr/>
          <p:nvPr/>
        </p:nvSpPr>
        <p:spPr>
          <a:xfrm rot="5400000">
            <a:off x="1479550" y="2546350"/>
            <a:ext cx="114300" cy="114300"/>
          </a:xfrm>
          <a:prstGeom prst="triangle">
            <a:avLst/>
          </a:prstGeom>
          <a:solidFill>
            <a:srgbClr val="1F497D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3E47BC37-8CC4-7FEB-9ACD-E2523ED773C4}"/>
              </a:ext>
            </a:extLst>
          </p:cNvPr>
          <p:cNvSpPr/>
          <p:nvPr/>
        </p:nvSpPr>
        <p:spPr>
          <a:xfrm>
            <a:off x="1625600" y="2019300"/>
            <a:ext cx="1143000" cy="1168400"/>
          </a:xfrm>
          <a:prstGeom prst="roundRect">
            <a:avLst>
              <a:gd name="adj" fmla="val 10000"/>
            </a:avLst>
          </a:prstGeom>
          <a:solidFill>
            <a:srgbClr val="2B8CD6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14" name="Graphic 13" descr="shield-check icon">
            <a:extLst>
              <a:ext uri="{FF2B5EF4-FFF2-40B4-BE49-F238E27FC236}">
                <a16:creationId xmlns:a16="http://schemas.microsoft.com/office/drawing/2014/main" id="{2F61B103-ECEF-2E2E-BE3D-2843595EA27C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082800" y="2108200"/>
            <a:ext cx="228600" cy="228600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70A6A46E-D2C0-78B9-685F-709914E8EA94}"/>
              </a:ext>
            </a:extLst>
          </p:cNvPr>
          <p:cNvSpPr txBox="1"/>
          <p:nvPr/>
        </p:nvSpPr>
        <p:spPr>
          <a:xfrm>
            <a:off x="1676400" y="2374900"/>
            <a:ext cx="10414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IN" sz="950" b="1">
                <a:solidFill>
                  <a:srgbClr val="FFFFFF"/>
                </a:solidFill>
                <a:latin typeface="Arial" panose="020B0604020202020204" pitchFamily="34" charset="0"/>
              </a:rPr>
              <a:t>Shield UI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9D72E3F-D96A-4998-F7F7-8EB345E532F0}"/>
              </a:ext>
            </a:extLst>
          </p:cNvPr>
          <p:cNvSpPr txBox="1"/>
          <p:nvPr/>
        </p:nvSpPr>
        <p:spPr>
          <a:xfrm>
            <a:off x="1676400" y="2565400"/>
            <a:ext cx="1041400" cy="5715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lnSpc>
                <a:spcPct val="95000"/>
              </a:lnSpc>
            </a:pPr>
            <a:r>
              <a:rPr lang="en-IN" sz="800">
                <a:solidFill>
                  <a:srgbClr val="FFFFFF"/>
                </a:solidFill>
                <a:latin typeface="Arial" panose="020B0604020202020204" pitchFamily="34" charset="0"/>
              </a:rPr>
              <a:t>content script, closed Shadow DOM, Alt+Shift+S</a:t>
            </a:r>
          </a:p>
        </p:txBody>
      </p:sp>
      <p:sp>
        <p:nvSpPr>
          <p:cNvPr id="17" name="Isosceles Triangle 16">
            <a:extLst>
              <a:ext uri="{FF2B5EF4-FFF2-40B4-BE49-F238E27FC236}">
                <a16:creationId xmlns:a16="http://schemas.microsoft.com/office/drawing/2014/main" id="{4EC0D6A4-D68D-D0F3-2BEA-A00B241A53E8}"/>
              </a:ext>
            </a:extLst>
          </p:cNvPr>
          <p:cNvSpPr/>
          <p:nvPr/>
        </p:nvSpPr>
        <p:spPr>
          <a:xfrm rot="5400000">
            <a:off x="2800350" y="2546350"/>
            <a:ext cx="114300" cy="114300"/>
          </a:xfrm>
          <a:prstGeom prst="triangle">
            <a:avLst/>
          </a:prstGeom>
          <a:solidFill>
            <a:srgbClr val="1F497D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80AEA5B1-F7B0-2EE2-BF7E-EB3897832923}"/>
              </a:ext>
            </a:extLst>
          </p:cNvPr>
          <p:cNvSpPr/>
          <p:nvPr/>
        </p:nvSpPr>
        <p:spPr>
          <a:xfrm>
            <a:off x="2946400" y="1625600"/>
            <a:ext cx="6807200" cy="1955800"/>
          </a:xfrm>
          <a:prstGeom prst="roundRect">
            <a:avLst>
              <a:gd name="adj" fmla="val 6494"/>
            </a:avLst>
          </a:prstGeom>
          <a:solidFill>
            <a:srgbClr val="FFFFFF"/>
          </a:solidFill>
          <a:ln w="15875">
            <a:solidFill>
              <a:srgbClr val="6F4FB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ADC8DE9-43FA-F8B9-354E-4AF52CCAFC65}"/>
              </a:ext>
            </a:extLst>
          </p:cNvPr>
          <p:cNvSpPr txBox="1"/>
          <p:nvPr/>
        </p:nvSpPr>
        <p:spPr>
          <a:xfrm>
            <a:off x="3073400" y="1663700"/>
            <a:ext cx="6604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IN" sz="850" b="1">
                <a:solidFill>
                  <a:srgbClr val="6F4FB0"/>
                </a:solidFill>
                <a:latin typeface="Arial" panose="020B0604020202020204" pitchFamily="34" charset="0"/>
              </a:rPr>
              <a:t>CORE ENGINE  ·  on-device, pure TypeScript, no DOM</a:t>
            </a: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CB5A5A00-5148-A72F-7434-882F5E65F0AF}"/>
              </a:ext>
            </a:extLst>
          </p:cNvPr>
          <p:cNvSpPr/>
          <p:nvPr/>
        </p:nvSpPr>
        <p:spPr>
          <a:xfrm>
            <a:off x="3073400" y="1879600"/>
            <a:ext cx="1981200" cy="381000"/>
          </a:xfrm>
          <a:prstGeom prst="roundRect">
            <a:avLst>
              <a:gd name="adj" fmla="val 20000"/>
            </a:avLst>
          </a:prstGeom>
          <a:solidFill>
            <a:srgbClr val="EEF3FB"/>
          </a:solidFill>
          <a:ln w="9525">
            <a:solidFill>
              <a:srgbClr val="C9D6E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22" name="Graphic 21" descr="binary icon">
            <a:extLst>
              <a:ext uri="{FF2B5EF4-FFF2-40B4-BE49-F238E27FC236}">
                <a16:creationId xmlns:a16="http://schemas.microsoft.com/office/drawing/2014/main" id="{82750ADC-6D05-100E-4FF7-31E272C2A81D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136900" y="1968500"/>
            <a:ext cx="203200" cy="203200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FC58CB2D-93DB-F601-B378-8AAD2B644176}"/>
              </a:ext>
            </a:extLst>
          </p:cNvPr>
          <p:cNvSpPr txBox="1"/>
          <p:nvPr/>
        </p:nvSpPr>
        <p:spPr>
          <a:xfrm>
            <a:off x="3403600" y="1905000"/>
            <a:ext cx="16256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IN" sz="850" b="1">
                <a:solidFill>
                  <a:srgbClr val="1F497D"/>
                </a:solidFill>
                <a:latin typeface="Arial" panose="020B0604020202020204" pitchFamily="34" charset="0"/>
              </a:rPr>
              <a:t>Rule detectors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62038B7-7538-0CC5-6B63-053F6A3D1F3C}"/>
              </a:ext>
            </a:extLst>
          </p:cNvPr>
          <p:cNvSpPr txBox="1"/>
          <p:nvPr/>
        </p:nvSpPr>
        <p:spPr>
          <a:xfrm>
            <a:off x="3403600" y="2070100"/>
            <a:ext cx="1625600" cy="1651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IN" sz="750">
                <a:solidFill>
                  <a:srgbClr val="55606E"/>
                </a:solidFill>
                <a:latin typeface="Arial" panose="020B0604020202020204" pitchFamily="34" charset="0"/>
              </a:rPr>
              <a:t>regex + checksums, 40+ secret formats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F3B930D6-AFFC-B954-A45E-94A1367B6727}"/>
              </a:ext>
            </a:extLst>
          </p:cNvPr>
          <p:cNvSpPr/>
          <p:nvPr/>
        </p:nvSpPr>
        <p:spPr>
          <a:xfrm>
            <a:off x="3073400" y="2298700"/>
            <a:ext cx="1981200" cy="381000"/>
          </a:xfrm>
          <a:prstGeom prst="roundRect">
            <a:avLst>
              <a:gd name="adj" fmla="val 20000"/>
            </a:avLst>
          </a:prstGeom>
          <a:solidFill>
            <a:srgbClr val="EEF3FB"/>
          </a:solidFill>
          <a:ln w="9525">
            <a:solidFill>
              <a:srgbClr val="C9D6E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27" name="Graphic 26" descr="braces icon">
            <a:extLst>
              <a:ext uri="{FF2B5EF4-FFF2-40B4-BE49-F238E27FC236}">
                <a16:creationId xmlns:a16="http://schemas.microsoft.com/office/drawing/2014/main" id="{9CE98327-D9BD-9F95-2E92-EE396FFEE2D0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136900" y="2387600"/>
            <a:ext cx="203200" cy="203200"/>
          </a:xfrm>
          <a:prstGeom prst="rect">
            <a:avLst/>
          </a:prstGeom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B5D419CB-F54A-283E-1FDC-108F9E70FA21}"/>
              </a:ext>
            </a:extLst>
          </p:cNvPr>
          <p:cNvSpPr txBox="1"/>
          <p:nvPr/>
        </p:nvSpPr>
        <p:spPr>
          <a:xfrm>
            <a:off x="3403600" y="2324100"/>
            <a:ext cx="16256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IN" sz="850" b="1">
                <a:solidFill>
                  <a:srgbClr val="1F497D"/>
                </a:solidFill>
                <a:latin typeface="Arial" panose="020B0604020202020204" pitchFamily="34" charset="0"/>
              </a:rPr>
              <a:t>Field detector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C81F320-50DB-74CB-8FDC-18A53F1226D1}"/>
              </a:ext>
            </a:extLst>
          </p:cNvPr>
          <p:cNvSpPr txBox="1"/>
          <p:nvPr/>
        </p:nvSpPr>
        <p:spPr>
          <a:xfrm>
            <a:off x="3403600" y="2489200"/>
            <a:ext cx="1625600" cy="1651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IN" sz="750">
                <a:solidFill>
                  <a:srgbClr val="55606E"/>
                </a:solidFill>
                <a:latin typeface="Arial" panose="020B0604020202020204" pitchFamily="34" charset="0"/>
              </a:rPr>
              <a:t>JSON, YAML, .env, headers, tables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6F38BD10-CE1E-87E8-1E98-82CAB10F7982}"/>
              </a:ext>
            </a:extLst>
          </p:cNvPr>
          <p:cNvSpPr/>
          <p:nvPr/>
        </p:nvSpPr>
        <p:spPr>
          <a:xfrm>
            <a:off x="3073400" y="2717800"/>
            <a:ext cx="1981200" cy="381000"/>
          </a:xfrm>
          <a:prstGeom prst="roundRect">
            <a:avLst>
              <a:gd name="adj" fmla="val 20000"/>
            </a:avLst>
          </a:prstGeom>
          <a:solidFill>
            <a:srgbClr val="EEF3FB"/>
          </a:solidFill>
          <a:ln w="9525">
            <a:solidFill>
              <a:srgbClr val="C9D6E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32" name="Graphic 31" descr="file-search icon">
            <a:extLst>
              <a:ext uri="{FF2B5EF4-FFF2-40B4-BE49-F238E27FC236}">
                <a16:creationId xmlns:a16="http://schemas.microsoft.com/office/drawing/2014/main" id="{CD185946-D266-BDE3-15C1-21ECD9D1F8A0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136900" y="2806700"/>
            <a:ext cx="203200" cy="203200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8E165B51-CFBF-5354-A48D-7820C492838E}"/>
              </a:ext>
            </a:extLst>
          </p:cNvPr>
          <p:cNvSpPr txBox="1"/>
          <p:nvPr/>
        </p:nvSpPr>
        <p:spPr>
          <a:xfrm>
            <a:off x="3403600" y="2743200"/>
            <a:ext cx="16256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IN" sz="850" b="1">
                <a:solidFill>
                  <a:srgbClr val="1F497D"/>
                </a:solidFill>
                <a:latin typeface="Arial" panose="020B0604020202020204" pitchFamily="34" charset="0"/>
              </a:rPr>
              <a:t>Heuristics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004E3B0-1BCA-68E8-2E52-B937B6BF1B7D}"/>
              </a:ext>
            </a:extLst>
          </p:cNvPr>
          <p:cNvSpPr txBox="1"/>
          <p:nvPr/>
        </p:nvSpPr>
        <p:spPr>
          <a:xfrm>
            <a:off x="3403600" y="2908300"/>
            <a:ext cx="1625600" cy="1651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IN" sz="750">
                <a:solidFill>
                  <a:srgbClr val="55606E"/>
                </a:solidFill>
                <a:latin typeface="Arial" panose="020B0604020202020204" pitchFamily="34" charset="0"/>
              </a:rPr>
              <a:t>names, medical, amounts, hosts</a:t>
            </a: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CAD33EA2-0627-E13C-63A2-54757F01F5D0}"/>
              </a:ext>
            </a:extLst>
          </p:cNvPr>
          <p:cNvSpPr/>
          <p:nvPr/>
        </p:nvSpPr>
        <p:spPr>
          <a:xfrm>
            <a:off x="3073400" y="3136900"/>
            <a:ext cx="1981200" cy="381000"/>
          </a:xfrm>
          <a:prstGeom prst="roundRect">
            <a:avLst>
              <a:gd name="adj" fmla="val 20000"/>
            </a:avLst>
          </a:prstGeom>
          <a:solidFill>
            <a:srgbClr val="EEF3FB"/>
          </a:solidFill>
          <a:ln w="9525">
            <a:solidFill>
              <a:srgbClr val="C9D6E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37" name="Graphic 36" descr="sparkles icon">
            <a:extLst>
              <a:ext uri="{FF2B5EF4-FFF2-40B4-BE49-F238E27FC236}">
                <a16:creationId xmlns:a16="http://schemas.microsoft.com/office/drawing/2014/main" id="{F41739C2-05C9-C251-6C4F-0F75E4C58F84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136900" y="3225800"/>
            <a:ext cx="203200" cy="203200"/>
          </a:xfrm>
          <a:prstGeom prst="rect">
            <a:avLst/>
          </a:prstGeom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36339330-9370-E459-8584-3B4A8F3691E9}"/>
              </a:ext>
            </a:extLst>
          </p:cNvPr>
          <p:cNvSpPr txBox="1"/>
          <p:nvPr/>
        </p:nvSpPr>
        <p:spPr>
          <a:xfrm>
            <a:off x="3403600" y="3162300"/>
            <a:ext cx="16256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IN" sz="850" b="1">
                <a:solidFill>
                  <a:srgbClr val="1F497D"/>
                </a:solidFill>
                <a:latin typeface="Arial" panose="020B0604020202020204" pitchFamily="34" charset="0"/>
              </a:rPr>
              <a:t>Smart labels (optional)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EC880B0-5F2B-3829-D2AA-0783896CD1F7}"/>
              </a:ext>
            </a:extLst>
          </p:cNvPr>
          <p:cNvSpPr txBox="1"/>
          <p:nvPr/>
        </p:nvSpPr>
        <p:spPr>
          <a:xfrm>
            <a:off x="3403600" y="3327400"/>
            <a:ext cx="1625600" cy="1651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it-IT" sz="750">
                <a:solidFill>
                  <a:srgbClr val="55606E"/>
                </a:solidFill>
                <a:latin typeface="Arial" panose="020B0604020202020204" pitchFamily="34" charset="0"/>
              </a:rPr>
              <a:t>Gemini Nano via Prompt API</a:t>
            </a:r>
            <a:endParaRPr lang="en-IN" sz="750">
              <a:solidFill>
                <a:srgbClr val="55606E"/>
              </a:solidFill>
              <a:latin typeface="Arial" panose="020B0604020202020204" pitchFamily="34" charset="0"/>
            </a:endParaRP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1C5C7F1C-8866-F357-BF74-9114AC0F8C6F}"/>
              </a:ext>
            </a:extLst>
          </p:cNvPr>
          <p:cNvCxnSpPr/>
          <p:nvPr/>
        </p:nvCxnSpPr>
        <p:spPr>
          <a:xfrm>
            <a:off x="5105400" y="1930400"/>
            <a:ext cx="0" cy="1549400"/>
          </a:xfrm>
          <a:prstGeom prst="straightConnector1">
            <a:avLst/>
          </a:prstGeom>
          <a:ln w="15875">
            <a:solidFill>
              <a:srgbClr val="1F497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Isosceles Triangle 40">
            <a:extLst>
              <a:ext uri="{FF2B5EF4-FFF2-40B4-BE49-F238E27FC236}">
                <a16:creationId xmlns:a16="http://schemas.microsoft.com/office/drawing/2014/main" id="{F1B4437A-2BAF-8D8A-A0CE-71CF5B242EC5}"/>
              </a:ext>
            </a:extLst>
          </p:cNvPr>
          <p:cNvSpPr/>
          <p:nvPr/>
        </p:nvSpPr>
        <p:spPr>
          <a:xfrm rot="5400000">
            <a:off x="5137150" y="2546350"/>
            <a:ext cx="114300" cy="114300"/>
          </a:xfrm>
          <a:prstGeom prst="triangle">
            <a:avLst/>
          </a:prstGeom>
          <a:solidFill>
            <a:srgbClr val="1F497D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2" name="Rectangle: Rounded Corners 41">
            <a:extLst>
              <a:ext uri="{FF2B5EF4-FFF2-40B4-BE49-F238E27FC236}">
                <a16:creationId xmlns:a16="http://schemas.microsoft.com/office/drawing/2014/main" id="{FDC587B9-44F1-EA3A-BAD7-D03639FE3E6F}"/>
              </a:ext>
            </a:extLst>
          </p:cNvPr>
          <p:cNvSpPr/>
          <p:nvPr/>
        </p:nvSpPr>
        <p:spPr>
          <a:xfrm>
            <a:off x="5283200" y="1993900"/>
            <a:ext cx="990600" cy="1219200"/>
          </a:xfrm>
          <a:prstGeom prst="roundRect">
            <a:avLst>
              <a:gd name="adj" fmla="val 11538"/>
            </a:avLst>
          </a:prstGeom>
          <a:solidFill>
            <a:srgbClr val="6F4FB0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44" name="Graphic 43" descr="git-merge icon">
            <a:extLst>
              <a:ext uri="{FF2B5EF4-FFF2-40B4-BE49-F238E27FC236}">
                <a16:creationId xmlns:a16="http://schemas.microsoft.com/office/drawing/2014/main" id="{406DFAF8-9CCD-0455-D305-FFF78883AA87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5664200" y="2082800"/>
            <a:ext cx="228600" cy="228600"/>
          </a:xfrm>
          <a:prstGeom prst="rect">
            <a:avLst/>
          </a:prstGeom>
        </p:spPr>
      </p:pic>
      <p:sp>
        <p:nvSpPr>
          <p:cNvPr id="45" name="TextBox 44">
            <a:extLst>
              <a:ext uri="{FF2B5EF4-FFF2-40B4-BE49-F238E27FC236}">
                <a16:creationId xmlns:a16="http://schemas.microsoft.com/office/drawing/2014/main" id="{B7BDBA1C-6DA6-667D-5EF7-68516085C828}"/>
              </a:ext>
            </a:extLst>
          </p:cNvPr>
          <p:cNvSpPr txBox="1"/>
          <p:nvPr/>
        </p:nvSpPr>
        <p:spPr>
          <a:xfrm>
            <a:off x="5334000" y="2349500"/>
            <a:ext cx="889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IN" sz="950" b="1">
                <a:solidFill>
                  <a:srgbClr val="FFFFFF"/>
                </a:solidFill>
                <a:latin typeface="Arial" panose="020B0604020202020204" pitchFamily="34" charset="0"/>
              </a:rPr>
              <a:t>Resolver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76037DB3-F908-264F-167F-7A524E0D09C6}"/>
              </a:ext>
            </a:extLst>
          </p:cNvPr>
          <p:cNvSpPr txBox="1"/>
          <p:nvPr/>
        </p:nvSpPr>
        <p:spPr>
          <a:xfrm>
            <a:off x="5334000" y="2540000"/>
            <a:ext cx="889000" cy="6223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lnSpc>
                <a:spcPct val="95000"/>
              </a:lnSpc>
            </a:pPr>
            <a:r>
              <a:rPr lang="en-IN" sz="800">
                <a:solidFill>
                  <a:srgbClr val="FFFFFF"/>
                </a:solidFill>
                <a:latin typeface="Arial" panose="020B0604020202020204" pitchFamily="34" charset="0"/>
              </a:rPr>
              <a:t>merge overlaps, keep the most specific</a:t>
            </a:r>
          </a:p>
        </p:txBody>
      </p:sp>
      <p:sp>
        <p:nvSpPr>
          <p:cNvPr id="47" name="Isosceles Triangle 46">
            <a:extLst>
              <a:ext uri="{FF2B5EF4-FFF2-40B4-BE49-F238E27FC236}">
                <a16:creationId xmlns:a16="http://schemas.microsoft.com/office/drawing/2014/main" id="{228681F7-35AD-9584-9093-0F21725994FB}"/>
              </a:ext>
            </a:extLst>
          </p:cNvPr>
          <p:cNvSpPr/>
          <p:nvPr/>
        </p:nvSpPr>
        <p:spPr>
          <a:xfrm rot="5400000">
            <a:off x="6286500" y="2552700"/>
            <a:ext cx="101600" cy="101600"/>
          </a:xfrm>
          <a:prstGeom prst="triangle">
            <a:avLst/>
          </a:prstGeom>
          <a:solidFill>
            <a:srgbClr val="1F497D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8" name="Rectangle: Rounded Corners 47">
            <a:extLst>
              <a:ext uri="{FF2B5EF4-FFF2-40B4-BE49-F238E27FC236}">
                <a16:creationId xmlns:a16="http://schemas.microsoft.com/office/drawing/2014/main" id="{B4007F23-4DA8-32BF-2EB4-A869DD3AB4DF}"/>
              </a:ext>
            </a:extLst>
          </p:cNvPr>
          <p:cNvSpPr/>
          <p:nvPr/>
        </p:nvSpPr>
        <p:spPr>
          <a:xfrm>
            <a:off x="6400800" y="1993900"/>
            <a:ext cx="990600" cy="1219200"/>
          </a:xfrm>
          <a:prstGeom prst="roundRect">
            <a:avLst>
              <a:gd name="adj" fmla="val 11538"/>
            </a:avLst>
          </a:prstGeom>
          <a:solidFill>
            <a:srgbClr val="6F4FB0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50" name="Graphic 49" descr="sliders-horizontal icon">
            <a:extLst>
              <a:ext uri="{FF2B5EF4-FFF2-40B4-BE49-F238E27FC236}">
                <a16:creationId xmlns:a16="http://schemas.microsoft.com/office/drawing/2014/main" id="{DD58BB02-9742-E494-0DBB-B310AB6BCF81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6781800" y="2082800"/>
            <a:ext cx="228600" cy="228600"/>
          </a:xfrm>
          <a:prstGeom prst="rect">
            <a:avLst/>
          </a:prstGeom>
        </p:spPr>
      </p:pic>
      <p:sp>
        <p:nvSpPr>
          <p:cNvPr id="51" name="TextBox 50">
            <a:extLst>
              <a:ext uri="{FF2B5EF4-FFF2-40B4-BE49-F238E27FC236}">
                <a16:creationId xmlns:a16="http://schemas.microsoft.com/office/drawing/2014/main" id="{DAC7369B-8E28-FAB4-3414-27190819004C}"/>
              </a:ext>
            </a:extLst>
          </p:cNvPr>
          <p:cNvSpPr txBox="1"/>
          <p:nvPr/>
        </p:nvSpPr>
        <p:spPr>
          <a:xfrm>
            <a:off x="6451600" y="2349500"/>
            <a:ext cx="889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IN" sz="950" b="1">
                <a:solidFill>
                  <a:srgbClr val="FFFFFF"/>
                </a:solidFill>
                <a:latin typeface="Arial" panose="020B0604020202020204" pitchFamily="34" charset="0"/>
              </a:rPr>
              <a:t>Policy engine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EDF264B8-C5C0-D3A9-203A-549F8D309569}"/>
              </a:ext>
            </a:extLst>
          </p:cNvPr>
          <p:cNvSpPr txBox="1"/>
          <p:nvPr/>
        </p:nvSpPr>
        <p:spPr>
          <a:xfrm>
            <a:off x="6451600" y="2540000"/>
            <a:ext cx="889000" cy="6223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lnSpc>
                <a:spcPct val="95000"/>
              </a:lnSpc>
            </a:pPr>
            <a:r>
              <a:rPr lang="en-IN" sz="800">
                <a:solidFill>
                  <a:srgbClr val="FFFFFF"/>
                </a:solidFill>
                <a:latin typeface="Arial" panose="020B0604020202020204" pitchFamily="34" charset="0"/>
              </a:rPr>
              <a:t>action per data type and profile</a:t>
            </a:r>
          </a:p>
        </p:txBody>
      </p:sp>
      <p:sp>
        <p:nvSpPr>
          <p:cNvPr id="53" name="Isosceles Triangle 52">
            <a:extLst>
              <a:ext uri="{FF2B5EF4-FFF2-40B4-BE49-F238E27FC236}">
                <a16:creationId xmlns:a16="http://schemas.microsoft.com/office/drawing/2014/main" id="{BD5C126E-A88A-B6B3-947D-F4553E6AD193}"/>
              </a:ext>
            </a:extLst>
          </p:cNvPr>
          <p:cNvSpPr/>
          <p:nvPr/>
        </p:nvSpPr>
        <p:spPr>
          <a:xfrm rot="5400000">
            <a:off x="7404100" y="2552700"/>
            <a:ext cx="101600" cy="101600"/>
          </a:xfrm>
          <a:prstGeom prst="triangle">
            <a:avLst/>
          </a:prstGeom>
          <a:solidFill>
            <a:srgbClr val="1F497D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4" name="Rectangle: Rounded Corners 53">
            <a:extLst>
              <a:ext uri="{FF2B5EF4-FFF2-40B4-BE49-F238E27FC236}">
                <a16:creationId xmlns:a16="http://schemas.microsoft.com/office/drawing/2014/main" id="{DCA019C7-A43E-9923-2ACB-EB556989EFEE}"/>
              </a:ext>
            </a:extLst>
          </p:cNvPr>
          <p:cNvSpPr/>
          <p:nvPr/>
        </p:nvSpPr>
        <p:spPr>
          <a:xfrm>
            <a:off x="7518400" y="1993900"/>
            <a:ext cx="990600" cy="1219200"/>
          </a:xfrm>
          <a:prstGeom prst="roundRect">
            <a:avLst>
              <a:gd name="adj" fmla="val 11538"/>
            </a:avLst>
          </a:prstGeom>
          <a:solidFill>
            <a:srgbClr val="E07B00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56" name="Graphic 55" descr="gauge icon">
            <a:extLst>
              <a:ext uri="{FF2B5EF4-FFF2-40B4-BE49-F238E27FC236}">
                <a16:creationId xmlns:a16="http://schemas.microsoft.com/office/drawing/2014/main" id="{74179802-B269-1CBA-7325-10A6E9A6D51B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7899400" y="2082800"/>
            <a:ext cx="228600" cy="228600"/>
          </a:xfrm>
          <a:prstGeom prst="rect">
            <a:avLst/>
          </a:prstGeom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1F75D568-BBB8-A3D3-7FD3-8821CAA35EBC}"/>
              </a:ext>
            </a:extLst>
          </p:cNvPr>
          <p:cNvSpPr txBox="1"/>
          <p:nvPr/>
        </p:nvSpPr>
        <p:spPr>
          <a:xfrm>
            <a:off x="7569200" y="2349500"/>
            <a:ext cx="889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IN" sz="950" b="1">
                <a:solidFill>
                  <a:srgbClr val="FFFFFF"/>
                </a:solidFill>
                <a:latin typeface="Arial" panose="020B0604020202020204" pitchFamily="34" charset="0"/>
              </a:rPr>
              <a:t>Risk scorer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D90AA563-55DD-4362-88F1-3A91C5A3D0B7}"/>
              </a:ext>
            </a:extLst>
          </p:cNvPr>
          <p:cNvSpPr txBox="1"/>
          <p:nvPr/>
        </p:nvSpPr>
        <p:spPr>
          <a:xfrm>
            <a:off x="7569200" y="2540000"/>
            <a:ext cx="889000" cy="6223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lnSpc>
                <a:spcPct val="95000"/>
              </a:lnSpc>
            </a:pPr>
            <a:r>
              <a:rPr lang="en-IN" sz="800">
                <a:solidFill>
                  <a:srgbClr val="FFFFFF"/>
                </a:solidFill>
                <a:latin typeface="Arial" panose="020B0604020202020204" pitchFamily="34" charset="0"/>
              </a:rPr>
              <a:t>0–100, before and after</a:t>
            </a:r>
          </a:p>
        </p:txBody>
      </p:sp>
      <p:sp>
        <p:nvSpPr>
          <p:cNvPr id="59" name="Isosceles Triangle 58">
            <a:extLst>
              <a:ext uri="{FF2B5EF4-FFF2-40B4-BE49-F238E27FC236}">
                <a16:creationId xmlns:a16="http://schemas.microsoft.com/office/drawing/2014/main" id="{F2514A54-B5CF-2446-D388-710070E63524}"/>
              </a:ext>
            </a:extLst>
          </p:cNvPr>
          <p:cNvSpPr/>
          <p:nvPr/>
        </p:nvSpPr>
        <p:spPr>
          <a:xfrm rot="5400000">
            <a:off x="8521700" y="2552700"/>
            <a:ext cx="101600" cy="101600"/>
          </a:xfrm>
          <a:prstGeom prst="triangle">
            <a:avLst/>
          </a:prstGeom>
          <a:solidFill>
            <a:srgbClr val="1F497D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60" name="Rectangle: Rounded Corners 59">
            <a:extLst>
              <a:ext uri="{FF2B5EF4-FFF2-40B4-BE49-F238E27FC236}">
                <a16:creationId xmlns:a16="http://schemas.microsoft.com/office/drawing/2014/main" id="{4D9C76B4-52AB-3FF5-47D3-6D87EFA7173F}"/>
              </a:ext>
            </a:extLst>
          </p:cNvPr>
          <p:cNvSpPr/>
          <p:nvPr/>
        </p:nvSpPr>
        <p:spPr>
          <a:xfrm>
            <a:off x="8636000" y="1993900"/>
            <a:ext cx="990600" cy="1219200"/>
          </a:xfrm>
          <a:prstGeom prst="roundRect">
            <a:avLst>
              <a:gd name="adj" fmla="val 11538"/>
            </a:avLst>
          </a:prstGeom>
          <a:solidFill>
            <a:srgbClr val="2E9E5B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62" name="Graphic 61" descr="eraser icon">
            <a:extLst>
              <a:ext uri="{FF2B5EF4-FFF2-40B4-BE49-F238E27FC236}">
                <a16:creationId xmlns:a16="http://schemas.microsoft.com/office/drawing/2014/main" id="{27F07F55-7FC7-B114-ED98-78FECD2A3ACC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9017000" y="2082800"/>
            <a:ext cx="228600" cy="228600"/>
          </a:xfrm>
          <a:prstGeom prst="rect">
            <a:avLst/>
          </a:prstGeom>
        </p:spPr>
      </p:pic>
      <p:sp>
        <p:nvSpPr>
          <p:cNvPr id="63" name="TextBox 62">
            <a:extLst>
              <a:ext uri="{FF2B5EF4-FFF2-40B4-BE49-F238E27FC236}">
                <a16:creationId xmlns:a16="http://schemas.microsoft.com/office/drawing/2014/main" id="{DCC564F4-ACED-90DE-3BDA-C2CBE8B08E69}"/>
              </a:ext>
            </a:extLst>
          </p:cNvPr>
          <p:cNvSpPr txBox="1"/>
          <p:nvPr/>
        </p:nvSpPr>
        <p:spPr>
          <a:xfrm>
            <a:off x="8686800" y="2349500"/>
            <a:ext cx="889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IN" sz="950" b="1">
                <a:solidFill>
                  <a:srgbClr val="FFFFFF"/>
                </a:solidFill>
                <a:latin typeface="Arial" panose="020B0604020202020204" pitchFamily="34" charset="0"/>
              </a:rPr>
              <a:t>Sanitizer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7CBD71EA-424C-3F11-3DA1-4028E8EFB841}"/>
              </a:ext>
            </a:extLst>
          </p:cNvPr>
          <p:cNvSpPr txBox="1"/>
          <p:nvPr/>
        </p:nvSpPr>
        <p:spPr>
          <a:xfrm>
            <a:off x="8686800" y="2540000"/>
            <a:ext cx="889000" cy="6223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lnSpc>
                <a:spcPct val="95000"/>
              </a:lnSpc>
            </a:pPr>
            <a:r>
              <a:rPr lang="en-IN" sz="800">
                <a:solidFill>
                  <a:srgbClr val="FFFFFF"/>
                </a:solidFill>
                <a:latin typeface="Arial" panose="020B0604020202020204" pitchFamily="34" charset="0"/>
              </a:rPr>
              <a:t>mask, tokenize, redact, generalize</a:t>
            </a:r>
          </a:p>
        </p:txBody>
      </p:sp>
      <p:sp>
        <p:nvSpPr>
          <p:cNvPr id="65" name="Isosceles Triangle 64">
            <a:extLst>
              <a:ext uri="{FF2B5EF4-FFF2-40B4-BE49-F238E27FC236}">
                <a16:creationId xmlns:a16="http://schemas.microsoft.com/office/drawing/2014/main" id="{1A36BB99-27F6-9AC6-6698-37D84126377E}"/>
              </a:ext>
            </a:extLst>
          </p:cNvPr>
          <p:cNvSpPr/>
          <p:nvPr/>
        </p:nvSpPr>
        <p:spPr>
          <a:xfrm rot="5400000">
            <a:off x="9785350" y="2546350"/>
            <a:ext cx="114300" cy="114300"/>
          </a:xfrm>
          <a:prstGeom prst="triangle">
            <a:avLst/>
          </a:prstGeom>
          <a:solidFill>
            <a:srgbClr val="1F497D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66" name="Rectangle: Rounded Corners 65">
            <a:extLst>
              <a:ext uri="{FF2B5EF4-FFF2-40B4-BE49-F238E27FC236}">
                <a16:creationId xmlns:a16="http://schemas.microsoft.com/office/drawing/2014/main" id="{F38ABF72-3D92-15D6-8A6C-94B6BF9A6EF7}"/>
              </a:ext>
            </a:extLst>
          </p:cNvPr>
          <p:cNvSpPr/>
          <p:nvPr/>
        </p:nvSpPr>
        <p:spPr>
          <a:xfrm>
            <a:off x="9931400" y="2019300"/>
            <a:ext cx="965200" cy="1168400"/>
          </a:xfrm>
          <a:prstGeom prst="roundRect">
            <a:avLst>
              <a:gd name="adj" fmla="val 11842"/>
            </a:avLst>
          </a:prstGeom>
          <a:solidFill>
            <a:srgbClr val="2E9E5B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68" name="Graphic 67" descr="undo-2 icon">
            <a:extLst>
              <a:ext uri="{FF2B5EF4-FFF2-40B4-BE49-F238E27FC236}">
                <a16:creationId xmlns:a16="http://schemas.microsoft.com/office/drawing/2014/main" id="{AC6AA35A-8199-150D-62C2-C4DE23BE1417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299700" y="2108200"/>
            <a:ext cx="228600" cy="228600"/>
          </a:xfrm>
          <a:prstGeom prst="rect">
            <a:avLst/>
          </a:prstGeom>
        </p:spPr>
      </p:pic>
      <p:sp>
        <p:nvSpPr>
          <p:cNvPr id="69" name="TextBox 68">
            <a:extLst>
              <a:ext uri="{FF2B5EF4-FFF2-40B4-BE49-F238E27FC236}">
                <a16:creationId xmlns:a16="http://schemas.microsoft.com/office/drawing/2014/main" id="{9BAA5D25-5668-E0D0-3CF7-A677F2E17122}"/>
              </a:ext>
            </a:extLst>
          </p:cNvPr>
          <p:cNvSpPr txBox="1"/>
          <p:nvPr/>
        </p:nvSpPr>
        <p:spPr>
          <a:xfrm>
            <a:off x="9982200" y="2374900"/>
            <a:ext cx="8636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IN" sz="950" b="1">
                <a:solidFill>
                  <a:srgbClr val="FFFFFF"/>
                </a:solidFill>
                <a:latin typeface="Arial" panose="020B0604020202020204" pitchFamily="34" charset="0"/>
              </a:rPr>
              <a:t>Write back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A5140735-0E66-D714-2A73-388D101A2655}"/>
              </a:ext>
            </a:extLst>
          </p:cNvPr>
          <p:cNvSpPr txBox="1"/>
          <p:nvPr/>
        </p:nvSpPr>
        <p:spPr>
          <a:xfrm>
            <a:off x="9982200" y="2565400"/>
            <a:ext cx="863600" cy="5715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lnSpc>
                <a:spcPct val="95000"/>
              </a:lnSpc>
            </a:pPr>
            <a:r>
              <a:rPr lang="en-IN" sz="800">
                <a:solidFill>
                  <a:srgbClr val="FFFFFF"/>
                </a:solidFill>
                <a:latin typeface="Arial" panose="020B0604020202020204" pitchFamily="34" charset="0"/>
              </a:rPr>
              <a:t>safe text into the box, verified, with Undo</a:t>
            </a:r>
          </a:p>
        </p:txBody>
      </p:sp>
      <p:sp>
        <p:nvSpPr>
          <p:cNvPr id="71" name="Isosceles Triangle 70">
            <a:extLst>
              <a:ext uri="{FF2B5EF4-FFF2-40B4-BE49-F238E27FC236}">
                <a16:creationId xmlns:a16="http://schemas.microsoft.com/office/drawing/2014/main" id="{DD784353-8895-064E-4A3F-7E0837AB1155}"/>
              </a:ext>
            </a:extLst>
          </p:cNvPr>
          <p:cNvSpPr/>
          <p:nvPr/>
        </p:nvSpPr>
        <p:spPr>
          <a:xfrm rot="5400000">
            <a:off x="10928350" y="2546350"/>
            <a:ext cx="114300" cy="114300"/>
          </a:xfrm>
          <a:prstGeom prst="triangle">
            <a:avLst/>
          </a:prstGeom>
          <a:solidFill>
            <a:srgbClr val="1F497D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2" name="Rectangle: Rounded Corners 71">
            <a:extLst>
              <a:ext uri="{FF2B5EF4-FFF2-40B4-BE49-F238E27FC236}">
                <a16:creationId xmlns:a16="http://schemas.microsoft.com/office/drawing/2014/main" id="{004959CF-B65B-7998-80B0-AC7E6C2429DC}"/>
              </a:ext>
            </a:extLst>
          </p:cNvPr>
          <p:cNvSpPr/>
          <p:nvPr/>
        </p:nvSpPr>
        <p:spPr>
          <a:xfrm>
            <a:off x="11074400" y="2019300"/>
            <a:ext cx="787400" cy="1168400"/>
          </a:xfrm>
          <a:prstGeom prst="roundRect">
            <a:avLst>
              <a:gd name="adj" fmla="val 14516"/>
            </a:avLst>
          </a:prstGeom>
          <a:solidFill>
            <a:srgbClr val="1F2937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74" name="Graphic 73" descr="bot icon">
            <a:extLst>
              <a:ext uri="{FF2B5EF4-FFF2-40B4-BE49-F238E27FC236}">
                <a16:creationId xmlns:a16="http://schemas.microsoft.com/office/drawing/2014/main" id="{143EAFB2-515C-83DC-6E98-5C298F2368CD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11353800" y="2108200"/>
            <a:ext cx="228600" cy="228600"/>
          </a:xfrm>
          <a:prstGeom prst="rect">
            <a:avLst/>
          </a:prstGeom>
        </p:spPr>
      </p:pic>
      <p:sp>
        <p:nvSpPr>
          <p:cNvPr id="75" name="TextBox 74">
            <a:extLst>
              <a:ext uri="{FF2B5EF4-FFF2-40B4-BE49-F238E27FC236}">
                <a16:creationId xmlns:a16="http://schemas.microsoft.com/office/drawing/2014/main" id="{88D17CE9-D622-AC78-BD09-9062833B9C60}"/>
              </a:ext>
            </a:extLst>
          </p:cNvPr>
          <p:cNvSpPr txBox="1"/>
          <p:nvPr/>
        </p:nvSpPr>
        <p:spPr>
          <a:xfrm>
            <a:off x="11125200" y="2374900"/>
            <a:ext cx="6858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IN" sz="950" b="1">
                <a:solidFill>
                  <a:srgbClr val="FFFFFF"/>
                </a:solidFill>
                <a:latin typeface="Arial" panose="020B0604020202020204" pitchFamily="34" charset="0"/>
              </a:rPr>
              <a:t>LLM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4671EAD9-1C85-9E4B-19B7-E0D9C5CB2434}"/>
              </a:ext>
            </a:extLst>
          </p:cNvPr>
          <p:cNvSpPr txBox="1"/>
          <p:nvPr/>
        </p:nvSpPr>
        <p:spPr>
          <a:xfrm>
            <a:off x="11125200" y="2565400"/>
            <a:ext cx="685800" cy="5715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lnSpc>
                <a:spcPct val="95000"/>
              </a:lnSpc>
            </a:pPr>
            <a:r>
              <a:rPr lang="en-IN" sz="800">
                <a:solidFill>
                  <a:srgbClr val="FFFFFF"/>
                </a:solidFill>
                <a:latin typeface="Arial" panose="020B0604020202020204" pitchFamily="34" charset="0"/>
              </a:rPr>
              <a:t>gets only the safe prompt</a:t>
            </a:r>
          </a:p>
        </p:txBody>
      </p:sp>
      <p:sp>
        <p:nvSpPr>
          <p:cNvPr id="77" name="Rectangle: Rounded Corners 76">
            <a:extLst>
              <a:ext uri="{FF2B5EF4-FFF2-40B4-BE49-F238E27FC236}">
                <a16:creationId xmlns:a16="http://schemas.microsoft.com/office/drawing/2014/main" id="{B4F4FE40-5C89-35B4-FC9E-4AB49B95474A}"/>
              </a:ext>
            </a:extLst>
          </p:cNvPr>
          <p:cNvSpPr/>
          <p:nvPr/>
        </p:nvSpPr>
        <p:spPr>
          <a:xfrm>
            <a:off x="228600" y="3810000"/>
            <a:ext cx="3429000" cy="243840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44450">
            <a:solidFill>
              <a:srgbClr val="C9C3D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778E7265-64F7-16EC-0DE5-E1DA933F9533}"/>
              </a:ext>
            </a:extLst>
          </p:cNvPr>
          <p:cNvSpPr txBox="1"/>
          <p:nvPr/>
        </p:nvSpPr>
        <p:spPr>
          <a:xfrm>
            <a:off x="228600" y="3886200"/>
            <a:ext cx="34290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IN" sz="1600" b="1">
                <a:solidFill>
                  <a:srgbClr val="6F4FB0"/>
                </a:solidFill>
                <a:latin typeface="Arial" panose="020B0604020202020204" pitchFamily="34" charset="0"/>
              </a:rPr>
              <a:t>Tech Stack</a:t>
            </a:r>
          </a:p>
        </p:txBody>
      </p:sp>
      <p:sp>
        <p:nvSpPr>
          <p:cNvPr id="79" name="Rectangle: Rounded Corners 78">
            <a:extLst>
              <a:ext uri="{FF2B5EF4-FFF2-40B4-BE49-F238E27FC236}">
                <a16:creationId xmlns:a16="http://schemas.microsoft.com/office/drawing/2014/main" id="{7D121030-BF5F-FABC-591A-CC40E6E53AA5}"/>
              </a:ext>
            </a:extLst>
          </p:cNvPr>
          <p:cNvSpPr/>
          <p:nvPr/>
        </p:nvSpPr>
        <p:spPr>
          <a:xfrm>
            <a:off x="381000" y="4267200"/>
            <a:ext cx="1524000" cy="406400"/>
          </a:xfrm>
          <a:prstGeom prst="roundRect">
            <a:avLst>
              <a:gd name="adj" fmla="val 21875"/>
            </a:avLst>
          </a:prstGeom>
          <a:solidFill>
            <a:srgbClr val="EEF2FB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A3FDA3CC-A3A8-574A-D911-5162C9FF6A44}"/>
              </a:ext>
            </a:extLst>
          </p:cNvPr>
          <p:cNvSpPr txBox="1"/>
          <p:nvPr/>
        </p:nvSpPr>
        <p:spPr>
          <a:xfrm>
            <a:off x="482600" y="4305300"/>
            <a:ext cx="13716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IN" sz="1000" b="1">
                <a:solidFill>
                  <a:srgbClr val="1F497D"/>
                </a:solidFill>
                <a:latin typeface="Arial" panose="020B0604020202020204" pitchFamily="34" charset="0"/>
              </a:rPr>
              <a:t>TypeScript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ABC1CA04-8E8E-2A05-8B94-B8CE0D001055}"/>
              </a:ext>
            </a:extLst>
          </p:cNvPr>
          <p:cNvSpPr txBox="1"/>
          <p:nvPr/>
        </p:nvSpPr>
        <p:spPr>
          <a:xfrm>
            <a:off x="482600" y="4483100"/>
            <a:ext cx="1371600" cy="1524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IN" sz="800">
                <a:solidFill>
                  <a:srgbClr val="55606E"/>
                </a:solidFill>
                <a:latin typeface="Arial" panose="020B0604020202020204" pitchFamily="34" charset="0"/>
              </a:rPr>
              <a:t>engine + UI</a:t>
            </a:r>
          </a:p>
        </p:txBody>
      </p:sp>
      <p:sp>
        <p:nvSpPr>
          <p:cNvPr id="82" name="Rectangle: Rounded Corners 81">
            <a:extLst>
              <a:ext uri="{FF2B5EF4-FFF2-40B4-BE49-F238E27FC236}">
                <a16:creationId xmlns:a16="http://schemas.microsoft.com/office/drawing/2014/main" id="{230ADF96-6E70-9442-BD7F-B407975047A9}"/>
              </a:ext>
            </a:extLst>
          </p:cNvPr>
          <p:cNvSpPr/>
          <p:nvPr/>
        </p:nvSpPr>
        <p:spPr>
          <a:xfrm>
            <a:off x="1981200" y="4267200"/>
            <a:ext cx="1524000" cy="406400"/>
          </a:xfrm>
          <a:prstGeom prst="roundRect">
            <a:avLst>
              <a:gd name="adj" fmla="val 21875"/>
            </a:avLst>
          </a:prstGeom>
          <a:solidFill>
            <a:srgbClr val="EEF2FB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9DF8E61D-C6FB-2772-D781-2A2315DA5342}"/>
              </a:ext>
            </a:extLst>
          </p:cNvPr>
          <p:cNvSpPr txBox="1"/>
          <p:nvPr/>
        </p:nvSpPr>
        <p:spPr>
          <a:xfrm>
            <a:off x="2082800" y="4305300"/>
            <a:ext cx="13716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IN" sz="1000" b="1">
                <a:solidFill>
                  <a:srgbClr val="1F497D"/>
                </a:solidFill>
                <a:latin typeface="Arial" panose="020B0604020202020204" pitchFamily="34" charset="0"/>
              </a:rPr>
              <a:t>Chrome MV3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A85D60F8-F38E-CE7A-9CBF-CA3A1F65E05C}"/>
              </a:ext>
            </a:extLst>
          </p:cNvPr>
          <p:cNvSpPr txBox="1"/>
          <p:nvPr/>
        </p:nvSpPr>
        <p:spPr>
          <a:xfrm>
            <a:off x="2082800" y="4483100"/>
            <a:ext cx="1371600" cy="1524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IN" sz="800">
                <a:solidFill>
                  <a:srgbClr val="55606E"/>
                </a:solidFill>
                <a:latin typeface="Arial" panose="020B0604020202020204" pitchFamily="34" charset="0"/>
              </a:rPr>
              <a:t>extension platform</a:t>
            </a:r>
          </a:p>
        </p:txBody>
      </p:sp>
      <p:sp>
        <p:nvSpPr>
          <p:cNvPr id="85" name="Rectangle: Rounded Corners 84">
            <a:extLst>
              <a:ext uri="{FF2B5EF4-FFF2-40B4-BE49-F238E27FC236}">
                <a16:creationId xmlns:a16="http://schemas.microsoft.com/office/drawing/2014/main" id="{40D8AD14-1CD2-E3B1-0E82-C753805C087E}"/>
              </a:ext>
            </a:extLst>
          </p:cNvPr>
          <p:cNvSpPr/>
          <p:nvPr/>
        </p:nvSpPr>
        <p:spPr>
          <a:xfrm>
            <a:off x="381000" y="4737100"/>
            <a:ext cx="1524000" cy="406400"/>
          </a:xfrm>
          <a:prstGeom prst="roundRect">
            <a:avLst>
              <a:gd name="adj" fmla="val 21875"/>
            </a:avLst>
          </a:prstGeom>
          <a:solidFill>
            <a:srgbClr val="EEF2FB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BF73BB3F-39EC-D9F6-B2E1-B65A97B8DFC6}"/>
              </a:ext>
            </a:extLst>
          </p:cNvPr>
          <p:cNvSpPr txBox="1"/>
          <p:nvPr/>
        </p:nvSpPr>
        <p:spPr>
          <a:xfrm>
            <a:off x="482600" y="4775200"/>
            <a:ext cx="13716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IN" sz="1000" b="1">
                <a:solidFill>
                  <a:srgbClr val="1F497D"/>
                </a:solidFill>
                <a:latin typeface="Arial" panose="020B0604020202020204" pitchFamily="34" charset="0"/>
              </a:rPr>
              <a:t>Shadow DOM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0E6780B8-5B50-26CE-8D26-946FCAFA6047}"/>
              </a:ext>
            </a:extLst>
          </p:cNvPr>
          <p:cNvSpPr txBox="1"/>
          <p:nvPr/>
        </p:nvSpPr>
        <p:spPr>
          <a:xfrm>
            <a:off x="482600" y="4953000"/>
            <a:ext cx="1371600" cy="1524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IN" sz="800">
                <a:solidFill>
                  <a:srgbClr val="55606E"/>
                </a:solidFill>
                <a:latin typeface="Arial" panose="020B0604020202020204" pitchFamily="34" charset="0"/>
              </a:rPr>
              <a:t>isolated shield UI</a:t>
            </a:r>
          </a:p>
        </p:txBody>
      </p:sp>
      <p:sp>
        <p:nvSpPr>
          <p:cNvPr id="88" name="Rectangle: Rounded Corners 87">
            <a:extLst>
              <a:ext uri="{FF2B5EF4-FFF2-40B4-BE49-F238E27FC236}">
                <a16:creationId xmlns:a16="http://schemas.microsoft.com/office/drawing/2014/main" id="{31D57D09-25F4-1B50-758F-5EE865AE338C}"/>
              </a:ext>
            </a:extLst>
          </p:cNvPr>
          <p:cNvSpPr/>
          <p:nvPr/>
        </p:nvSpPr>
        <p:spPr>
          <a:xfrm>
            <a:off x="1981200" y="4737100"/>
            <a:ext cx="1524000" cy="406400"/>
          </a:xfrm>
          <a:prstGeom prst="roundRect">
            <a:avLst>
              <a:gd name="adj" fmla="val 21875"/>
            </a:avLst>
          </a:prstGeom>
          <a:solidFill>
            <a:srgbClr val="EEF2FB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5BB27DAC-E584-D393-C1F7-1CCFF3DF848F}"/>
              </a:ext>
            </a:extLst>
          </p:cNvPr>
          <p:cNvSpPr txBox="1"/>
          <p:nvPr/>
        </p:nvSpPr>
        <p:spPr>
          <a:xfrm>
            <a:off x="2082800" y="4775200"/>
            <a:ext cx="13716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IN" sz="1000" b="1">
                <a:solidFill>
                  <a:srgbClr val="1F497D"/>
                </a:solidFill>
                <a:latin typeface="Arial" panose="020B0604020202020204" pitchFamily="34" charset="0"/>
              </a:rPr>
              <a:t>Prompt API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3DA617FE-6967-7338-32CB-E9AD88AF7E7F}"/>
              </a:ext>
            </a:extLst>
          </p:cNvPr>
          <p:cNvSpPr txBox="1"/>
          <p:nvPr/>
        </p:nvSpPr>
        <p:spPr>
          <a:xfrm>
            <a:off x="2082800" y="4953000"/>
            <a:ext cx="1371600" cy="1524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IN" sz="800">
                <a:solidFill>
                  <a:srgbClr val="55606E"/>
                </a:solidFill>
                <a:latin typeface="Arial" panose="020B0604020202020204" pitchFamily="34" charset="0"/>
              </a:rPr>
              <a:t>Gemini Nano, on-device</a:t>
            </a:r>
          </a:p>
        </p:txBody>
      </p:sp>
      <p:sp>
        <p:nvSpPr>
          <p:cNvPr id="91" name="Rectangle: Rounded Corners 90">
            <a:extLst>
              <a:ext uri="{FF2B5EF4-FFF2-40B4-BE49-F238E27FC236}">
                <a16:creationId xmlns:a16="http://schemas.microsoft.com/office/drawing/2014/main" id="{30F104A3-EFEE-02E4-4660-6F0F12010C6B}"/>
              </a:ext>
            </a:extLst>
          </p:cNvPr>
          <p:cNvSpPr/>
          <p:nvPr/>
        </p:nvSpPr>
        <p:spPr>
          <a:xfrm>
            <a:off x="381000" y="5207000"/>
            <a:ext cx="1524000" cy="406400"/>
          </a:xfrm>
          <a:prstGeom prst="roundRect">
            <a:avLst>
              <a:gd name="adj" fmla="val 21875"/>
            </a:avLst>
          </a:prstGeom>
          <a:solidFill>
            <a:srgbClr val="EEF2FB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AAFCA265-DD70-4981-079F-BA95E59FAD88}"/>
              </a:ext>
            </a:extLst>
          </p:cNvPr>
          <p:cNvSpPr txBox="1"/>
          <p:nvPr/>
        </p:nvSpPr>
        <p:spPr>
          <a:xfrm>
            <a:off x="482600" y="5245100"/>
            <a:ext cx="13716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IN" sz="1000" b="1">
                <a:solidFill>
                  <a:srgbClr val="1F497D"/>
                </a:solidFill>
                <a:latin typeface="Arial" panose="020B0604020202020204" pitchFamily="34" charset="0"/>
              </a:rPr>
              <a:t>chrome.storage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420CC123-BFBD-EB26-E487-CC1D60F783D1}"/>
              </a:ext>
            </a:extLst>
          </p:cNvPr>
          <p:cNvSpPr txBox="1"/>
          <p:nvPr/>
        </p:nvSpPr>
        <p:spPr>
          <a:xfrm>
            <a:off x="482600" y="5422900"/>
            <a:ext cx="1371600" cy="1524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IN" sz="800">
                <a:solidFill>
                  <a:srgbClr val="55606E"/>
                </a:solidFill>
                <a:latin typeface="Arial" panose="020B0604020202020204" pitchFamily="34" charset="0"/>
              </a:rPr>
              <a:t>settings, org policy</a:t>
            </a:r>
          </a:p>
        </p:txBody>
      </p:sp>
      <p:sp>
        <p:nvSpPr>
          <p:cNvPr id="94" name="Rectangle: Rounded Corners 93">
            <a:extLst>
              <a:ext uri="{FF2B5EF4-FFF2-40B4-BE49-F238E27FC236}">
                <a16:creationId xmlns:a16="http://schemas.microsoft.com/office/drawing/2014/main" id="{891BCAD0-A005-7EE3-8E1C-DF5753026AEF}"/>
              </a:ext>
            </a:extLst>
          </p:cNvPr>
          <p:cNvSpPr/>
          <p:nvPr/>
        </p:nvSpPr>
        <p:spPr>
          <a:xfrm>
            <a:off x="1981200" y="5207000"/>
            <a:ext cx="1524000" cy="406400"/>
          </a:xfrm>
          <a:prstGeom prst="roundRect">
            <a:avLst>
              <a:gd name="adj" fmla="val 21875"/>
            </a:avLst>
          </a:prstGeom>
          <a:solidFill>
            <a:srgbClr val="EEF2FB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3F550879-7632-A976-C24C-B2515086DA55}"/>
              </a:ext>
            </a:extLst>
          </p:cNvPr>
          <p:cNvSpPr txBox="1"/>
          <p:nvPr/>
        </p:nvSpPr>
        <p:spPr>
          <a:xfrm>
            <a:off x="2082800" y="5245100"/>
            <a:ext cx="13716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IN" sz="1000" b="1">
                <a:solidFill>
                  <a:srgbClr val="1F497D"/>
                </a:solidFill>
                <a:latin typeface="Arial" panose="020B0604020202020204" pitchFamily="34" charset="0"/>
              </a:rPr>
              <a:t>esbuild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51B81DC3-D239-C4E9-A86C-D0155EB89AE3}"/>
              </a:ext>
            </a:extLst>
          </p:cNvPr>
          <p:cNvSpPr txBox="1"/>
          <p:nvPr/>
        </p:nvSpPr>
        <p:spPr>
          <a:xfrm>
            <a:off x="2082800" y="5422900"/>
            <a:ext cx="1371600" cy="1524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IN" sz="800">
                <a:solidFill>
                  <a:srgbClr val="55606E"/>
                </a:solidFill>
                <a:latin typeface="Arial" panose="020B0604020202020204" pitchFamily="34" charset="0"/>
              </a:rPr>
              <a:t>bundler</a:t>
            </a:r>
          </a:p>
        </p:txBody>
      </p:sp>
      <p:sp>
        <p:nvSpPr>
          <p:cNvPr id="97" name="Rectangle: Rounded Corners 96">
            <a:extLst>
              <a:ext uri="{FF2B5EF4-FFF2-40B4-BE49-F238E27FC236}">
                <a16:creationId xmlns:a16="http://schemas.microsoft.com/office/drawing/2014/main" id="{CD6B0D8C-3B8D-E83F-9B1A-A2AFB87E7FB0}"/>
              </a:ext>
            </a:extLst>
          </p:cNvPr>
          <p:cNvSpPr/>
          <p:nvPr/>
        </p:nvSpPr>
        <p:spPr>
          <a:xfrm>
            <a:off x="381000" y="5676900"/>
            <a:ext cx="1524000" cy="406400"/>
          </a:xfrm>
          <a:prstGeom prst="roundRect">
            <a:avLst>
              <a:gd name="adj" fmla="val 21875"/>
            </a:avLst>
          </a:prstGeom>
          <a:solidFill>
            <a:srgbClr val="EEF2FB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DF078F58-3229-B1DA-FEAA-FA0A9CE66CF2}"/>
              </a:ext>
            </a:extLst>
          </p:cNvPr>
          <p:cNvSpPr txBox="1"/>
          <p:nvPr/>
        </p:nvSpPr>
        <p:spPr>
          <a:xfrm>
            <a:off x="482600" y="5715000"/>
            <a:ext cx="13716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IN" sz="1000" b="1">
                <a:solidFill>
                  <a:srgbClr val="1F497D"/>
                </a:solidFill>
                <a:latin typeface="Arial" panose="020B0604020202020204" pitchFamily="34" charset="0"/>
              </a:rPr>
              <a:t>Vitest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FD1D6FA4-F9B7-00D0-F124-EE0BDAB19751}"/>
              </a:ext>
            </a:extLst>
          </p:cNvPr>
          <p:cNvSpPr txBox="1"/>
          <p:nvPr/>
        </p:nvSpPr>
        <p:spPr>
          <a:xfrm>
            <a:off x="482600" y="5892800"/>
            <a:ext cx="1371600" cy="1524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IN" sz="800">
                <a:solidFill>
                  <a:srgbClr val="55606E"/>
                </a:solidFill>
                <a:latin typeface="Arial" panose="020B0604020202020204" pitchFamily="34" charset="0"/>
              </a:rPr>
              <a:t>169 unit tests</a:t>
            </a:r>
          </a:p>
        </p:txBody>
      </p:sp>
      <p:sp>
        <p:nvSpPr>
          <p:cNvPr id="100" name="Rectangle: Rounded Corners 99">
            <a:extLst>
              <a:ext uri="{FF2B5EF4-FFF2-40B4-BE49-F238E27FC236}">
                <a16:creationId xmlns:a16="http://schemas.microsoft.com/office/drawing/2014/main" id="{5B95F46A-C4EB-4383-4816-E4FB00026684}"/>
              </a:ext>
            </a:extLst>
          </p:cNvPr>
          <p:cNvSpPr/>
          <p:nvPr/>
        </p:nvSpPr>
        <p:spPr>
          <a:xfrm>
            <a:off x="1981200" y="5676900"/>
            <a:ext cx="1524000" cy="406400"/>
          </a:xfrm>
          <a:prstGeom prst="roundRect">
            <a:avLst>
              <a:gd name="adj" fmla="val 21875"/>
            </a:avLst>
          </a:prstGeom>
          <a:solidFill>
            <a:srgbClr val="EEF2FB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CB39B701-575E-D562-E806-19032176557E}"/>
              </a:ext>
            </a:extLst>
          </p:cNvPr>
          <p:cNvSpPr txBox="1"/>
          <p:nvPr/>
        </p:nvSpPr>
        <p:spPr>
          <a:xfrm>
            <a:off x="2082800" y="5715000"/>
            <a:ext cx="13716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IN" sz="1000" b="1">
                <a:solidFill>
                  <a:srgbClr val="1F497D"/>
                </a:solidFill>
                <a:latin typeface="Arial" panose="020B0604020202020204" pitchFamily="34" charset="0"/>
              </a:rPr>
              <a:t>Playwright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E895D116-7024-EE5C-F2F4-3414957890C0}"/>
              </a:ext>
            </a:extLst>
          </p:cNvPr>
          <p:cNvSpPr txBox="1"/>
          <p:nvPr/>
        </p:nvSpPr>
        <p:spPr>
          <a:xfrm>
            <a:off x="2082800" y="5892800"/>
            <a:ext cx="1371600" cy="1524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IN" sz="800">
                <a:solidFill>
                  <a:srgbClr val="55606E"/>
                </a:solidFill>
                <a:latin typeface="Arial" panose="020B0604020202020204" pitchFamily="34" charset="0"/>
              </a:rPr>
              <a:t>30 end-to-end checks</a:t>
            </a:r>
          </a:p>
        </p:txBody>
      </p:sp>
      <p:sp>
        <p:nvSpPr>
          <p:cNvPr id="103" name="Rectangle: Rounded Corners 102">
            <a:extLst>
              <a:ext uri="{FF2B5EF4-FFF2-40B4-BE49-F238E27FC236}">
                <a16:creationId xmlns:a16="http://schemas.microsoft.com/office/drawing/2014/main" id="{89E9279C-8ED4-26EE-37F2-14C4FD65F3B2}"/>
              </a:ext>
            </a:extLst>
          </p:cNvPr>
          <p:cNvSpPr/>
          <p:nvPr/>
        </p:nvSpPr>
        <p:spPr>
          <a:xfrm>
            <a:off x="3784600" y="3810000"/>
            <a:ext cx="3810000" cy="243840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44450">
            <a:solidFill>
              <a:srgbClr val="C9C3D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1A5BB6D7-717A-04C2-8F2D-C6ABBF61228E}"/>
              </a:ext>
            </a:extLst>
          </p:cNvPr>
          <p:cNvSpPr txBox="1"/>
          <p:nvPr/>
        </p:nvSpPr>
        <p:spPr>
          <a:xfrm>
            <a:off x="3784600" y="3886200"/>
            <a:ext cx="38100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IN" sz="1600" b="1">
                <a:solidFill>
                  <a:srgbClr val="6F4FB0"/>
                </a:solidFill>
                <a:latin typeface="Arial" panose="020B0604020202020204" pitchFamily="34" charset="0"/>
              </a:rPr>
              <a:t>Privacy Actions</a:t>
            </a:r>
          </a:p>
        </p:txBody>
      </p:sp>
      <p:sp>
        <p:nvSpPr>
          <p:cNvPr id="105" name="Rectangle: Rounded Corners 104">
            <a:extLst>
              <a:ext uri="{FF2B5EF4-FFF2-40B4-BE49-F238E27FC236}">
                <a16:creationId xmlns:a16="http://schemas.microsoft.com/office/drawing/2014/main" id="{9CBA48AD-A5CA-79A4-D822-38F18C6CCE17}"/>
              </a:ext>
            </a:extLst>
          </p:cNvPr>
          <p:cNvSpPr/>
          <p:nvPr/>
        </p:nvSpPr>
        <p:spPr>
          <a:xfrm>
            <a:off x="3937000" y="4267200"/>
            <a:ext cx="939800" cy="254000"/>
          </a:xfrm>
          <a:prstGeom prst="roundRect">
            <a:avLst>
              <a:gd name="adj" fmla="val 50000"/>
            </a:avLst>
          </a:prstGeom>
          <a:solidFill>
            <a:srgbClr val="1F6FB2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IN" sz="850" b="1">
                <a:solidFill>
                  <a:srgbClr val="FFFFFF"/>
                </a:solidFill>
                <a:latin typeface="Arial" panose="020B0604020202020204" pitchFamily="34" charset="0"/>
              </a:rPr>
              <a:t>Mask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E499F0E7-735A-5504-EE32-8147104AA414}"/>
              </a:ext>
            </a:extLst>
          </p:cNvPr>
          <p:cNvSpPr txBox="1"/>
          <p:nvPr/>
        </p:nvSpPr>
        <p:spPr>
          <a:xfrm>
            <a:off x="4953000" y="4267200"/>
            <a:ext cx="2590800" cy="254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IN" sz="850">
                <a:solidFill>
                  <a:srgbClr val="1A1A1A"/>
                </a:solidFill>
                <a:latin typeface="Consolas" panose="020B0609020204030204" pitchFamily="49" charset="0"/>
              </a:rPr>
              <a:t>98765 43210 → 98*** ***10</a:t>
            </a:r>
          </a:p>
        </p:txBody>
      </p:sp>
      <p:sp>
        <p:nvSpPr>
          <p:cNvPr id="107" name="Rectangle: Rounded Corners 106">
            <a:extLst>
              <a:ext uri="{FF2B5EF4-FFF2-40B4-BE49-F238E27FC236}">
                <a16:creationId xmlns:a16="http://schemas.microsoft.com/office/drawing/2014/main" id="{8E1CCCE5-0C0C-99E2-3722-A49BB143C01B}"/>
              </a:ext>
            </a:extLst>
          </p:cNvPr>
          <p:cNvSpPr/>
          <p:nvPr/>
        </p:nvSpPr>
        <p:spPr>
          <a:xfrm>
            <a:off x="3937000" y="4572000"/>
            <a:ext cx="939800" cy="254000"/>
          </a:xfrm>
          <a:prstGeom prst="roundRect">
            <a:avLst>
              <a:gd name="adj" fmla="val 50000"/>
            </a:avLst>
          </a:prstGeom>
          <a:solidFill>
            <a:srgbClr val="6F4FB0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IN" sz="850" b="1">
                <a:solidFill>
                  <a:srgbClr val="FFFFFF"/>
                </a:solidFill>
                <a:latin typeface="Arial" panose="020B0604020202020204" pitchFamily="34" charset="0"/>
              </a:rPr>
              <a:t>Tokenize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8BDB90C5-71A9-5AD4-F55C-E2D11AEA08AF}"/>
              </a:ext>
            </a:extLst>
          </p:cNvPr>
          <p:cNvSpPr txBox="1"/>
          <p:nvPr/>
        </p:nvSpPr>
        <p:spPr>
          <a:xfrm>
            <a:off x="4953000" y="4572000"/>
            <a:ext cx="2590800" cy="254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IN" sz="850">
                <a:solidFill>
                  <a:srgbClr val="1A1A1A"/>
                </a:solidFill>
                <a:latin typeface="Consolas" panose="020B0609020204030204" pitchFamily="49" charset="0"/>
              </a:rPr>
              <a:t>Rahul Sharma → [PERSON_1]</a:t>
            </a:r>
          </a:p>
        </p:txBody>
      </p:sp>
      <p:sp>
        <p:nvSpPr>
          <p:cNvPr id="109" name="Rectangle: Rounded Corners 108">
            <a:extLst>
              <a:ext uri="{FF2B5EF4-FFF2-40B4-BE49-F238E27FC236}">
                <a16:creationId xmlns:a16="http://schemas.microsoft.com/office/drawing/2014/main" id="{1C8A989D-76EE-DA80-CC36-BC0E6D7F9DAD}"/>
              </a:ext>
            </a:extLst>
          </p:cNvPr>
          <p:cNvSpPr/>
          <p:nvPr/>
        </p:nvSpPr>
        <p:spPr>
          <a:xfrm>
            <a:off x="3937000" y="4876800"/>
            <a:ext cx="939800" cy="254000"/>
          </a:xfrm>
          <a:prstGeom prst="roundRect">
            <a:avLst>
              <a:gd name="adj" fmla="val 50000"/>
            </a:avLst>
          </a:prstGeom>
          <a:solidFill>
            <a:srgbClr val="D9473F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IN" sz="850" b="1">
                <a:solidFill>
                  <a:srgbClr val="FFFFFF"/>
                </a:solidFill>
                <a:latin typeface="Arial" panose="020B0604020202020204" pitchFamily="34" charset="0"/>
              </a:rPr>
              <a:t>Redact</a:t>
            </a:r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FC67D9AD-A238-7068-BEA7-2C29E3144B8A}"/>
              </a:ext>
            </a:extLst>
          </p:cNvPr>
          <p:cNvSpPr txBox="1"/>
          <p:nvPr/>
        </p:nvSpPr>
        <p:spPr>
          <a:xfrm>
            <a:off x="4953000" y="4876800"/>
            <a:ext cx="2590800" cy="254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nl-NL" sz="850">
                <a:solidFill>
                  <a:srgbClr val="1A1A1A"/>
                </a:solidFill>
                <a:latin typeface="Consolas" panose="020B0609020204030204" pitchFamily="49" charset="0"/>
              </a:rPr>
              <a:t>2345 6789 0124 → [REDACTED_AADHAAR]</a:t>
            </a:r>
            <a:endParaRPr lang="en-IN" sz="850">
              <a:solidFill>
                <a:srgbClr val="1A1A1A"/>
              </a:solidFill>
              <a:latin typeface="Consolas" panose="020B0609020204030204" pitchFamily="49" charset="0"/>
            </a:endParaRPr>
          </a:p>
        </p:txBody>
      </p:sp>
      <p:sp>
        <p:nvSpPr>
          <p:cNvPr id="118" name="Rectangle: Rounded Corners 117">
            <a:extLst>
              <a:ext uri="{FF2B5EF4-FFF2-40B4-BE49-F238E27FC236}">
                <a16:creationId xmlns:a16="http://schemas.microsoft.com/office/drawing/2014/main" id="{DDE3B6D7-6DC4-C334-42F6-3A95FD9DA5D5}"/>
              </a:ext>
            </a:extLst>
          </p:cNvPr>
          <p:cNvSpPr/>
          <p:nvPr/>
        </p:nvSpPr>
        <p:spPr>
          <a:xfrm>
            <a:off x="3937000" y="5181600"/>
            <a:ext cx="939800" cy="254000"/>
          </a:xfrm>
          <a:prstGeom prst="roundRect">
            <a:avLst>
              <a:gd name="adj" fmla="val 50000"/>
            </a:avLst>
          </a:prstGeom>
          <a:solidFill>
            <a:srgbClr val="E07B00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IN" sz="850" b="1">
                <a:solidFill>
                  <a:srgbClr val="FFFFFF"/>
                </a:solidFill>
                <a:latin typeface="Arial" panose="020B0604020202020204" pitchFamily="34" charset="0"/>
              </a:rPr>
              <a:t>Generalize</a:t>
            </a: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8958DB01-B73E-E1FE-A122-A3FCBD37721A}"/>
              </a:ext>
            </a:extLst>
          </p:cNvPr>
          <p:cNvSpPr txBox="1"/>
          <p:nvPr/>
        </p:nvSpPr>
        <p:spPr>
          <a:xfrm>
            <a:off x="4953000" y="5181600"/>
            <a:ext cx="2590800" cy="254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IN" sz="850">
                <a:solidFill>
                  <a:srgbClr val="1A1A1A"/>
                </a:solidFill>
                <a:latin typeface="Consolas" panose="020B0609020204030204" pitchFamily="49" charset="0"/>
              </a:rPr>
              <a:t>27 → 20-30  ·  Jamshedpur → Jharkhand</a:t>
            </a:r>
          </a:p>
        </p:txBody>
      </p:sp>
      <p:sp>
        <p:nvSpPr>
          <p:cNvPr id="120" name="Rectangle: Rounded Corners 119">
            <a:extLst>
              <a:ext uri="{FF2B5EF4-FFF2-40B4-BE49-F238E27FC236}">
                <a16:creationId xmlns:a16="http://schemas.microsoft.com/office/drawing/2014/main" id="{DD06EAE0-5800-D8FA-0CFF-05E90CD0BB10}"/>
              </a:ext>
            </a:extLst>
          </p:cNvPr>
          <p:cNvSpPr/>
          <p:nvPr/>
        </p:nvSpPr>
        <p:spPr>
          <a:xfrm>
            <a:off x="3937000" y="5486400"/>
            <a:ext cx="939800" cy="254000"/>
          </a:xfrm>
          <a:prstGeom prst="roundRect">
            <a:avLst>
              <a:gd name="adj" fmla="val 50000"/>
            </a:avLst>
          </a:prstGeom>
          <a:solidFill>
            <a:srgbClr val="1F2937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IN" sz="850" b="1">
                <a:solidFill>
                  <a:srgbClr val="FFFFFF"/>
                </a:solidFill>
                <a:latin typeface="Arial" panose="020B0604020202020204" pitchFamily="34" charset="0"/>
              </a:rPr>
              <a:t>Remove secret</a:t>
            </a: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B0C0A7E4-DED4-2F1D-8EFD-A02D149F0879}"/>
              </a:ext>
            </a:extLst>
          </p:cNvPr>
          <p:cNvSpPr txBox="1"/>
          <p:nvPr/>
        </p:nvSpPr>
        <p:spPr>
          <a:xfrm>
            <a:off x="4953000" y="5486400"/>
            <a:ext cx="2590800" cy="254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IN" sz="850">
                <a:solidFill>
                  <a:srgbClr val="1A1A1A"/>
                </a:solidFill>
                <a:latin typeface="Consolas" panose="020B0609020204030204" pitchFamily="49" charset="0"/>
              </a:rPr>
              <a:t>sk-proj-Ab3d… → [SECRET_REMOVED]</a:t>
            </a:r>
          </a:p>
        </p:txBody>
      </p:sp>
      <p:sp>
        <p:nvSpPr>
          <p:cNvPr id="122" name="Rectangle: Rounded Corners 121">
            <a:extLst>
              <a:ext uri="{FF2B5EF4-FFF2-40B4-BE49-F238E27FC236}">
                <a16:creationId xmlns:a16="http://schemas.microsoft.com/office/drawing/2014/main" id="{AA1069B7-9A97-9590-9851-37A1944E5BB0}"/>
              </a:ext>
            </a:extLst>
          </p:cNvPr>
          <p:cNvSpPr/>
          <p:nvPr/>
        </p:nvSpPr>
        <p:spPr>
          <a:xfrm>
            <a:off x="3937000" y="5791200"/>
            <a:ext cx="939800" cy="254000"/>
          </a:xfrm>
          <a:prstGeom prst="roundRect">
            <a:avLst>
              <a:gd name="adj" fmla="val 50000"/>
            </a:avLst>
          </a:prstGeom>
          <a:solidFill>
            <a:srgbClr val="2E9E5B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IN" sz="850" b="1">
                <a:solidFill>
                  <a:srgbClr val="FFFFFF"/>
                </a:solidFill>
                <a:latin typeface="Arial" panose="020B0604020202020204" pitchFamily="34" charset="0"/>
              </a:rPr>
              <a:t>Keep</a:t>
            </a: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17747BBC-803F-AB47-95DB-3C3D6D399AB6}"/>
              </a:ext>
            </a:extLst>
          </p:cNvPr>
          <p:cNvSpPr txBox="1"/>
          <p:nvPr/>
        </p:nvSpPr>
        <p:spPr>
          <a:xfrm>
            <a:off x="4953000" y="5791200"/>
            <a:ext cx="2590800" cy="254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IN" sz="850">
                <a:solidFill>
                  <a:srgbClr val="1A1A1A"/>
                </a:solidFill>
                <a:latin typeface="Consolas" panose="020B0609020204030204" pitchFamily="49" charset="0"/>
              </a:rPr>
              <a:t>Type 2 diabetes (needed for the task)</a:t>
            </a:r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C3460A8B-F014-0ADC-41D0-7D39E165AA94}"/>
              </a:ext>
            </a:extLst>
          </p:cNvPr>
          <p:cNvSpPr txBox="1"/>
          <p:nvPr/>
        </p:nvSpPr>
        <p:spPr>
          <a:xfrm>
            <a:off x="3937000" y="6045200"/>
            <a:ext cx="3606800" cy="1524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IN" sz="800" i="1">
                <a:solidFill>
                  <a:srgbClr val="55606E"/>
                </a:solidFill>
                <a:latin typeface="Arial" panose="020B0604020202020204" pitchFamily="34" charset="0"/>
              </a:rPr>
              <a:t>Secrets are removed in every profile and cannot be overridden.</a:t>
            </a:r>
          </a:p>
        </p:txBody>
      </p:sp>
      <p:sp>
        <p:nvSpPr>
          <p:cNvPr id="125" name="Rectangle: Rounded Corners 124">
            <a:extLst>
              <a:ext uri="{FF2B5EF4-FFF2-40B4-BE49-F238E27FC236}">
                <a16:creationId xmlns:a16="http://schemas.microsoft.com/office/drawing/2014/main" id="{D02580CD-BBE0-CD4D-D9C6-B601BD93BDF8}"/>
              </a:ext>
            </a:extLst>
          </p:cNvPr>
          <p:cNvSpPr/>
          <p:nvPr/>
        </p:nvSpPr>
        <p:spPr>
          <a:xfrm>
            <a:off x="7721600" y="3810000"/>
            <a:ext cx="4241800" cy="243840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44450">
            <a:solidFill>
              <a:srgbClr val="C9C3D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26" name="TextBox 125">
            <a:extLst>
              <a:ext uri="{FF2B5EF4-FFF2-40B4-BE49-F238E27FC236}">
                <a16:creationId xmlns:a16="http://schemas.microsoft.com/office/drawing/2014/main" id="{A22437E2-687C-7C1F-315A-6CA689A95D0A}"/>
              </a:ext>
            </a:extLst>
          </p:cNvPr>
          <p:cNvSpPr txBox="1"/>
          <p:nvPr/>
        </p:nvSpPr>
        <p:spPr>
          <a:xfrm>
            <a:off x="7721600" y="3886200"/>
            <a:ext cx="42418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IN" sz="1600" b="1">
                <a:solidFill>
                  <a:srgbClr val="6F4FB0"/>
                </a:solidFill>
                <a:latin typeface="Arial" panose="020B0604020202020204" pitchFamily="34" charset="0"/>
              </a:rPr>
              <a:t>Working Prototype</a:t>
            </a:r>
          </a:p>
        </p:txBody>
      </p:sp>
      <p:pic>
        <p:nvPicPr>
          <p:cNvPr id="128" name="Picture 127" descr="Screenshot of the P2Shield playground: a developer prompt with API keys and a password scores risk 100 (Critical) before and 4 (Low) after; the safe version shows SECRET_REMOVED placeholders.">
            <a:extLst>
              <a:ext uri="{FF2B5EF4-FFF2-40B4-BE49-F238E27FC236}">
                <a16:creationId xmlns:a16="http://schemas.microsoft.com/office/drawing/2014/main" id="{B397AA1A-B0C0-9300-21DE-56E1F46936FF}"/>
              </a:ext>
            </a:extLst>
          </p:cNvPr>
          <p:cNvPicPr>
            <a:picLocks/>
          </p:cNvPicPr>
          <p:nvPr/>
        </p:nvPicPr>
        <p:blipFill>
          <a:blip r:embed="rId16"/>
          <a:stretch>
            <a:fillRect/>
          </a:stretch>
        </p:blipFill>
        <p:spPr>
          <a:xfrm>
            <a:off x="7874000" y="4241800"/>
            <a:ext cx="2489200" cy="1905000"/>
          </a:xfrm>
          <a:prstGeom prst="rect">
            <a:avLst/>
          </a:prstGeom>
          <a:ln w="9525">
            <a:solidFill>
              <a:srgbClr val="D5DCE8"/>
            </a:solidFill>
          </a:ln>
        </p:spPr>
      </p:pic>
      <p:sp>
        <p:nvSpPr>
          <p:cNvPr id="129" name="TextBox 128">
            <a:extLst>
              <a:ext uri="{FF2B5EF4-FFF2-40B4-BE49-F238E27FC236}">
                <a16:creationId xmlns:a16="http://schemas.microsoft.com/office/drawing/2014/main" id="{BFBAF753-8D41-C562-1BE4-E255AF7CBCCF}"/>
              </a:ext>
            </a:extLst>
          </p:cNvPr>
          <p:cNvSpPr txBox="1"/>
          <p:nvPr/>
        </p:nvSpPr>
        <p:spPr>
          <a:xfrm>
            <a:off x="10464800" y="4292600"/>
            <a:ext cx="1422400" cy="18796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marL="139700" indent="-139700">
              <a:spcAft>
                <a:spcPts val="600"/>
              </a:spcAft>
              <a:buClr>
                <a:srgbClr val="2E9E5B"/>
              </a:buClr>
              <a:buSzPct val="100000"/>
              <a:buFont typeface="Segoe UI Symbol" panose="020B0502040204020203" pitchFamily="34" charset="0"/>
              <a:buChar char="✓"/>
            </a:pPr>
            <a:r>
              <a:rPr lang="en-IN" sz="900" b="1">
                <a:solidFill>
                  <a:srgbClr val="1A1A1A"/>
                </a:solidFill>
                <a:latin typeface="Arial" panose="020B0604020202020204" pitchFamily="34" charset="0"/>
              </a:rPr>
              <a:t>Shield</a:t>
            </a:r>
            <a:r>
              <a:rPr lang="en-IN" sz="900">
                <a:solidFill>
                  <a:srgbClr val="1A1A1A"/>
                </a:solidFill>
                <a:latin typeface="Arial" panose="020B0604020202020204" pitchFamily="34" charset="0"/>
              </a:rPr>
              <a:t> on every chat box</a:t>
            </a:r>
          </a:p>
          <a:p>
            <a:pPr marL="139700" indent="-139700">
              <a:spcAft>
                <a:spcPts val="600"/>
              </a:spcAft>
              <a:buClr>
                <a:srgbClr val="2E9E5B"/>
              </a:buClr>
              <a:buSzPct val="100000"/>
              <a:buFont typeface="Segoe UI Symbol" panose="020B0502040204020203" pitchFamily="34" charset="0"/>
              <a:buChar char="✓"/>
            </a:pPr>
            <a:r>
              <a:rPr lang="en-IN" sz="900" b="1">
                <a:solidFill>
                  <a:srgbClr val="1A1A1A"/>
                </a:solidFill>
                <a:latin typeface="Arial" panose="020B0604020202020204" pitchFamily="34" charset="0"/>
              </a:rPr>
              <a:t>Alt+Shift+S</a:t>
            </a:r>
            <a:r>
              <a:rPr lang="en-IN" sz="900">
                <a:solidFill>
                  <a:srgbClr val="1A1A1A"/>
                </a:solidFill>
                <a:latin typeface="Arial" panose="020B0604020202020204" pitchFamily="34" charset="0"/>
              </a:rPr>
              <a:t> and right-click</a:t>
            </a:r>
          </a:p>
          <a:p>
            <a:pPr marL="139700" indent="-139700">
              <a:spcAft>
                <a:spcPts val="600"/>
              </a:spcAft>
              <a:buClr>
                <a:srgbClr val="2E9E5B"/>
              </a:buClr>
              <a:buSzPct val="100000"/>
              <a:buFont typeface="Segoe UI Symbol" panose="020B0502040204020203" pitchFamily="34" charset="0"/>
              <a:buChar char="✓"/>
            </a:pPr>
            <a:r>
              <a:rPr lang="en-IN" sz="900" b="1">
                <a:solidFill>
                  <a:srgbClr val="1A1A1A"/>
                </a:solidFill>
                <a:latin typeface="Arial" panose="020B0604020202020204" pitchFamily="34" charset="0"/>
              </a:rPr>
              <a:t>Undo</a:t>
            </a:r>
            <a:r>
              <a:rPr lang="en-IN" sz="900">
                <a:solidFill>
                  <a:srgbClr val="1A1A1A"/>
                </a:solidFill>
                <a:latin typeface="Arial" panose="020B0604020202020204" pitchFamily="34" charset="0"/>
              </a:rPr>
              <a:t> + per-item review</a:t>
            </a:r>
          </a:p>
          <a:p>
            <a:pPr marL="139700" indent="-139700">
              <a:spcAft>
                <a:spcPts val="600"/>
              </a:spcAft>
              <a:buClr>
                <a:srgbClr val="2E9E5B"/>
              </a:buClr>
              <a:buSzPct val="100000"/>
              <a:buFont typeface="Segoe UI Symbol" panose="020B0502040204020203" pitchFamily="34" charset="0"/>
              <a:buChar char="✓"/>
            </a:pPr>
            <a:r>
              <a:rPr lang="en-IN" sz="900" b="1">
                <a:solidFill>
                  <a:srgbClr val="1A1A1A"/>
                </a:solidFill>
                <a:latin typeface="Arial" panose="020B0604020202020204" pitchFamily="34" charset="0"/>
              </a:rPr>
              <a:t>Playground</a:t>
            </a:r>
            <a:r>
              <a:rPr lang="en-IN" sz="900">
                <a:solidFill>
                  <a:srgbClr val="1A1A1A"/>
                </a:solidFill>
                <a:latin typeface="Arial" panose="020B0604020202020204" pitchFamily="34" charset="0"/>
              </a:rPr>
              <a:t> for .txt .csv .json .log</a:t>
            </a:r>
          </a:p>
          <a:p>
            <a:pPr marL="139700" indent="-139700">
              <a:spcAft>
                <a:spcPts val="600"/>
              </a:spcAft>
              <a:buClr>
                <a:srgbClr val="2E9E5B"/>
              </a:buClr>
              <a:buSzPct val="100000"/>
              <a:buFont typeface="Segoe UI Symbol" panose="020B0502040204020203" pitchFamily="34" charset="0"/>
              <a:buChar char="✓"/>
            </a:pPr>
            <a:r>
              <a:rPr lang="en-IN" sz="900" b="1">
                <a:solidFill>
                  <a:srgbClr val="1A1A1A"/>
                </a:solidFill>
                <a:latin typeface="Arial" panose="020B0604020202020204" pitchFamily="34" charset="0"/>
              </a:rPr>
              <a:t>Org policy</a:t>
            </a:r>
            <a:r>
              <a:rPr lang="en-IN" sz="900">
                <a:solidFill>
                  <a:srgbClr val="1A1A1A"/>
                </a:solidFill>
                <a:latin typeface="Arial" panose="020B0604020202020204" pitchFamily="34" charset="0"/>
              </a:rPr>
              <a:t> via managed storage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4"/>
          <p:cNvSpPr/>
          <p:nvPr/>
        </p:nvSpPr>
        <p:spPr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>
            <a:noFill/>
          </a:ln>
          <a:effectLst>
            <a:outerShdw dist="23000" dir="5400000" rotWithShape="0">
              <a:srgbClr val="80808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95373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p4"/>
          <p:cNvSpPr txBox="1">
            <a:spLocks noGrp="1"/>
          </p:cNvSpPr>
          <p:nvPr>
            <p:ph type="title"/>
          </p:nvPr>
        </p:nvSpPr>
        <p:spPr>
          <a:xfrm>
            <a:off x="1905000" y="50800"/>
            <a:ext cx="8382000" cy="63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lvl="0" rtl="0"/>
            <a:r>
              <a:rPr lang="en-US" sz="3400" b="1">
                <a:solidFill>
                  <a:srgbClr val="000000"/>
                </a:solidFill>
                <a:latin typeface="Times New Roman" panose="02020603050405020304" pitchFamily="18" charset="0"/>
                <a:ea typeface="Times New Roman"/>
                <a:cs typeface="Times New Roman"/>
                <a:sym typeface="Times New Roman"/>
              </a:rPr>
              <a:t>FEASIBILITY AND VIABILITY</a:t>
            </a:r>
            <a:endParaRPr sz="3400" b="1">
              <a:solidFill>
                <a:srgbClr val="000000"/>
              </a:solidFill>
              <a:latin typeface="Times New Roman" panose="02020603050405020304" pitchFamily="18" charset="0"/>
            </a:endParaRPr>
          </a:p>
        </p:txBody>
      </p:sp>
      <p:sp>
        <p:nvSpPr>
          <p:cNvPr id="126" name="Google Shape;126;p4"/>
          <p:cNvSpPr txBox="1">
            <a:spLocks noGrp="1"/>
          </p:cNvSpPr>
          <p:nvPr>
            <p:ph type="sldNum" idx="12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Oswald"/>
              <a:buNone/>
            </a:pPr>
            <a:fld id="{00000000-1234-1234-1234-123412341234}" type="slidenum">
              <a:rPr lang="en-US" sz="1200" b="1" i="0" u="none" strike="noStrike" cap="none">
                <a:solidFill>
                  <a:srgbClr val="FFFFFF"/>
                </a:solidFill>
                <a:latin typeface="Oswald"/>
                <a:ea typeface="Oswald"/>
                <a:cs typeface="Oswald"/>
                <a:sym typeface="Oswald"/>
              </a:rPr>
              <a:t>4</a:t>
            </a:fld>
            <a:endParaRPr sz="1200" b="1" i="0" u="none" strike="noStrike" cap="none">
              <a:solidFill>
                <a:srgbClr val="FFFFFF"/>
              </a:solidFill>
              <a:latin typeface="Oswald"/>
              <a:ea typeface="Oswald"/>
              <a:cs typeface="Oswald"/>
              <a:sym typeface="Oswald"/>
            </a:endParaRPr>
          </a:p>
        </p:txBody>
      </p:sp>
      <p:sp>
        <p:nvSpPr>
          <p:cNvPr id="127" name="Google Shape;127;p4"/>
          <p:cNvSpPr txBox="1">
            <a:spLocks noGrp="1"/>
          </p:cNvSpPr>
          <p:nvPr>
            <p:ph type="ftr" idx="11"/>
          </p:nvPr>
        </p:nvSpPr>
        <p:spPr>
          <a:xfrm>
            <a:off x="4648200" y="6356353"/>
            <a:ext cx="32040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R="0" lvl="0" rtl="0">
              <a:buClr>
                <a:srgbClr val="FFFFFF"/>
              </a:buClr>
              <a:buSzPts val="1200"/>
            </a:pPr>
            <a:r>
              <a:rPr lang="en-IN" sz="1100" u="none" strike="noStrike" cap="none">
                <a:solidFill>
                  <a:srgbClr val="FFFFFF"/>
                </a:solidFill>
                <a:latin typeface="Oswald" panose="00000500000000000000" pitchFamily="2" charset="0"/>
                <a:ea typeface="Oswald"/>
                <a:cs typeface="Oswald"/>
                <a:sym typeface="Oswald"/>
              </a:rPr>
              <a:t>@BITSHIFT Idea submission  ·  TechKnights  ·  P2Shield</a:t>
            </a:r>
            <a:endParaRPr sz="1100" u="none" strike="noStrike" cap="none">
              <a:solidFill>
                <a:srgbClr val="FFFFFF"/>
              </a:solidFill>
              <a:latin typeface="Oswald" panose="00000500000000000000" pitchFamily="2" charset="0"/>
              <a:ea typeface="Oswald"/>
              <a:cs typeface="Oswald"/>
              <a:sym typeface="Oswald"/>
            </a:endParaRPr>
          </a:p>
        </p:txBody>
      </p:sp>
      <p:sp>
        <p:nvSpPr>
          <p:cNvPr id="128" name="Google Shape;128;p4" descr="Your startup LOGO"/>
          <p:cNvSpPr/>
          <p:nvPr/>
        </p:nvSpPr>
        <p:spPr>
          <a:xfrm>
            <a:off x="253999" y="228600"/>
            <a:ext cx="1422400" cy="584200"/>
          </a:xfrm>
          <a:prstGeom prst="ellipse">
            <a:avLst/>
          </a:prstGeom>
          <a:solidFill>
            <a:schemeClr val="lt1"/>
          </a:solidFill>
          <a:ln w="25400" cap="flat" cmpd="sng">
            <a:solidFill>
              <a:srgbClr val="8064A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R="0" lvl="0" algn="ctr" rtl="0"/>
            <a:r>
              <a:rPr lang="en-US" sz="1500" b="1">
                <a:solidFill>
                  <a:srgbClr val="4B2E83"/>
                </a:solidFill>
                <a:latin typeface="Calibri" panose="020F0502020204030204" pitchFamily="34" charset="0"/>
                <a:ea typeface="Calibri"/>
                <a:cs typeface="Calibri"/>
                <a:sym typeface="Calibri"/>
              </a:rPr>
              <a:t>TechKnights</a:t>
            </a:r>
            <a:endParaRPr sz="1500" b="1">
              <a:solidFill>
                <a:srgbClr val="4B2E83"/>
              </a:solidFill>
              <a:latin typeface="Calibri" panose="020F0502020204030204" pitchFamily="34" charset="0"/>
              <a:ea typeface="Calibri"/>
              <a:cs typeface="Calibri"/>
              <a:sym typeface="Calibri"/>
            </a:endParaRPr>
          </a:p>
        </p:txBody>
      </p:sp>
      <p:pic>
        <p:nvPicPr>
          <p:cNvPr id="129" name="Google Shape;129;p4"/>
          <p:cNvPicPr preferRelativeResize="0">
            <a:picLocks noChangeAspect="1"/>
          </p:cNvPicPr>
          <p:nvPr/>
        </p:nvPicPr>
        <p:blipFill rotWithShape="1">
          <a:blip r:embed="rId3">
            <a:alphaModFix/>
          </a:blip>
          <a:srcRect r="13096" b="-9830"/>
          <a:stretch/>
        </p:blipFill>
        <p:spPr>
          <a:xfrm>
            <a:off x="10490200" y="76200"/>
            <a:ext cx="1498600" cy="10622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82704927-DCC8-6FAF-B5C7-1843B879627A}"/>
              </a:ext>
            </a:extLst>
          </p:cNvPr>
          <p:cNvSpPr txBox="1"/>
          <p:nvPr/>
        </p:nvSpPr>
        <p:spPr>
          <a:xfrm>
            <a:off x="1905000" y="685800"/>
            <a:ext cx="83820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IN" b="1">
                <a:solidFill>
                  <a:srgbClr val="1F497D"/>
                </a:solidFill>
                <a:latin typeface="Arial" panose="020B0604020202020204" pitchFamily="34" charset="0"/>
              </a:rPr>
              <a:t>Already built, tested and fast. No servers to run.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C8D84CAC-01C7-276A-B65A-D7286F4E0999}"/>
              </a:ext>
            </a:extLst>
          </p:cNvPr>
          <p:cNvSpPr/>
          <p:nvPr/>
        </p:nvSpPr>
        <p:spPr>
          <a:xfrm>
            <a:off x="228600" y="1219200"/>
            <a:ext cx="7569200" cy="2895600"/>
          </a:xfrm>
          <a:prstGeom prst="roundRect">
            <a:avLst>
              <a:gd name="adj" fmla="val 7018"/>
            </a:avLst>
          </a:prstGeom>
          <a:gradFill flip="none" rotWithShape="1">
            <a:gsLst>
              <a:gs pos="0">
                <a:srgbClr val="DCEAFB"/>
              </a:gs>
              <a:gs pos="100000">
                <a:srgbClr val="EEF4FC"/>
              </a:gs>
            </a:gsLst>
            <a:lin ang="0" scaled="1"/>
            <a:tileRect/>
          </a:gra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C617785-CAF0-5520-3AC5-8A188EE42AD2}"/>
              </a:ext>
            </a:extLst>
          </p:cNvPr>
          <p:cNvSpPr txBox="1"/>
          <p:nvPr/>
        </p:nvSpPr>
        <p:spPr>
          <a:xfrm>
            <a:off x="406400" y="1282700"/>
            <a:ext cx="5080000" cy="3302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IN" sz="1700" b="1">
                <a:latin typeface="Arial" panose="020B0604020202020204" pitchFamily="34" charset="0"/>
              </a:rPr>
              <a:t>Risks &amp; Mitigation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691FEE8E-A1F1-1107-DBA5-947982C4A2B6}"/>
              </a:ext>
            </a:extLst>
          </p:cNvPr>
          <p:cNvSpPr/>
          <p:nvPr/>
        </p:nvSpPr>
        <p:spPr>
          <a:xfrm>
            <a:off x="406400" y="1676400"/>
            <a:ext cx="2717800" cy="533400"/>
          </a:xfrm>
          <a:prstGeom prst="roundRect">
            <a:avLst>
              <a:gd name="adj" fmla="val 19048"/>
            </a:avLst>
          </a:prstGeom>
          <a:solidFill>
            <a:srgbClr val="2E75B6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7" name="Graphic 6" descr="app-window icon">
            <a:extLst>
              <a:ext uri="{FF2B5EF4-FFF2-40B4-BE49-F238E27FC236}">
                <a16:creationId xmlns:a16="http://schemas.microsoft.com/office/drawing/2014/main" id="{FECCB7A6-E835-B376-84D3-0789DC75494B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8000" y="1816100"/>
            <a:ext cx="254000" cy="2540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B2243FE-2744-9E87-28EE-6BDBBCC98E7D}"/>
              </a:ext>
            </a:extLst>
          </p:cNvPr>
          <p:cNvSpPr txBox="1"/>
          <p:nvPr/>
        </p:nvSpPr>
        <p:spPr>
          <a:xfrm>
            <a:off x="863600" y="1676400"/>
            <a:ext cx="2184400" cy="5334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>
              <a:lnSpc>
                <a:spcPct val="98000"/>
              </a:lnSpc>
            </a:pPr>
            <a:r>
              <a:rPr lang="en-IN" sz="1000" b="1">
                <a:solidFill>
                  <a:srgbClr val="FFFFFF"/>
                </a:solidFill>
                <a:latin typeface="Arial" panose="020B0604020202020204" pitchFamily="34" charset="0"/>
              </a:rPr>
              <a:t>Chat sites keep changing their editors</a:t>
            </a:r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ADD0C282-7A99-81CB-9B2C-E12319B6E1ED}"/>
              </a:ext>
            </a:extLst>
          </p:cNvPr>
          <p:cNvSpPr/>
          <p:nvPr/>
        </p:nvSpPr>
        <p:spPr>
          <a:xfrm>
            <a:off x="3200400" y="1841500"/>
            <a:ext cx="304800" cy="203200"/>
          </a:xfrm>
          <a:prstGeom prst="rightArrow">
            <a:avLst/>
          </a:prstGeom>
          <a:solidFill>
            <a:srgbClr val="1F497D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84143E4E-88F1-B232-A140-27C5AD9277E6}"/>
              </a:ext>
            </a:extLst>
          </p:cNvPr>
          <p:cNvSpPr/>
          <p:nvPr/>
        </p:nvSpPr>
        <p:spPr>
          <a:xfrm>
            <a:off x="3581400" y="1676400"/>
            <a:ext cx="4064000" cy="533400"/>
          </a:xfrm>
          <a:prstGeom prst="roundRect">
            <a:avLst>
              <a:gd name="adj" fmla="val 19048"/>
            </a:avLst>
          </a:prstGeom>
          <a:solidFill>
            <a:srgbClr val="E2F4E8"/>
          </a:solidFill>
          <a:ln w="9525">
            <a:solidFill>
              <a:srgbClr val="B9E2C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A4735E0-B9A2-8CB7-A0BF-3E111C1CC048}"/>
              </a:ext>
            </a:extLst>
          </p:cNvPr>
          <p:cNvSpPr txBox="1"/>
          <p:nvPr/>
        </p:nvSpPr>
        <p:spPr>
          <a:xfrm>
            <a:off x="3708400" y="1676400"/>
            <a:ext cx="3860800" cy="5334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>
              <a:lnSpc>
                <a:spcPct val="98000"/>
              </a:lnSpc>
            </a:pPr>
            <a:r>
              <a:rPr lang="en-IN" sz="950">
                <a:solidFill>
                  <a:srgbClr val="1A1A1A"/>
                </a:solidFill>
                <a:latin typeface="Arial" panose="020B0604020202020204" pitchFamily="34" charset="0"/>
              </a:rPr>
              <a:t>Simulated paste + read-back check; clipboard fallback; shortcut and right-click always work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27CC050-6E15-A3FD-0046-A8BA2DF41A9E}"/>
              </a:ext>
            </a:extLst>
          </p:cNvPr>
          <p:cNvSpPr/>
          <p:nvPr/>
        </p:nvSpPr>
        <p:spPr>
          <a:xfrm>
            <a:off x="406400" y="2273300"/>
            <a:ext cx="2717800" cy="533400"/>
          </a:xfrm>
          <a:prstGeom prst="roundRect">
            <a:avLst>
              <a:gd name="adj" fmla="val 19048"/>
            </a:avLst>
          </a:prstGeom>
          <a:solidFill>
            <a:srgbClr val="2E75B6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14" name="Graphic 13" descr="triangle-alert icon">
            <a:extLst>
              <a:ext uri="{FF2B5EF4-FFF2-40B4-BE49-F238E27FC236}">
                <a16:creationId xmlns:a16="http://schemas.microsoft.com/office/drawing/2014/main" id="{99D531C6-A769-20E0-9DBE-DBA1919DE88D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08000" y="2413000"/>
            <a:ext cx="254000" cy="254000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F12BACBE-2107-A562-87D3-8CF6BF883B46}"/>
              </a:ext>
            </a:extLst>
          </p:cNvPr>
          <p:cNvSpPr txBox="1"/>
          <p:nvPr/>
        </p:nvSpPr>
        <p:spPr>
          <a:xfrm>
            <a:off x="863600" y="2273300"/>
            <a:ext cx="2184400" cy="5334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>
              <a:lnSpc>
                <a:spcPct val="98000"/>
              </a:lnSpc>
            </a:pPr>
            <a:r>
              <a:rPr lang="en-IN" sz="1000" b="1">
                <a:solidFill>
                  <a:srgbClr val="FFFFFF"/>
                </a:solidFill>
                <a:latin typeface="Arial" panose="020B0604020202020204" pitchFamily="34" charset="0"/>
              </a:rPr>
              <a:t>False positives could break normal prompts</a:t>
            </a:r>
          </a:p>
        </p:txBody>
      </p:sp>
      <p:sp>
        <p:nvSpPr>
          <p:cNvPr id="16" name="Arrow: Right 15">
            <a:extLst>
              <a:ext uri="{FF2B5EF4-FFF2-40B4-BE49-F238E27FC236}">
                <a16:creationId xmlns:a16="http://schemas.microsoft.com/office/drawing/2014/main" id="{444249C6-DE11-799D-83B5-8AA55D4FDDA3}"/>
              </a:ext>
            </a:extLst>
          </p:cNvPr>
          <p:cNvSpPr/>
          <p:nvPr/>
        </p:nvSpPr>
        <p:spPr>
          <a:xfrm>
            <a:off x="3200400" y="2438400"/>
            <a:ext cx="304800" cy="203200"/>
          </a:xfrm>
          <a:prstGeom prst="rightArrow">
            <a:avLst/>
          </a:prstGeom>
          <a:solidFill>
            <a:srgbClr val="1F497D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2A7485BA-DC61-96B1-4F5E-92881B6E3A28}"/>
              </a:ext>
            </a:extLst>
          </p:cNvPr>
          <p:cNvSpPr/>
          <p:nvPr/>
        </p:nvSpPr>
        <p:spPr>
          <a:xfrm>
            <a:off x="3581400" y="2273300"/>
            <a:ext cx="4064000" cy="533400"/>
          </a:xfrm>
          <a:prstGeom prst="roundRect">
            <a:avLst>
              <a:gd name="adj" fmla="val 19048"/>
            </a:avLst>
          </a:prstGeom>
          <a:solidFill>
            <a:srgbClr val="E2F4E8"/>
          </a:solidFill>
          <a:ln w="9525">
            <a:solidFill>
              <a:srgbClr val="B9E2C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3A52229-BEEB-6A0E-4ED0-F65BE6CEF7C1}"/>
              </a:ext>
            </a:extLst>
          </p:cNvPr>
          <p:cNvSpPr txBox="1"/>
          <p:nvPr/>
        </p:nvSpPr>
        <p:spPr>
          <a:xfrm>
            <a:off x="3708400" y="2273300"/>
            <a:ext cx="3860800" cy="5334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>
              <a:lnSpc>
                <a:spcPct val="98000"/>
              </a:lnSpc>
            </a:pPr>
            <a:r>
              <a:rPr lang="en-IN" sz="950">
                <a:solidFill>
                  <a:srgbClr val="1A1A1A"/>
                </a:solidFill>
                <a:latin typeface="Arial" panose="020B0604020202020204" pitchFamily="34" charset="0"/>
              </a:rPr>
              <a:t>Checksums + field-name context; clean prompts are tested to stay unchanged; per-item Undo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0333D939-6B96-9C45-9885-B27187341C9E}"/>
              </a:ext>
            </a:extLst>
          </p:cNvPr>
          <p:cNvSpPr/>
          <p:nvPr/>
        </p:nvSpPr>
        <p:spPr>
          <a:xfrm>
            <a:off x="406400" y="2870200"/>
            <a:ext cx="2717800" cy="533400"/>
          </a:xfrm>
          <a:prstGeom prst="roundRect">
            <a:avLst>
              <a:gd name="adj" fmla="val 19048"/>
            </a:avLst>
          </a:prstGeom>
          <a:solidFill>
            <a:srgbClr val="2E75B6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21" name="Graphic 20" descr="bot icon">
            <a:extLst>
              <a:ext uri="{FF2B5EF4-FFF2-40B4-BE49-F238E27FC236}">
                <a16:creationId xmlns:a16="http://schemas.microsoft.com/office/drawing/2014/main" id="{ECD8FA95-CFCA-49A6-9E5E-3AFB801B79D1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08000" y="3009900"/>
            <a:ext cx="254000" cy="254000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5D4BF802-D8AA-CC53-6792-DDF7284EFDC8}"/>
              </a:ext>
            </a:extLst>
          </p:cNvPr>
          <p:cNvSpPr txBox="1"/>
          <p:nvPr/>
        </p:nvSpPr>
        <p:spPr>
          <a:xfrm>
            <a:off x="863600" y="2870200"/>
            <a:ext cx="2184400" cy="5334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>
              <a:lnSpc>
                <a:spcPct val="98000"/>
              </a:lnSpc>
            </a:pPr>
            <a:r>
              <a:rPr lang="en-IN" sz="1000" b="1">
                <a:solidFill>
                  <a:srgbClr val="FFFFFF"/>
                </a:solidFill>
                <a:latin typeface="Arial" panose="020B0604020202020204" pitchFamily="34" charset="0"/>
              </a:rPr>
              <a:t>AI model may hallucinate or be prompt-injected</a:t>
            </a:r>
          </a:p>
        </p:txBody>
      </p:sp>
      <p:sp>
        <p:nvSpPr>
          <p:cNvPr id="23" name="Arrow: Right 22">
            <a:extLst>
              <a:ext uri="{FF2B5EF4-FFF2-40B4-BE49-F238E27FC236}">
                <a16:creationId xmlns:a16="http://schemas.microsoft.com/office/drawing/2014/main" id="{ABAACB90-8F24-75B2-04B8-831FDF5A65E4}"/>
              </a:ext>
            </a:extLst>
          </p:cNvPr>
          <p:cNvSpPr/>
          <p:nvPr/>
        </p:nvSpPr>
        <p:spPr>
          <a:xfrm>
            <a:off x="3200400" y="3035300"/>
            <a:ext cx="304800" cy="203200"/>
          </a:xfrm>
          <a:prstGeom prst="rightArrow">
            <a:avLst/>
          </a:prstGeom>
          <a:solidFill>
            <a:srgbClr val="1F497D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3A0934F5-E452-42A7-075E-CBA992DA7C6C}"/>
              </a:ext>
            </a:extLst>
          </p:cNvPr>
          <p:cNvSpPr/>
          <p:nvPr/>
        </p:nvSpPr>
        <p:spPr>
          <a:xfrm>
            <a:off x="3581400" y="2870200"/>
            <a:ext cx="4064000" cy="533400"/>
          </a:xfrm>
          <a:prstGeom prst="roundRect">
            <a:avLst>
              <a:gd name="adj" fmla="val 19048"/>
            </a:avLst>
          </a:prstGeom>
          <a:solidFill>
            <a:srgbClr val="E2F4E8"/>
          </a:solidFill>
          <a:ln w="9525">
            <a:solidFill>
              <a:srgbClr val="B9E2C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19E08BB-AF9D-8A0F-1D2A-0C03B65AF0B3}"/>
              </a:ext>
            </a:extLst>
          </p:cNvPr>
          <p:cNvSpPr txBox="1"/>
          <p:nvPr/>
        </p:nvSpPr>
        <p:spPr>
          <a:xfrm>
            <a:off x="3708400" y="2870200"/>
            <a:ext cx="3860800" cy="5334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>
              <a:lnSpc>
                <a:spcPct val="98000"/>
              </a:lnSpc>
            </a:pPr>
            <a:r>
              <a:rPr lang="en-IN" sz="950">
                <a:solidFill>
                  <a:srgbClr val="1A1A1A"/>
                </a:solidFill>
                <a:latin typeface="Arial" panose="020B0604020202020204" pitchFamily="34" charset="0"/>
              </a:rPr>
              <a:t>Model only labels; every label must appear verbatim; policy decides; secrets are never "needed"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8CD7BC01-906D-0289-41B8-3B0A52383641}"/>
              </a:ext>
            </a:extLst>
          </p:cNvPr>
          <p:cNvSpPr/>
          <p:nvPr/>
        </p:nvSpPr>
        <p:spPr>
          <a:xfrm>
            <a:off x="406400" y="3467100"/>
            <a:ext cx="2717800" cy="533400"/>
          </a:xfrm>
          <a:prstGeom prst="roundRect">
            <a:avLst>
              <a:gd name="adj" fmla="val 19048"/>
            </a:avLst>
          </a:prstGeom>
          <a:solidFill>
            <a:srgbClr val="2E75B6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28" name="Graphic 27" descr="cpu icon">
            <a:extLst>
              <a:ext uri="{FF2B5EF4-FFF2-40B4-BE49-F238E27FC236}">
                <a16:creationId xmlns:a16="http://schemas.microsoft.com/office/drawing/2014/main" id="{D8BC38C6-1981-5AEB-A0FF-3E832D4DEE78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08000" y="3606800"/>
            <a:ext cx="254000" cy="254000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34B00C25-10FC-3C0E-1D89-67C680034E90}"/>
              </a:ext>
            </a:extLst>
          </p:cNvPr>
          <p:cNvSpPr txBox="1"/>
          <p:nvPr/>
        </p:nvSpPr>
        <p:spPr>
          <a:xfrm>
            <a:off x="863600" y="3467100"/>
            <a:ext cx="2184400" cy="5334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>
              <a:lnSpc>
                <a:spcPct val="98000"/>
              </a:lnSpc>
            </a:pPr>
            <a:r>
              <a:rPr lang="en-IN" sz="1000" b="1">
                <a:solidFill>
                  <a:srgbClr val="FFFFFF"/>
                </a:solidFill>
                <a:latin typeface="Arial" panose="020B0604020202020204" pitchFamily="34" charset="0"/>
              </a:rPr>
              <a:t>Devices without on-device AI</a:t>
            </a:r>
          </a:p>
        </p:txBody>
      </p:sp>
      <p:sp>
        <p:nvSpPr>
          <p:cNvPr id="30" name="Arrow: Right 29">
            <a:extLst>
              <a:ext uri="{FF2B5EF4-FFF2-40B4-BE49-F238E27FC236}">
                <a16:creationId xmlns:a16="http://schemas.microsoft.com/office/drawing/2014/main" id="{95BE42D1-F854-6201-33EB-ADA0B68C6CFE}"/>
              </a:ext>
            </a:extLst>
          </p:cNvPr>
          <p:cNvSpPr/>
          <p:nvPr/>
        </p:nvSpPr>
        <p:spPr>
          <a:xfrm>
            <a:off x="3200400" y="3632200"/>
            <a:ext cx="304800" cy="203200"/>
          </a:xfrm>
          <a:prstGeom prst="rightArrow">
            <a:avLst/>
          </a:prstGeom>
          <a:solidFill>
            <a:srgbClr val="1F497D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496D1B2D-847F-77FE-07BE-5DA5E00EA554}"/>
              </a:ext>
            </a:extLst>
          </p:cNvPr>
          <p:cNvSpPr/>
          <p:nvPr/>
        </p:nvSpPr>
        <p:spPr>
          <a:xfrm>
            <a:off x="3581400" y="3467100"/>
            <a:ext cx="4064000" cy="533400"/>
          </a:xfrm>
          <a:prstGeom prst="roundRect">
            <a:avLst>
              <a:gd name="adj" fmla="val 19048"/>
            </a:avLst>
          </a:prstGeom>
          <a:solidFill>
            <a:srgbClr val="E2F4E8"/>
          </a:solidFill>
          <a:ln w="9525">
            <a:solidFill>
              <a:srgbClr val="B9E2C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160C6A4-3DD7-3006-4A3F-A79B15D35D8D}"/>
              </a:ext>
            </a:extLst>
          </p:cNvPr>
          <p:cNvSpPr txBox="1"/>
          <p:nvPr/>
        </p:nvSpPr>
        <p:spPr>
          <a:xfrm>
            <a:off x="3708400" y="3467100"/>
            <a:ext cx="3860800" cy="5334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>
              <a:lnSpc>
                <a:spcPct val="98000"/>
              </a:lnSpc>
            </a:pPr>
            <a:r>
              <a:rPr lang="en-IN" sz="950">
                <a:solidFill>
                  <a:srgbClr val="1A1A1A"/>
                </a:solidFill>
                <a:latin typeface="Arial" panose="020B0604020202020204" pitchFamily="34" charset="0"/>
              </a:rPr>
              <a:t>Basic mode works in every Chromium browser; Smart mode is optional and falls back after 0.7 s</a:t>
            </a:r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D83E511F-4BCD-27E6-3927-2F136077AE20}"/>
              </a:ext>
            </a:extLst>
          </p:cNvPr>
          <p:cNvSpPr/>
          <p:nvPr/>
        </p:nvSpPr>
        <p:spPr>
          <a:xfrm>
            <a:off x="7924800" y="1219200"/>
            <a:ext cx="4038600" cy="2895600"/>
          </a:xfrm>
          <a:prstGeom prst="roundRect">
            <a:avLst>
              <a:gd name="adj" fmla="val 7895"/>
            </a:avLst>
          </a:prstGeom>
          <a:gradFill flip="none" rotWithShape="1">
            <a:gsLst>
              <a:gs pos="0">
                <a:srgbClr val="E1D9F4"/>
              </a:gs>
              <a:gs pos="100000">
                <a:srgbClr val="EFEAFA"/>
              </a:gs>
            </a:gsLst>
            <a:lin ang="5400000" scaled="1"/>
            <a:tileRect/>
          </a:gra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6EFAC89-8A74-8F53-AB68-A02812E094A1}"/>
              </a:ext>
            </a:extLst>
          </p:cNvPr>
          <p:cNvSpPr txBox="1"/>
          <p:nvPr/>
        </p:nvSpPr>
        <p:spPr>
          <a:xfrm>
            <a:off x="7924800" y="1282700"/>
            <a:ext cx="4038600" cy="3302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IN" sz="1700" b="1">
                <a:latin typeface="Arial" panose="020B0604020202020204" pitchFamily="34" charset="0"/>
              </a:rPr>
              <a:t>Technical Feasibility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4E7BF98-8DB5-23DE-E088-E4915D45D299}"/>
              </a:ext>
            </a:extLst>
          </p:cNvPr>
          <p:cNvSpPr txBox="1"/>
          <p:nvPr/>
        </p:nvSpPr>
        <p:spPr>
          <a:xfrm>
            <a:off x="8128000" y="1676400"/>
            <a:ext cx="3683000" cy="1727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marL="177800" indent="-177800">
              <a:spcAft>
                <a:spcPts val="600"/>
              </a:spcAft>
              <a:buClr>
                <a:srgbClr val="2E9E5B"/>
              </a:buClr>
              <a:buSzPct val="100000"/>
              <a:buFont typeface="Segoe UI Symbol" panose="020B0502040204020203" pitchFamily="34" charset="0"/>
              <a:buChar char="✓"/>
            </a:pPr>
            <a:r>
              <a:rPr lang="en-IN" sz="1050">
                <a:solidFill>
                  <a:srgbClr val="1A1A1A"/>
                </a:solidFill>
                <a:latin typeface="Arial" panose="020B0604020202020204" pitchFamily="34" charset="0"/>
              </a:rPr>
              <a:t>Working </a:t>
            </a:r>
            <a:r>
              <a:rPr lang="en-IN" sz="1050" b="1">
                <a:solidFill>
                  <a:srgbClr val="1A1A1A"/>
                </a:solidFill>
                <a:latin typeface="Arial" panose="020B0604020202020204" pitchFamily="34" charset="0"/>
              </a:rPr>
              <a:t>Chrome extension</a:t>
            </a:r>
            <a:r>
              <a:rPr lang="en-IN" sz="1050">
                <a:solidFill>
                  <a:srgbClr val="1A1A1A"/>
                </a:solidFill>
                <a:latin typeface="Arial" panose="020B0604020202020204" pitchFamily="34" charset="0"/>
              </a:rPr>
              <a:t>, demo chat page and playground</a:t>
            </a:r>
          </a:p>
          <a:p>
            <a:pPr marL="177800" indent="-177800">
              <a:spcAft>
                <a:spcPts val="600"/>
              </a:spcAft>
              <a:buClr>
                <a:srgbClr val="2E9E5B"/>
              </a:buClr>
              <a:buSzPct val="100000"/>
              <a:buFont typeface="Segoe UI Symbol" panose="020B0502040204020203" pitchFamily="34" charset="0"/>
              <a:buChar char="✓"/>
            </a:pPr>
            <a:r>
              <a:rPr lang="en-IN" sz="1050" b="1">
                <a:solidFill>
                  <a:srgbClr val="1A1A1A"/>
                </a:solidFill>
                <a:latin typeface="Arial" panose="020B0604020202020204" pitchFamily="34" charset="0"/>
              </a:rPr>
              <a:t>169 unit tests</a:t>
            </a:r>
            <a:r>
              <a:rPr lang="en-IN" sz="1050">
                <a:solidFill>
                  <a:srgbClr val="1A1A1A"/>
                </a:solidFill>
                <a:latin typeface="Arial" panose="020B0604020202020204" pitchFamily="34" charset="0"/>
              </a:rPr>
              <a:t> + </a:t>
            </a:r>
            <a:r>
              <a:rPr lang="en-IN" sz="1050" b="1">
                <a:solidFill>
                  <a:srgbClr val="1A1A1A"/>
                </a:solidFill>
                <a:latin typeface="Arial" panose="020B0604020202020204" pitchFamily="34" charset="0"/>
              </a:rPr>
              <a:t>30 end-to-end</a:t>
            </a:r>
            <a:r>
              <a:rPr lang="en-IN" sz="1050">
                <a:solidFill>
                  <a:srgbClr val="1A1A1A"/>
                </a:solidFill>
                <a:latin typeface="Arial" panose="020B0604020202020204" pitchFamily="34" charset="0"/>
              </a:rPr>
              <a:t> checks, all passing</a:t>
            </a:r>
          </a:p>
          <a:p>
            <a:pPr marL="177800" indent="-177800">
              <a:spcAft>
                <a:spcPts val="600"/>
              </a:spcAft>
              <a:buClr>
                <a:srgbClr val="2E9E5B"/>
              </a:buClr>
              <a:buSzPct val="100000"/>
              <a:buFont typeface="Segoe UI Symbol" panose="020B0502040204020203" pitchFamily="34" charset="0"/>
              <a:buChar char="✓"/>
            </a:pPr>
            <a:r>
              <a:rPr lang="en-IN" sz="1050">
                <a:solidFill>
                  <a:srgbClr val="1A1A1A"/>
                </a:solidFill>
                <a:latin typeface="Arial" panose="020B0604020202020204" pitchFamily="34" charset="0"/>
              </a:rPr>
              <a:t>Works on </a:t>
            </a:r>
            <a:r>
              <a:rPr lang="en-IN" sz="1050" b="1">
                <a:solidFill>
                  <a:srgbClr val="1A1A1A"/>
                </a:solidFill>
                <a:latin typeface="Arial" panose="020B0604020202020204" pitchFamily="34" charset="0"/>
              </a:rPr>
              <a:t>ChatGPT, Claude, Gemini, Copilot</a:t>
            </a:r>
            <a:r>
              <a:rPr lang="en-IN" sz="1050">
                <a:solidFill>
                  <a:srgbClr val="1A1A1A"/>
                </a:solidFill>
                <a:latin typeface="Arial" panose="020B0604020202020204" pitchFamily="34" charset="0"/>
              </a:rPr>
              <a:t> and more</a:t>
            </a:r>
          </a:p>
          <a:p>
            <a:pPr marL="177800" indent="-177800">
              <a:spcAft>
                <a:spcPts val="600"/>
              </a:spcAft>
              <a:buClr>
                <a:srgbClr val="2E9E5B"/>
              </a:buClr>
              <a:buSzPct val="100000"/>
              <a:buFont typeface="Segoe UI Symbol" panose="020B0502040204020203" pitchFamily="34" charset="0"/>
              <a:buChar char="✓"/>
            </a:pPr>
            <a:r>
              <a:rPr lang="en-IN" sz="1050" b="1">
                <a:solidFill>
                  <a:srgbClr val="1A1A1A"/>
                </a:solidFill>
                <a:latin typeface="Arial" panose="020B0604020202020204" pitchFamily="34" charset="0"/>
              </a:rPr>
              <a:t>No backend</a:t>
            </a:r>
            <a:r>
              <a:rPr lang="en-IN" sz="1050">
                <a:solidFill>
                  <a:srgbClr val="1A1A1A"/>
                </a:solidFill>
                <a:latin typeface="Arial" panose="020B0604020202020204" pitchFamily="34" charset="0"/>
              </a:rPr>
              <a:t>: nothing to host, scale or breach</a:t>
            </a:r>
          </a:p>
          <a:p>
            <a:pPr marL="177800" indent="-177800">
              <a:spcAft>
                <a:spcPts val="600"/>
              </a:spcAft>
              <a:buClr>
                <a:srgbClr val="2E9E5B"/>
              </a:buClr>
              <a:buSzPct val="100000"/>
              <a:buFont typeface="Segoe UI Symbol" panose="020B0502040204020203" pitchFamily="34" charset="0"/>
              <a:buChar char="✓"/>
            </a:pPr>
            <a:r>
              <a:rPr lang="en-IN" sz="1050" b="1">
                <a:solidFill>
                  <a:srgbClr val="1A1A1A"/>
                </a:solidFill>
                <a:latin typeface="Arial" panose="020B0604020202020204" pitchFamily="34" charset="0"/>
              </a:rPr>
              <a:t>Org-wide policy</a:t>
            </a:r>
            <a:r>
              <a:rPr lang="en-IN" sz="1050">
                <a:solidFill>
                  <a:srgbClr val="1A1A1A"/>
                </a:solidFill>
                <a:latin typeface="Arial" panose="020B0604020202020204" pitchFamily="34" charset="0"/>
              </a:rPr>
              <a:t> via Chrome managed storage</a:t>
            </a:r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02531D9C-C186-AF9E-92FB-2FDFC8DEC30A}"/>
              </a:ext>
            </a:extLst>
          </p:cNvPr>
          <p:cNvSpPr/>
          <p:nvPr/>
        </p:nvSpPr>
        <p:spPr>
          <a:xfrm>
            <a:off x="8077200" y="3454400"/>
            <a:ext cx="889000" cy="533400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25400" cap="flat" cmpd="sng" algn="ctr">
            <a:noFill/>
            <a:prstDash val="solid"/>
          </a:ln>
          <a:effectLst>
            <a:outerShdw blurRad="101600" dist="25400" dir="5400000" rotWithShape="0">
              <a:srgbClr val="1E293B">
                <a:alpha val="18000"/>
              </a:srgbClr>
            </a:outerShdw>
          </a:effectLst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F8D83E0-CDC9-63CE-DE63-459740C55363}"/>
              </a:ext>
            </a:extLst>
          </p:cNvPr>
          <p:cNvSpPr txBox="1"/>
          <p:nvPr/>
        </p:nvSpPr>
        <p:spPr>
          <a:xfrm>
            <a:off x="8077200" y="3479800"/>
            <a:ext cx="8890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IN" sz="1600" b="1">
                <a:solidFill>
                  <a:srgbClr val="6F4FB0"/>
                </a:solidFill>
                <a:latin typeface="Arial" panose="020B0604020202020204" pitchFamily="34" charset="0"/>
              </a:rPr>
              <a:t>28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147C86A-71C4-FB2C-6F8A-75D3E8BF1E94}"/>
              </a:ext>
            </a:extLst>
          </p:cNvPr>
          <p:cNvSpPr txBox="1"/>
          <p:nvPr/>
        </p:nvSpPr>
        <p:spPr>
          <a:xfrm>
            <a:off x="8077200" y="3746500"/>
            <a:ext cx="889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IN" sz="850">
                <a:solidFill>
                  <a:srgbClr val="55606E"/>
                </a:solidFill>
                <a:latin typeface="Arial" panose="020B0604020202020204" pitchFamily="34" charset="0"/>
              </a:rPr>
              <a:t>data types</a:t>
            </a:r>
          </a:p>
        </p:txBody>
      </p:sp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58A0FB36-6519-58F2-C796-AF831B021699}"/>
              </a:ext>
            </a:extLst>
          </p:cNvPr>
          <p:cNvSpPr/>
          <p:nvPr/>
        </p:nvSpPr>
        <p:spPr>
          <a:xfrm>
            <a:off x="9017000" y="3454400"/>
            <a:ext cx="889000" cy="533400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25400" cap="flat" cmpd="sng" algn="ctr">
            <a:noFill/>
            <a:prstDash val="solid"/>
          </a:ln>
          <a:effectLst>
            <a:outerShdw blurRad="101600" dist="25400" dir="5400000" rotWithShape="0">
              <a:srgbClr val="1E293B">
                <a:alpha val="18000"/>
              </a:srgbClr>
            </a:outerShdw>
          </a:effectLst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807FF5D8-AA6B-D85E-3979-C35BEAA02949}"/>
              </a:ext>
            </a:extLst>
          </p:cNvPr>
          <p:cNvSpPr txBox="1"/>
          <p:nvPr/>
        </p:nvSpPr>
        <p:spPr>
          <a:xfrm>
            <a:off x="9017000" y="3479800"/>
            <a:ext cx="8890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IN" sz="1600" b="1">
                <a:solidFill>
                  <a:srgbClr val="6F4FB0"/>
                </a:solidFill>
                <a:latin typeface="Arial" panose="020B0604020202020204" pitchFamily="34" charset="0"/>
              </a:rPr>
              <a:t>6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A275D70-D6EA-2273-82F0-B97E0E02E676}"/>
              </a:ext>
            </a:extLst>
          </p:cNvPr>
          <p:cNvSpPr txBox="1"/>
          <p:nvPr/>
        </p:nvSpPr>
        <p:spPr>
          <a:xfrm>
            <a:off x="9017000" y="3746500"/>
            <a:ext cx="889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IN" sz="850">
                <a:solidFill>
                  <a:srgbClr val="55606E"/>
                </a:solidFill>
                <a:latin typeface="Arial" panose="020B0604020202020204" pitchFamily="34" charset="0"/>
              </a:rPr>
              <a:t>actions</a:t>
            </a:r>
          </a:p>
        </p:txBody>
      </p:sp>
      <p:sp>
        <p:nvSpPr>
          <p:cNvPr id="42" name="Rectangle: Rounded Corners 41">
            <a:extLst>
              <a:ext uri="{FF2B5EF4-FFF2-40B4-BE49-F238E27FC236}">
                <a16:creationId xmlns:a16="http://schemas.microsoft.com/office/drawing/2014/main" id="{AF8C9D7F-F786-896A-383F-EC735E07F850}"/>
              </a:ext>
            </a:extLst>
          </p:cNvPr>
          <p:cNvSpPr/>
          <p:nvPr/>
        </p:nvSpPr>
        <p:spPr>
          <a:xfrm>
            <a:off x="9956800" y="3454400"/>
            <a:ext cx="889000" cy="533400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25400" cap="flat" cmpd="sng" algn="ctr">
            <a:noFill/>
            <a:prstDash val="solid"/>
          </a:ln>
          <a:effectLst>
            <a:outerShdw blurRad="101600" dist="25400" dir="5400000" rotWithShape="0">
              <a:srgbClr val="1E293B">
                <a:alpha val="18000"/>
              </a:srgbClr>
            </a:outerShdw>
          </a:effectLst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A407BD7-14B9-6FAA-4D2A-51044F504AB2}"/>
              </a:ext>
            </a:extLst>
          </p:cNvPr>
          <p:cNvSpPr txBox="1"/>
          <p:nvPr/>
        </p:nvSpPr>
        <p:spPr>
          <a:xfrm>
            <a:off x="9956800" y="3479800"/>
            <a:ext cx="8890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IN" sz="1600" b="1">
                <a:solidFill>
                  <a:srgbClr val="6F4FB0"/>
                </a:solidFill>
                <a:latin typeface="Arial" panose="020B0604020202020204" pitchFamily="34" charset="0"/>
              </a:rPr>
              <a:t>4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373CBF9-E90E-3A0D-6E7F-414A45941968}"/>
              </a:ext>
            </a:extLst>
          </p:cNvPr>
          <p:cNvSpPr txBox="1"/>
          <p:nvPr/>
        </p:nvSpPr>
        <p:spPr>
          <a:xfrm>
            <a:off x="9956800" y="3746500"/>
            <a:ext cx="889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IN" sz="850">
                <a:solidFill>
                  <a:srgbClr val="55606E"/>
                </a:solidFill>
                <a:latin typeface="Arial" panose="020B0604020202020204" pitchFamily="34" charset="0"/>
              </a:rPr>
              <a:t>profiles</a:t>
            </a:r>
          </a:p>
        </p:txBody>
      </p:sp>
      <p:sp>
        <p:nvSpPr>
          <p:cNvPr id="45" name="Rectangle: Rounded Corners 44">
            <a:extLst>
              <a:ext uri="{FF2B5EF4-FFF2-40B4-BE49-F238E27FC236}">
                <a16:creationId xmlns:a16="http://schemas.microsoft.com/office/drawing/2014/main" id="{F655CF01-25F1-60F7-C465-EB91232C08C8}"/>
              </a:ext>
            </a:extLst>
          </p:cNvPr>
          <p:cNvSpPr/>
          <p:nvPr/>
        </p:nvSpPr>
        <p:spPr>
          <a:xfrm>
            <a:off x="10896600" y="3454400"/>
            <a:ext cx="889000" cy="533400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25400" cap="flat" cmpd="sng" algn="ctr">
            <a:noFill/>
            <a:prstDash val="solid"/>
          </a:ln>
          <a:effectLst>
            <a:outerShdw blurRad="101600" dist="25400" dir="5400000" rotWithShape="0">
              <a:srgbClr val="1E293B">
                <a:alpha val="18000"/>
              </a:srgbClr>
            </a:outerShdw>
          </a:effectLst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9364F2D-C3D6-2A90-EBF6-2EEA6FC32BA0}"/>
              </a:ext>
            </a:extLst>
          </p:cNvPr>
          <p:cNvSpPr txBox="1"/>
          <p:nvPr/>
        </p:nvSpPr>
        <p:spPr>
          <a:xfrm>
            <a:off x="10896600" y="3479800"/>
            <a:ext cx="8890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IN" sz="1600" b="1">
                <a:solidFill>
                  <a:srgbClr val="6F4FB0"/>
                </a:solidFill>
                <a:latin typeface="Arial" panose="020B0604020202020204" pitchFamily="34" charset="0"/>
              </a:rPr>
              <a:t>40+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8FB9E059-3619-D2BC-FDC3-0D1B620CAB94}"/>
              </a:ext>
            </a:extLst>
          </p:cNvPr>
          <p:cNvSpPr txBox="1"/>
          <p:nvPr/>
        </p:nvSpPr>
        <p:spPr>
          <a:xfrm>
            <a:off x="10896600" y="3746500"/>
            <a:ext cx="889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IN" sz="850">
                <a:solidFill>
                  <a:srgbClr val="55606E"/>
                </a:solidFill>
                <a:latin typeface="Arial" panose="020B0604020202020204" pitchFamily="34" charset="0"/>
              </a:rPr>
              <a:t>secret formats</a:t>
            </a:r>
          </a:p>
        </p:txBody>
      </p:sp>
      <p:sp>
        <p:nvSpPr>
          <p:cNvPr id="48" name="Rectangle: Rounded Corners 47">
            <a:extLst>
              <a:ext uri="{FF2B5EF4-FFF2-40B4-BE49-F238E27FC236}">
                <a16:creationId xmlns:a16="http://schemas.microsoft.com/office/drawing/2014/main" id="{644BAC5B-D720-E26F-6C66-CFB475DAB773}"/>
              </a:ext>
            </a:extLst>
          </p:cNvPr>
          <p:cNvSpPr/>
          <p:nvPr/>
        </p:nvSpPr>
        <p:spPr>
          <a:xfrm>
            <a:off x="228600" y="4241800"/>
            <a:ext cx="4470400" cy="2006600"/>
          </a:xfrm>
          <a:prstGeom prst="roundRect">
            <a:avLst>
              <a:gd name="adj" fmla="val 6329"/>
            </a:avLst>
          </a:prstGeom>
          <a:solidFill>
            <a:srgbClr val="FFFFFF"/>
          </a:solidFill>
          <a:ln w="12700">
            <a:solidFill>
              <a:srgbClr val="D5DC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B3E9C28C-B102-60D9-903F-4D7CB558C763}"/>
              </a:ext>
            </a:extLst>
          </p:cNvPr>
          <p:cNvSpPr txBox="1"/>
          <p:nvPr/>
        </p:nvSpPr>
        <p:spPr>
          <a:xfrm>
            <a:off x="381000" y="4318000"/>
            <a:ext cx="3048000" cy="2032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IN" sz="1150" b="1">
                <a:solidFill>
                  <a:srgbClr val="1F497D"/>
                </a:solidFill>
                <a:latin typeface="Arial" panose="020B0604020202020204" pitchFamily="34" charset="0"/>
              </a:rPr>
              <a:t>Risk score: before vs after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B9990861-3F14-8F41-F434-5BAE3BFFD118}"/>
              </a:ext>
            </a:extLst>
          </p:cNvPr>
          <p:cNvSpPr txBox="1"/>
          <p:nvPr/>
        </p:nvSpPr>
        <p:spPr>
          <a:xfrm>
            <a:off x="381000" y="4508500"/>
            <a:ext cx="3048000" cy="1524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IN" sz="800">
                <a:solidFill>
                  <a:srgbClr val="55606E"/>
                </a:solidFill>
                <a:latin typeface="Arial" panose="020B0604020202020204" pitchFamily="34" charset="0"/>
              </a:rPr>
              <a:t>real engine output on sample prompts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0F7BAB3B-69FE-A0D6-EC10-8F07F3B4FD56}"/>
              </a:ext>
            </a:extLst>
          </p:cNvPr>
          <p:cNvSpPr/>
          <p:nvPr/>
        </p:nvSpPr>
        <p:spPr>
          <a:xfrm>
            <a:off x="3403600" y="4368800"/>
            <a:ext cx="101600" cy="101600"/>
          </a:xfrm>
          <a:prstGeom prst="rect">
            <a:avLst/>
          </a:prstGeom>
          <a:solidFill>
            <a:srgbClr val="D9473F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C20C635F-6163-0583-EAED-AA5C4AD94412}"/>
              </a:ext>
            </a:extLst>
          </p:cNvPr>
          <p:cNvSpPr txBox="1"/>
          <p:nvPr/>
        </p:nvSpPr>
        <p:spPr>
          <a:xfrm>
            <a:off x="3543300" y="4330700"/>
            <a:ext cx="508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IN" sz="800">
                <a:solidFill>
                  <a:srgbClr val="1A1A1A"/>
                </a:solidFill>
                <a:latin typeface="Arial" panose="020B0604020202020204" pitchFamily="34" charset="0"/>
              </a:rPr>
              <a:t>Before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B768243C-F3AD-8549-0D6C-A8AC165E0329}"/>
              </a:ext>
            </a:extLst>
          </p:cNvPr>
          <p:cNvSpPr/>
          <p:nvPr/>
        </p:nvSpPr>
        <p:spPr>
          <a:xfrm>
            <a:off x="3987800" y="4368800"/>
            <a:ext cx="101600" cy="101600"/>
          </a:xfrm>
          <a:prstGeom prst="rect">
            <a:avLst/>
          </a:prstGeom>
          <a:solidFill>
            <a:srgbClr val="2E9E5B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177AEE95-04B0-AB32-8E7D-0E9450140BAB}"/>
              </a:ext>
            </a:extLst>
          </p:cNvPr>
          <p:cNvSpPr txBox="1"/>
          <p:nvPr/>
        </p:nvSpPr>
        <p:spPr>
          <a:xfrm>
            <a:off x="4127500" y="4330700"/>
            <a:ext cx="508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IN" sz="800">
                <a:solidFill>
                  <a:srgbClr val="1A1A1A"/>
                </a:solidFill>
                <a:latin typeface="Arial" panose="020B0604020202020204" pitchFamily="34" charset="0"/>
              </a:rPr>
              <a:t>After</a:t>
            </a:r>
          </a:p>
        </p:txBody>
      </p: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FB3370D7-A5C0-2180-1418-C7BA15A3B289}"/>
              </a:ext>
            </a:extLst>
          </p:cNvPr>
          <p:cNvCxnSpPr/>
          <p:nvPr/>
        </p:nvCxnSpPr>
        <p:spPr>
          <a:xfrm>
            <a:off x="381000" y="5918200"/>
            <a:ext cx="4191000" cy="0"/>
          </a:xfrm>
          <a:prstGeom prst="straightConnector1">
            <a:avLst/>
          </a:prstGeom>
          <a:ln w="9525">
            <a:solidFill>
              <a:srgbClr val="B8C2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Rectangle 55">
            <a:extLst>
              <a:ext uri="{FF2B5EF4-FFF2-40B4-BE49-F238E27FC236}">
                <a16:creationId xmlns:a16="http://schemas.microsoft.com/office/drawing/2014/main" id="{52694851-B928-DB97-31C7-740A74346B1D}"/>
              </a:ext>
            </a:extLst>
          </p:cNvPr>
          <p:cNvSpPr/>
          <p:nvPr/>
        </p:nvSpPr>
        <p:spPr>
          <a:xfrm>
            <a:off x="482600" y="4887214"/>
            <a:ext cx="279400" cy="1030986"/>
          </a:xfrm>
          <a:prstGeom prst="rect">
            <a:avLst/>
          </a:prstGeom>
          <a:solidFill>
            <a:srgbClr val="D9473F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FF196D42-BBBC-E82A-D784-A0BE286A7D18}"/>
              </a:ext>
            </a:extLst>
          </p:cNvPr>
          <p:cNvSpPr/>
          <p:nvPr/>
        </p:nvSpPr>
        <p:spPr>
          <a:xfrm>
            <a:off x="800100" y="5491226"/>
            <a:ext cx="279400" cy="426974"/>
          </a:xfrm>
          <a:prstGeom prst="rect">
            <a:avLst/>
          </a:prstGeom>
          <a:solidFill>
            <a:srgbClr val="2E9E5B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86D1AE68-7D92-0DA5-46B0-E51434348DE7}"/>
              </a:ext>
            </a:extLst>
          </p:cNvPr>
          <p:cNvSpPr txBox="1"/>
          <p:nvPr/>
        </p:nvSpPr>
        <p:spPr>
          <a:xfrm>
            <a:off x="431800" y="4722114"/>
            <a:ext cx="381000" cy="1524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IN" sz="800" b="1">
                <a:solidFill>
                  <a:srgbClr val="D9473F"/>
                </a:solidFill>
                <a:latin typeface="Arial" panose="020B0604020202020204" pitchFamily="34" charset="0"/>
              </a:rPr>
              <a:t>99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324503C2-7DD9-B754-EC21-787A25C5A8F9}"/>
              </a:ext>
            </a:extLst>
          </p:cNvPr>
          <p:cNvSpPr txBox="1"/>
          <p:nvPr/>
        </p:nvSpPr>
        <p:spPr>
          <a:xfrm>
            <a:off x="749300" y="5326126"/>
            <a:ext cx="381000" cy="1524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IN" sz="800" b="1">
                <a:solidFill>
                  <a:srgbClr val="2E9E5B"/>
                </a:solidFill>
                <a:latin typeface="Arial" panose="020B0604020202020204" pitchFamily="34" charset="0"/>
              </a:rPr>
              <a:t>41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5B735971-EFB3-88F2-38A4-CF52FC30314D}"/>
              </a:ext>
            </a:extLst>
          </p:cNvPr>
          <p:cNvSpPr txBox="1"/>
          <p:nvPr/>
        </p:nvSpPr>
        <p:spPr>
          <a:xfrm>
            <a:off x="355600" y="5956300"/>
            <a:ext cx="889000" cy="1524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IN" sz="800">
                <a:solidFill>
                  <a:srgbClr val="1A1A1A"/>
                </a:solidFill>
                <a:latin typeface="Arial" panose="020B0604020202020204" pitchFamily="34" charset="0"/>
              </a:rPr>
              <a:t>Patient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CC01FCA3-FA08-AC2D-4E70-746DC379B223}"/>
              </a:ext>
            </a:extLst>
          </p:cNvPr>
          <p:cNvSpPr/>
          <p:nvPr/>
        </p:nvSpPr>
        <p:spPr>
          <a:xfrm>
            <a:off x="1295400" y="4876800"/>
            <a:ext cx="279400" cy="1041400"/>
          </a:xfrm>
          <a:prstGeom prst="rect">
            <a:avLst/>
          </a:prstGeom>
          <a:solidFill>
            <a:srgbClr val="D9473F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07E98DC6-1C64-B83E-B44E-E884870AFE4E}"/>
              </a:ext>
            </a:extLst>
          </p:cNvPr>
          <p:cNvSpPr/>
          <p:nvPr/>
        </p:nvSpPr>
        <p:spPr>
          <a:xfrm>
            <a:off x="1612900" y="5449570"/>
            <a:ext cx="279400" cy="468630"/>
          </a:xfrm>
          <a:prstGeom prst="rect">
            <a:avLst/>
          </a:prstGeom>
          <a:solidFill>
            <a:srgbClr val="2E9E5B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5D5FF06F-4870-CB5F-C2B8-7BD349BB0BFC}"/>
              </a:ext>
            </a:extLst>
          </p:cNvPr>
          <p:cNvSpPr txBox="1"/>
          <p:nvPr/>
        </p:nvSpPr>
        <p:spPr>
          <a:xfrm>
            <a:off x="1244600" y="4711700"/>
            <a:ext cx="381000" cy="1524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IN" sz="800" b="1">
                <a:solidFill>
                  <a:srgbClr val="D9473F"/>
                </a:solidFill>
                <a:latin typeface="Arial" panose="020B0604020202020204" pitchFamily="34" charset="0"/>
              </a:rPr>
              <a:t>100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9C03F4C8-1D86-D01D-CDB6-EEFB93D1747D}"/>
              </a:ext>
            </a:extLst>
          </p:cNvPr>
          <p:cNvSpPr txBox="1"/>
          <p:nvPr/>
        </p:nvSpPr>
        <p:spPr>
          <a:xfrm>
            <a:off x="1562100" y="5284470"/>
            <a:ext cx="381000" cy="1524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IN" sz="800" b="1">
                <a:solidFill>
                  <a:srgbClr val="2E9E5B"/>
                </a:solidFill>
                <a:latin typeface="Arial" panose="020B0604020202020204" pitchFamily="34" charset="0"/>
              </a:rPr>
              <a:t>45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4D7B2181-C650-C712-3AA2-BCF228258D3E}"/>
              </a:ext>
            </a:extLst>
          </p:cNvPr>
          <p:cNvSpPr txBox="1"/>
          <p:nvPr/>
        </p:nvSpPr>
        <p:spPr>
          <a:xfrm>
            <a:off x="1168400" y="5956300"/>
            <a:ext cx="889000" cy="1524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IN" sz="800">
                <a:solidFill>
                  <a:srgbClr val="1A1A1A"/>
                </a:solidFill>
                <a:latin typeface="Arial" panose="020B0604020202020204" pitchFamily="34" charset="0"/>
              </a:rPr>
              <a:t>Banking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2545BFB1-F503-56C5-CD2E-6EFB8C5CFCDD}"/>
              </a:ext>
            </a:extLst>
          </p:cNvPr>
          <p:cNvSpPr/>
          <p:nvPr/>
        </p:nvSpPr>
        <p:spPr>
          <a:xfrm>
            <a:off x="2108200" y="4928870"/>
            <a:ext cx="279400" cy="989330"/>
          </a:xfrm>
          <a:prstGeom prst="rect">
            <a:avLst/>
          </a:prstGeom>
          <a:solidFill>
            <a:srgbClr val="D9473F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C25DB1B5-A4FD-E102-2203-EAA0E4DE3CE6}"/>
              </a:ext>
            </a:extLst>
          </p:cNvPr>
          <p:cNvSpPr/>
          <p:nvPr/>
        </p:nvSpPr>
        <p:spPr>
          <a:xfrm>
            <a:off x="2425700" y="5407914"/>
            <a:ext cx="279400" cy="510286"/>
          </a:xfrm>
          <a:prstGeom prst="rect">
            <a:avLst/>
          </a:prstGeom>
          <a:solidFill>
            <a:srgbClr val="2E9E5B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1F435329-A10D-DF7B-6214-87067A7435BF}"/>
              </a:ext>
            </a:extLst>
          </p:cNvPr>
          <p:cNvSpPr txBox="1"/>
          <p:nvPr/>
        </p:nvSpPr>
        <p:spPr>
          <a:xfrm>
            <a:off x="2057400" y="4763770"/>
            <a:ext cx="381000" cy="1524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IN" sz="800" b="1">
                <a:solidFill>
                  <a:srgbClr val="D9473F"/>
                </a:solidFill>
                <a:latin typeface="Arial" panose="020B0604020202020204" pitchFamily="34" charset="0"/>
              </a:rPr>
              <a:t>95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B9A6E897-8FCA-A40E-EED8-B615C1FAE774}"/>
              </a:ext>
            </a:extLst>
          </p:cNvPr>
          <p:cNvSpPr txBox="1"/>
          <p:nvPr/>
        </p:nvSpPr>
        <p:spPr>
          <a:xfrm>
            <a:off x="2374900" y="5242814"/>
            <a:ext cx="381000" cy="1524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IN" sz="800" b="1">
                <a:solidFill>
                  <a:srgbClr val="2E9E5B"/>
                </a:solidFill>
                <a:latin typeface="Arial" panose="020B0604020202020204" pitchFamily="34" charset="0"/>
              </a:rPr>
              <a:t>49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3EB74296-2AEE-EBCB-77B3-D140A0F7295A}"/>
              </a:ext>
            </a:extLst>
          </p:cNvPr>
          <p:cNvSpPr txBox="1"/>
          <p:nvPr/>
        </p:nvSpPr>
        <p:spPr>
          <a:xfrm>
            <a:off x="1981200" y="5956300"/>
            <a:ext cx="889000" cy="1524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IN" sz="800">
                <a:solidFill>
                  <a:srgbClr val="1A1A1A"/>
                </a:solidFill>
                <a:latin typeface="Arial" panose="020B0604020202020204" pitchFamily="34" charset="0"/>
              </a:rPr>
              <a:t>Memo</a:t>
            </a:r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833EE885-23D2-6428-DE52-9B57DD8EC4E3}"/>
              </a:ext>
            </a:extLst>
          </p:cNvPr>
          <p:cNvSpPr/>
          <p:nvPr/>
        </p:nvSpPr>
        <p:spPr>
          <a:xfrm>
            <a:off x="2921000" y="4876800"/>
            <a:ext cx="279400" cy="1041400"/>
          </a:xfrm>
          <a:prstGeom prst="rect">
            <a:avLst/>
          </a:prstGeom>
          <a:solidFill>
            <a:srgbClr val="D9473F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2578B9BD-6FC2-F6D0-741C-5D224D31DE23}"/>
              </a:ext>
            </a:extLst>
          </p:cNvPr>
          <p:cNvSpPr/>
          <p:nvPr/>
        </p:nvSpPr>
        <p:spPr>
          <a:xfrm>
            <a:off x="3238500" y="5876544"/>
            <a:ext cx="279400" cy="41656"/>
          </a:xfrm>
          <a:prstGeom prst="rect">
            <a:avLst/>
          </a:prstGeom>
          <a:solidFill>
            <a:srgbClr val="2E9E5B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4AE5AEF2-4BC4-87D4-1D79-6B1627C04864}"/>
              </a:ext>
            </a:extLst>
          </p:cNvPr>
          <p:cNvSpPr txBox="1"/>
          <p:nvPr/>
        </p:nvSpPr>
        <p:spPr>
          <a:xfrm>
            <a:off x="2870200" y="4711700"/>
            <a:ext cx="381000" cy="1524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IN" sz="800" b="1">
                <a:solidFill>
                  <a:srgbClr val="D9473F"/>
                </a:solidFill>
                <a:latin typeface="Arial" panose="020B0604020202020204" pitchFamily="34" charset="0"/>
              </a:rPr>
              <a:t>100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3C20D69C-EADF-1FD3-5935-206F975348B4}"/>
              </a:ext>
            </a:extLst>
          </p:cNvPr>
          <p:cNvSpPr txBox="1"/>
          <p:nvPr/>
        </p:nvSpPr>
        <p:spPr>
          <a:xfrm>
            <a:off x="3187700" y="5711444"/>
            <a:ext cx="381000" cy="1524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IN" sz="800" b="1">
                <a:solidFill>
                  <a:srgbClr val="2E9E5B"/>
                </a:solidFill>
                <a:latin typeface="Arial" panose="020B0604020202020204" pitchFamily="34" charset="0"/>
              </a:rPr>
              <a:t>4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ED02BFD-E59A-E03C-5B83-90B026E21FCF}"/>
              </a:ext>
            </a:extLst>
          </p:cNvPr>
          <p:cNvSpPr txBox="1"/>
          <p:nvPr/>
        </p:nvSpPr>
        <p:spPr>
          <a:xfrm>
            <a:off x="2794000" y="5956300"/>
            <a:ext cx="889000" cy="1524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IN" sz="800">
                <a:solidFill>
                  <a:srgbClr val="1A1A1A"/>
                </a:solidFill>
                <a:latin typeface="Arial" panose="020B0604020202020204" pitchFamily="34" charset="0"/>
              </a:rPr>
              <a:t>Dev keys</a:t>
            </a: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E5E18150-0A35-1F7E-E18D-BBB36E42E325}"/>
              </a:ext>
            </a:extLst>
          </p:cNvPr>
          <p:cNvSpPr/>
          <p:nvPr/>
        </p:nvSpPr>
        <p:spPr>
          <a:xfrm>
            <a:off x="3733800" y="4876800"/>
            <a:ext cx="279400" cy="1041400"/>
          </a:xfrm>
          <a:prstGeom prst="rect">
            <a:avLst/>
          </a:prstGeom>
          <a:solidFill>
            <a:srgbClr val="D9473F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F9557373-382F-DA7C-A6C7-498292B64CC6}"/>
              </a:ext>
            </a:extLst>
          </p:cNvPr>
          <p:cNvSpPr/>
          <p:nvPr/>
        </p:nvSpPr>
        <p:spPr>
          <a:xfrm>
            <a:off x="4051300" y="5855716"/>
            <a:ext cx="279400" cy="62484"/>
          </a:xfrm>
          <a:prstGeom prst="rect">
            <a:avLst/>
          </a:prstGeom>
          <a:solidFill>
            <a:srgbClr val="2E9E5B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7CD6E22B-3B97-0C61-88EB-3E286A204D29}"/>
              </a:ext>
            </a:extLst>
          </p:cNvPr>
          <p:cNvSpPr txBox="1"/>
          <p:nvPr/>
        </p:nvSpPr>
        <p:spPr>
          <a:xfrm>
            <a:off x="3683000" y="4711700"/>
            <a:ext cx="381000" cy="1524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IN" sz="800" b="1">
                <a:solidFill>
                  <a:srgbClr val="D9473F"/>
                </a:solidFill>
                <a:latin typeface="Arial" panose="020B0604020202020204" pitchFamily="34" charset="0"/>
              </a:rPr>
              <a:t>100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975C09A1-6C0E-BC40-A2D2-2AFD56A1D780}"/>
              </a:ext>
            </a:extLst>
          </p:cNvPr>
          <p:cNvSpPr txBox="1"/>
          <p:nvPr/>
        </p:nvSpPr>
        <p:spPr>
          <a:xfrm>
            <a:off x="4000500" y="5690616"/>
            <a:ext cx="381000" cy="1524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IN" sz="800" b="1">
                <a:solidFill>
                  <a:srgbClr val="2E9E5B"/>
                </a:solidFill>
                <a:latin typeface="Arial" panose="020B0604020202020204" pitchFamily="34" charset="0"/>
              </a:rPr>
              <a:t>6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FE159569-186B-3502-B749-C25E48CCFB56}"/>
              </a:ext>
            </a:extLst>
          </p:cNvPr>
          <p:cNvSpPr txBox="1"/>
          <p:nvPr/>
        </p:nvSpPr>
        <p:spPr>
          <a:xfrm>
            <a:off x="3606800" y="5956300"/>
            <a:ext cx="889000" cy="1524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IN" sz="800">
                <a:solidFill>
                  <a:srgbClr val="1A1A1A"/>
                </a:solidFill>
                <a:latin typeface="Arial" panose="020B0604020202020204" pitchFamily="34" charset="0"/>
              </a:rPr>
              <a:t>JSON config</a:t>
            </a:r>
          </a:p>
        </p:txBody>
      </p:sp>
      <p:sp>
        <p:nvSpPr>
          <p:cNvPr id="81" name="Rectangle: Rounded Corners 80">
            <a:extLst>
              <a:ext uri="{FF2B5EF4-FFF2-40B4-BE49-F238E27FC236}">
                <a16:creationId xmlns:a16="http://schemas.microsoft.com/office/drawing/2014/main" id="{810242F8-7D8D-2AED-2A13-7246C82C255A}"/>
              </a:ext>
            </a:extLst>
          </p:cNvPr>
          <p:cNvSpPr/>
          <p:nvPr/>
        </p:nvSpPr>
        <p:spPr>
          <a:xfrm>
            <a:off x="4826000" y="4241800"/>
            <a:ext cx="3505200" cy="2006600"/>
          </a:xfrm>
          <a:prstGeom prst="roundRect">
            <a:avLst>
              <a:gd name="adj" fmla="val 6329"/>
            </a:avLst>
          </a:prstGeom>
          <a:solidFill>
            <a:srgbClr val="FFFFFF"/>
          </a:solidFill>
          <a:ln w="12700">
            <a:solidFill>
              <a:srgbClr val="D5DC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C39EAE25-CE16-E4E9-BF5F-B5B4DCF6E797}"/>
              </a:ext>
            </a:extLst>
          </p:cNvPr>
          <p:cNvSpPr txBox="1"/>
          <p:nvPr/>
        </p:nvSpPr>
        <p:spPr>
          <a:xfrm>
            <a:off x="4978400" y="4318000"/>
            <a:ext cx="3175000" cy="2032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IN" sz="1150" b="1">
                <a:solidFill>
                  <a:srgbClr val="1F497D"/>
                </a:solidFill>
                <a:latin typeface="Arial" panose="020B0604020202020204" pitchFamily="34" charset="0"/>
              </a:rPr>
              <a:t>Speed: analysis time vs prompt size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9148C6BB-5DEB-F1A5-0500-9321C1DDC0E6}"/>
              </a:ext>
            </a:extLst>
          </p:cNvPr>
          <p:cNvSpPr txBox="1"/>
          <p:nvPr/>
        </p:nvSpPr>
        <p:spPr>
          <a:xfrm>
            <a:off x="4978400" y="4508500"/>
            <a:ext cx="3175000" cy="1524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IN" sz="800">
                <a:solidFill>
                  <a:srgbClr val="55606E"/>
                </a:solidFill>
                <a:latin typeface="Arial" panose="020B0604020202020204" pitchFamily="34" charset="0"/>
              </a:rPr>
              <a:t>median of 9 runs, Basic mode, Enterprise profile</a:t>
            </a:r>
          </a:p>
        </p:txBody>
      </p:sp>
      <p:cxnSp>
        <p:nvCxnSpPr>
          <p:cNvPr id="84" name="Straight Arrow Connector 83">
            <a:extLst>
              <a:ext uri="{FF2B5EF4-FFF2-40B4-BE49-F238E27FC236}">
                <a16:creationId xmlns:a16="http://schemas.microsoft.com/office/drawing/2014/main" id="{BDAE59FA-1754-FC5B-1C60-CFECD7CB7181}"/>
              </a:ext>
            </a:extLst>
          </p:cNvPr>
          <p:cNvCxnSpPr/>
          <p:nvPr/>
        </p:nvCxnSpPr>
        <p:spPr>
          <a:xfrm>
            <a:off x="5257800" y="5918200"/>
            <a:ext cx="2870200" cy="0"/>
          </a:xfrm>
          <a:prstGeom prst="straightConnector1">
            <a:avLst/>
          </a:prstGeom>
          <a:ln w="9525">
            <a:solidFill>
              <a:srgbClr val="B8C2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Straight Arrow Connector 84">
            <a:extLst>
              <a:ext uri="{FF2B5EF4-FFF2-40B4-BE49-F238E27FC236}">
                <a16:creationId xmlns:a16="http://schemas.microsoft.com/office/drawing/2014/main" id="{944E0A72-8363-B18F-8A20-C8E6F097C02D}"/>
              </a:ext>
            </a:extLst>
          </p:cNvPr>
          <p:cNvCxnSpPr/>
          <p:nvPr/>
        </p:nvCxnSpPr>
        <p:spPr>
          <a:xfrm>
            <a:off x="5257800" y="5554133"/>
            <a:ext cx="2870200" cy="0"/>
          </a:xfrm>
          <a:prstGeom prst="straightConnector1">
            <a:avLst/>
          </a:prstGeom>
          <a:ln w="6350">
            <a:solidFill>
              <a:srgbClr val="E5E9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TextBox 85">
            <a:extLst>
              <a:ext uri="{FF2B5EF4-FFF2-40B4-BE49-F238E27FC236}">
                <a16:creationId xmlns:a16="http://schemas.microsoft.com/office/drawing/2014/main" id="{A5B51440-7CB1-0914-F536-8D3183459ACA}"/>
              </a:ext>
            </a:extLst>
          </p:cNvPr>
          <p:cNvSpPr txBox="1"/>
          <p:nvPr/>
        </p:nvSpPr>
        <p:spPr>
          <a:xfrm>
            <a:off x="4927600" y="5477933"/>
            <a:ext cx="279400" cy="1524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r"/>
            <a:r>
              <a:rPr lang="en-IN" sz="750">
                <a:solidFill>
                  <a:srgbClr val="55606E"/>
                </a:solidFill>
                <a:latin typeface="Arial" panose="020B0604020202020204" pitchFamily="34" charset="0"/>
              </a:rPr>
              <a:t>5</a:t>
            </a:r>
          </a:p>
        </p:txBody>
      </p: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8AEE7794-886F-9C55-822A-77FD6589C382}"/>
              </a:ext>
            </a:extLst>
          </p:cNvPr>
          <p:cNvCxnSpPr/>
          <p:nvPr/>
        </p:nvCxnSpPr>
        <p:spPr>
          <a:xfrm>
            <a:off x="5257800" y="5190067"/>
            <a:ext cx="2870200" cy="0"/>
          </a:xfrm>
          <a:prstGeom prst="straightConnector1">
            <a:avLst/>
          </a:prstGeom>
          <a:ln w="6350">
            <a:solidFill>
              <a:srgbClr val="E5E9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TextBox 87">
            <a:extLst>
              <a:ext uri="{FF2B5EF4-FFF2-40B4-BE49-F238E27FC236}">
                <a16:creationId xmlns:a16="http://schemas.microsoft.com/office/drawing/2014/main" id="{BCCD1FF5-9401-112F-7258-16B8D01B29C4}"/>
              </a:ext>
            </a:extLst>
          </p:cNvPr>
          <p:cNvSpPr txBox="1"/>
          <p:nvPr/>
        </p:nvSpPr>
        <p:spPr>
          <a:xfrm>
            <a:off x="4927600" y="5113867"/>
            <a:ext cx="279400" cy="1524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r"/>
            <a:r>
              <a:rPr lang="en-IN" sz="750">
                <a:solidFill>
                  <a:srgbClr val="55606E"/>
                </a:solidFill>
                <a:latin typeface="Arial" panose="020B0604020202020204" pitchFamily="34" charset="0"/>
              </a:rPr>
              <a:t>10</a:t>
            </a:r>
          </a:p>
        </p:txBody>
      </p:sp>
      <p:cxnSp>
        <p:nvCxnSpPr>
          <p:cNvPr id="89" name="Straight Arrow Connector 88">
            <a:extLst>
              <a:ext uri="{FF2B5EF4-FFF2-40B4-BE49-F238E27FC236}">
                <a16:creationId xmlns:a16="http://schemas.microsoft.com/office/drawing/2014/main" id="{AE3ED2CB-2A65-22B4-FCD4-7E7557D9459D}"/>
              </a:ext>
            </a:extLst>
          </p:cNvPr>
          <p:cNvCxnSpPr/>
          <p:nvPr/>
        </p:nvCxnSpPr>
        <p:spPr>
          <a:xfrm>
            <a:off x="5257800" y="4826000"/>
            <a:ext cx="2870200" cy="0"/>
          </a:xfrm>
          <a:prstGeom prst="straightConnector1">
            <a:avLst/>
          </a:prstGeom>
          <a:ln w="6350">
            <a:solidFill>
              <a:srgbClr val="E5E9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TextBox 89">
            <a:extLst>
              <a:ext uri="{FF2B5EF4-FFF2-40B4-BE49-F238E27FC236}">
                <a16:creationId xmlns:a16="http://schemas.microsoft.com/office/drawing/2014/main" id="{81121F17-BCCF-7E89-EA0D-D7ABD31853B7}"/>
              </a:ext>
            </a:extLst>
          </p:cNvPr>
          <p:cNvSpPr txBox="1"/>
          <p:nvPr/>
        </p:nvSpPr>
        <p:spPr>
          <a:xfrm>
            <a:off x="4927600" y="4749800"/>
            <a:ext cx="279400" cy="1524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r"/>
            <a:r>
              <a:rPr lang="en-IN" sz="750">
                <a:solidFill>
                  <a:srgbClr val="55606E"/>
                </a:solidFill>
                <a:latin typeface="Arial" panose="020B0604020202020204" pitchFamily="34" charset="0"/>
              </a:rPr>
              <a:t>15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41F50BA3-CE80-D489-8DEC-93E166E297D0}"/>
              </a:ext>
            </a:extLst>
          </p:cNvPr>
          <p:cNvSpPr txBox="1"/>
          <p:nvPr/>
        </p:nvSpPr>
        <p:spPr>
          <a:xfrm>
            <a:off x="4876800" y="4622800"/>
            <a:ext cx="508000" cy="1524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r"/>
            <a:r>
              <a:rPr lang="en-IN" sz="750">
                <a:solidFill>
                  <a:srgbClr val="55606E"/>
                </a:solidFill>
                <a:latin typeface="Arial" panose="020B0604020202020204" pitchFamily="34" charset="0"/>
              </a:rPr>
              <a:t>ms</a:t>
            </a:r>
          </a:p>
        </p:txBody>
      </p:sp>
      <p:sp>
        <p:nvSpPr>
          <p:cNvPr id="92" name="Freeform: Shape 91">
            <a:extLst>
              <a:ext uri="{FF2B5EF4-FFF2-40B4-BE49-F238E27FC236}">
                <a16:creationId xmlns:a16="http://schemas.microsoft.com/office/drawing/2014/main" id="{66ED4F1E-4208-E33E-DED1-6C69B8D57A78}"/>
              </a:ext>
            </a:extLst>
          </p:cNvPr>
          <p:cNvSpPr/>
          <p:nvPr/>
        </p:nvSpPr>
        <p:spPr>
          <a:xfrm>
            <a:off x="5359400" y="4913376"/>
            <a:ext cx="2667001" cy="1004825"/>
          </a:xfrm>
          <a:custGeom>
            <a:avLst/>
            <a:gdLst/>
            <a:ahLst/>
            <a:cxnLst/>
            <a:rect l="0" t="0" r="0" b="0"/>
            <a:pathLst>
              <a:path w="2667001" h="1004825">
                <a:moveTo>
                  <a:pt x="0" y="1004824"/>
                </a:moveTo>
                <a:lnTo>
                  <a:pt x="0" y="924729"/>
                </a:lnTo>
                <a:lnTo>
                  <a:pt x="533400" y="866479"/>
                </a:lnTo>
                <a:lnTo>
                  <a:pt x="1066800" y="815509"/>
                </a:lnTo>
                <a:lnTo>
                  <a:pt x="1600200" y="699008"/>
                </a:lnTo>
                <a:lnTo>
                  <a:pt x="2133600" y="444161"/>
                </a:lnTo>
                <a:lnTo>
                  <a:pt x="2667000" y="0"/>
                </a:lnTo>
                <a:lnTo>
                  <a:pt x="2667000" y="1004824"/>
                </a:lnTo>
                <a:close/>
              </a:path>
            </a:pathLst>
          </a:custGeom>
          <a:solidFill>
            <a:srgbClr val="CFE3F7">
              <a:alpha val="80000"/>
            </a:srgbClr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3" name="Freeform: Shape 92">
            <a:extLst>
              <a:ext uri="{FF2B5EF4-FFF2-40B4-BE49-F238E27FC236}">
                <a16:creationId xmlns:a16="http://schemas.microsoft.com/office/drawing/2014/main" id="{0FE37B26-858A-9F4C-F77D-AAC57895ABD9}"/>
              </a:ext>
            </a:extLst>
          </p:cNvPr>
          <p:cNvSpPr/>
          <p:nvPr/>
        </p:nvSpPr>
        <p:spPr>
          <a:xfrm>
            <a:off x="5359400" y="4913376"/>
            <a:ext cx="2667001" cy="924730"/>
          </a:xfrm>
          <a:custGeom>
            <a:avLst/>
            <a:gdLst/>
            <a:ahLst/>
            <a:cxnLst/>
            <a:rect l="0" t="0" r="0" b="0"/>
            <a:pathLst>
              <a:path w="2667001" h="924730">
                <a:moveTo>
                  <a:pt x="0" y="924729"/>
                </a:moveTo>
                <a:lnTo>
                  <a:pt x="533400" y="866479"/>
                </a:lnTo>
                <a:lnTo>
                  <a:pt x="1066800" y="815509"/>
                </a:lnTo>
                <a:lnTo>
                  <a:pt x="1600200" y="699008"/>
                </a:lnTo>
                <a:lnTo>
                  <a:pt x="2133600" y="444161"/>
                </a:lnTo>
                <a:lnTo>
                  <a:pt x="2667000" y="0"/>
                </a:lnTo>
              </a:path>
            </a:pathLst>
          </a:custGeom>
          <a:ln w="28575">
            <a:solidFill>
              <a:srgbClr val="1F6FB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4" name="Oval 93">
            <a:extLst>
              <a:ext uri="{FF2B5EF4-FFF2-40B4-BE49-F238E27FC236}">
                <a16:creationId xmlns:a16="http://schemas.microsoft.com/office/drawing/2014/main" id="{07A04BAA-8AC9-D66A-7D9D-9D2B9C9BA06B}"/>
              </a:ext>
            </a:extLst>
          </p:cNvPr>
          <p:cNvSpPr/>
          <p:nvPr/>
        </p:nvSpPr>
        <p:spPr>
          <a:xfrm>
            <a:off x="5314950" y="5793655"/>
            <a:ext cx="88900" cy="889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6FB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8606681D-434C-9DAB-0D13-AAD385020FC5}"/>
              </a:ext>
            </a:extLst>
          </p:cNvPr>
          <p:cNvSpPr txBox="1"/>
          <p:nvPr/>
        </p:nvSpPr>
        <p:spPr>
          <a:xfrm>
            <a:off x="5130800" y="5956300"/>
            <a:ext cx="457200" cy="1524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IN" sz="750">
                <a:solidFill>
                  <a:srgbClr val="1A1A1A"/>
                </a:solidFill>
                <a:latin typeface="Arial" panose="020B0604020202020204" pitchFamily="34" charset="0"/>
              </a:rPr>
              <a:t>1k</a:t>
            </a:r>
          </a:p>
        </p:txBody>
      </p:sp>
      <p:sp>
        <p:nvSpPr>
          <p:cNvPr id="96" name="Oval 95">
            <a:extLst>
              <a:ext uri="{FF2B5EF4-FFF2-40B4-BE49-F238E27FC236}">
                <a16:creationId xmlns:a16="http://schemas.microsoft.com/office/drawing/2014/main" id="{591402B5-FC03-AD29-F878-79A238F9F669}"/>
              </a:ext>
            </a:extLst>
          </p:cNvPr>
          <p:cNvSpPr/>
          <p:nvPr/>
        </p:nvSpPr>
        <p:spPr>
          <a:xfrm>
            <a:off x="5848350" y="5735405"/>
            <a:ext cx="88900" cy="889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6FB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365E138C-D41E-EFEC-E039-6884EC27787B}"/>
              </a:ext>
            </a:extLst>
          </p:cNvPr>
          <p:cNvSpPr txBox="1"/>
          <p:nvPr/>
        </p:nvSpPr>
        <p:spPr>
          <a:xfrm>
            <a:off x="5664200" y="5956300"/>
            <a:ext cx="457200" cy="1524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IN" sz="750">
                <a:solidFill>
                  <a:srgbClr val="1A1A1A"/>
                </a:solidFill>
                <a:latin typeface="Arial" panose="020B0604020202020204" pitchFamily="34" charset="0"/>
              </a:rPr>
              <a:t>2.5k</a:t>
            </a:r>
          </a:p>
        </p:txBody>
      </p:sp>
      <p:sp>
        <p:nvSpPr>
          <p:cNvPr id="98" name="Oval 97">
            <a:extLst>
              <a:ext uri="{FF2B5EF4-FFF2-40B4-BE49-F238E27FC236}">
                <a16:creationId xmlns:a16="http://schemas.microsoft.com/office/drawing/2014/main" id="{5851AE90-3A1A-255E-715E-720B45D56794}"/>
              </a:ext>
            </a:extLst>
          </p:cNvPr>
          <p:cNvSpPr/>
          <p:nvPr/>
        </p:nvSpPr>
        <p:spPr>
          <a:xfrm>
            <a:off x="6381750" y="5684435"/>
            <a:ext cx="88900" cy="889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6FB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008294EC-887C-01FE-FDE7-3A0DEC5A71BD}"/>
              </a:ext>
            </a:extLst>
          </p:cNvPr>
          <p:cNvSpPr txBox="1"/>
          <p:nvPr/>
        </p:nvSpPr>
        <p:spPr>
          <a:xfrm>
            <a:off x="6197600" y="5956300"/>
            <a:ext cx="457200" cy="1524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IN" sz="750">
                <a:solidFill>
                  <a:srgbClr val="1A1A1A"/>
                </a:solidFill>
                <a:latin typeface="Arial" panose="020B0604020202020204" pitchFamily="34" charset="0"/>
              </a:rPr>
              <a:t>5k</a:t>
            </a:r>
          </a:p>
        </p:txBody>
      </p:sp>
      <p:sp>
        <p:nvSpPr>
          <p:cNvPr id="100" name="Oval 99">
            <a:extLst>
              <a:ext uri="{FF2B5EF4-FFF2-40B4-BE49-F238E27FC236}">
                <a16:creationId xmlns:a16="http://schemas.microsoft.com/office/drawing/2014/main" id="{0F49A0F2-4F8D-01DB-D440-73D64388FAC5}"/>
              </a:ext>
            </a:extLst>
          </p:cNvPr>
          <p:cNvSpPr/>
          <p:nvPr/>
        </p:nvSpPr>
        <p:spPr>
          <a:xfrm>
            <a:off x="6915150" y="5567934"/>
            <a:ext cx="88900" cy="889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6FB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65E5DA89-099D-6D9B-DFE4-2E62A33C3169}"/>
              </a:ext>
            </a:extLst>
          </p:cNvPr>
          <p:cNvSpPr txBox="1"/>
          <p:nvPr/>
        </p:nvSpPr>
        <p:spPr>
          <a:xfrm>
            <a:off x="6731000" y="5956300"/>
            <a:ext cx="457200" cy="1524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IN" sz="750">
                <a:solidFill>
                  <a:srgbClr val="1A1A1A"/>
                </a:solidFill>
                <a:latin typeface="Arial" panose="020B0604020202020204" pitchFamily="34" charset="0"/>
              </a:rPr>
              <a:t>10k</a:t>
            </a:r>
          </a:p>
        </p:txBody>
      </p:sp>
      <p:sp>
        <p:nvSpPr>
          <p:cNvPr id="102" name="Oval 101">
            <a:extLst>
              <a:ext uri="{FF2B5EF4-FFF2-40B4-BE49-F238E27FC236}">
                <a16:creationId xmlns:a16="http://schemas.microsoft.com/office/drawing/2014/main" id="{27E1C96D-E55C-21D1-6982-678F02C9EA66}"/>
              </a:ext>
            </a:extLst>
          </p:cNvPr>
          <p:cNvSpPr/>
          <p:nvPr/>
        </p:nvSpPr>
        <p:spPr>
          <a:xfrm>
            <a:off x="7448550" y="5313087"/>
            <a:ext cx="88900" cy="889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6FB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26795718-DDCC-A2CA-6D5A-D6BA1F5AFF1C}"/>
              </a:ext>
            </a:extLst>
          </p:cNvPr>
          <p:cNvSpPr txBox="1"/>
          <p:nvPr/>
        </p:nvSpPr>
        <p:spPr>
          <a:xfrm>
            <a:off x="7264400" y="5956300"/>
            <a:ext cx="457200" cy="1524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IN" sz="750">
                <a:solidFill>
                  <a:srgbClr val="1A1A1A"/>
                </a:solidFill>
                <a:latin typeface="Arial" panose="020B0604020202020204" pitchFamily="34" charset="0"/>
              </a:rPr>
              <a:t>20k</a:t>
            </a:r>
          </a:p>
        </p:txBody>
      </p:sp>
      <p:sp>
        <p:nvSpPr>
          <p:cNvPr id="104" name="Oval 103">
            <a:extLst>
              <a:ext uri="{FF2B5EF4-FFF2-40B4-BE49-F238E27FC236}">
                <a16:creationId xmlns:a16="http://schemas.microsoft.com/office/drawing/2014/main" id="{9232DA0F-77AA-5217-F1B9-E015378FB3E4}"/>
              </a:ext>
            </a:extLst>
          </p:cNvPr>
          <p:cNvSpPr/>
          <p:nvPr/>
        </p:nvSpPr>
        <p:spPr>
          <a:xfrm>
            <a:off x="7981950" y="4868926"/>
            <a:ext cx="88900" cy="889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6FB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4765F3B5-183C-6600-2D54-154D8CF85CD5}"/>
              </a:ext>
            </a:extLst>
          </p:cNvPr>
          <p:cNvSpPr txBox="1"/>
          <p:nvPr/>
        </p:nvSpPr>
        <p:spPr>
          <a:xfrm>
            <a:off x="7797800" y="5956300"/>
            <a:ext cx="457200" cy="1524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IN" sz="750">
                <a:solidFill>
                  <a:srgbClr val="1A1A1A"/>
                </a:solidFill>
                <a:latin typeface="Arial" panose="020B0604020202020204" pitchFamily="34" charset="0"/>
              </a:rPr>
              <a:t>40k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CBEC2577-38E2-0792-F4B7-B854B2BBE310}"/>
              </a:ext>
            </a:extLst>
          </p:cNvPr>
          <p:cNvSpPr txBox="1"/>
          <p:nvPr/>
        </p:nvSpPr>
        <p:spPr>
          <a:xfrm>
            <a:off x="7239000" y="6083300"/>
            <a:ext cx="889000" cy="1397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r"/>
            <a:r>
              <a:rPr lang="en-IN" sz="750">
                <a:solidFill>
                  <a:srgbClr val="55606E"/>
                </a:solidFill>
                <a:latin typeface="Arial" panose="020B0604020202020204" pitchFamily="34" charset="0"/>
              </a:rPr>
              <a:t>characters</a:t>
            </a:r>
          </a:p>
        </p:txBody>
      </p:sp>
      <p:sp>
        <p:nvSpPr>
          <p:cNvPr id="107" name="Rectangle: Rounded Corners 106">
            <a:extLst>
              <a:ext uri="{FF2B5EF4-FFF2-40B4-BE49-F238E27FC236}">
                <a16:creationId xmlns:a16="http://schemas.microsoft.com/office/drawing/2014/main" id="{EDC16EB3-862F-C4CF-29D9-AED33A5CAC98}"/>
              </a:ext>
            </a:extLst>
          </p:cNvPr>
          <p:cNvSpPr/>
          <p:nvPr/>
        </p:nvSpPr>
        <p:spPr>
          <a:xfrm>
            <a:off x="5816600" y="4800600"/>
            <a:ext cx="1524000" cy="381000"/>
          </a:xfrm>
          <a:prstGeom prst="roundRect">
            <a:avLst>
              <a:gd name="adj" fmla="val 20000"/>
            </a:avLst>
          </a:prstGeom>
          <a:solidFill>
            <a:srgbClr val="FFF4E5"/>
          </a:solidFill>
          <a:ln w="9525">
            <a:solidFill>
              <a:srgbClr val="F5C98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IN" sz="900" b="1">
                <a:solidFill>
                  <a:srgbClr val="7A4300"/>
                </a:solidFill>
                <a:latin typeface="Arial" panose="020B0604020202020204" pitchFamily="34" charset="0"/>
              </a:rPr>
              <a:t>20,000 chars in under 8 ms</a:t>
            </a:r>
          </a:p>
        </p:txBody>
      </p:sp>
      <p:cxnSp>
        <p:nvCxnSpPr>
          <p:cNvPr id="108" name="Straight Arrow Connector 107">
            <a:extLst>
              <a:ext uri="{FF2B5EF4-FFF2-40B4-BE49-F238E27FC236}">
                <a16:creationId xmlns:a16="http://schemas.microsoft.com/office/drawing/2014/main" id="{AE71BF61-CCB1-9C3E-A66E-1D2766D9CF05}"/>
              </a:ext>
            </a:extLst>
          </p:cNvPr>
          <p:cNvCxnSpPr/>
          <p:nvPr/>
        </p:nvCxnSpPr>
        <p:spPr>
          <a:xfrm>
            <a:off x="7340600" y="4991100"/>
            <a:ext cx="101600" cy="328337"/>
          </a:xfrm>
          <a:prstGeom prst="straightConnector1">
            <a:avLst/>
          </a:prstGeom>
          <a:ln w="12700">
            <a:solidFill>
              <a:srgbClr val="E0A04A"/>
            </a:solidFill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" name="Rectangle: Rounded Corners 108">
            <a:extLst>
              <a:ext uri="{FF2B5EF4-FFF2-40B4-BE49-F238E27FC236}">
                <a16:creationId xmlns:a16="http://schemas.microsoft.com/office/drawing/2014/main" id="{834E6F4B-E22A-7553-DC6B-A5DF5AA9569B}"/>
              </a:ext>
            </a:extLst>
          </p:cNvPr>
          <p:cNvSpPr/>
          <p:nvPr/>
        </p:nvSpPr>
        <p:spPr>
          <a:xfrm>
            <a:off x="8458200" y="4241800"/>
            <a:ext cx="3505200" cy="2006600"/>
          </a:xfrm>
          <a:prstGeom prst="roundRect">
            <a:avLst>
              <a:gd name="adj" fmla="val 10127"/>
            </a:avLst>
          </a:prstGeom>
          <a:gradFill flip="none" rotWithShape="1">
            <a:gsLst>
              <a:gs pos="0">
                <a:srgbClr val="E1D9F4"/>
              </a:gs>
              <a:gs pos="100000">
                <a:srgbClr val="EFEAFA"/>
              </a:gs>
            </a:gsLst>
            <a:lin ang="5400000" scaled="1"/>
            <a:tileRect/>
          </a:gra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AC9559F0-3E3C-B1F9-057F-DE05026F3555}"/>
              </a:ext>
            </a:extLst>
          </p:cNvPr>
          <p:cNvSpPr txBox="1"/>
          <p:nvPr/>
        </p:nvSpPr>
        <p:spPr>
          <a:xfrm>
            <a:off x="8458200" y="4318000"/>
            <a:ext cx="35052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IN" b="1">
                <a:latin typeface="Arial" panose="020B0604020202020204" pitchFamily="34" charset="0"/>
              </a:rPr>
              <a:t>Economic Viability</a:t>
            </a: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4F4F9295-EE0C-4C29-75CA-F82DC0CF2E0C}"/>
              </a:ext>
            </a:extLst>
          </p:cNvPr>
          <p:cNvSpPr txBox="1"/>
          <p:nvPr/>
        </p:nvSpPr>
        <p:spPr>
          <a:xfrm>
            <a:off x="8636000" y="4648200"/>
            <a:ext cx="3200400" cy="1549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marL="139700" indent="-139700">
              <a:spcAft>
                <a:spcPts val="400"/>
              </a:spcAft>
              <a:buClr>
                <a:srgbClr val="6F4FB0"/>
              </a:buClr>
              <a:buSzPct val="100000"/>
              <a:buFont typeface="Arial" panose="020B0604020202020204" pitchFamily="34" charset="0"/>
              <a:buChar char="•"/>
            </a:pPr>
            <a:r>
              <a:rPr lang="en-IN" sz="1000" b="1">
                <a:solidFill>
                  <a:srgbClr val="1A1A1A"/>
                </a:solidFill>
                <a:latin typeface="Arial" panose="020B0604020202020204" pitchFamily="34" charset="0"/>
              </a:rPr>
              <a:t>Zero infrastructure</a:t>
            </a:r>
            <a:r>
              <a:rPr lang="en-IN" sz="1000">
                <a:solidFill>
                  <a:srgbClr val="1A1A1A"/>
                </a:solidFill>
                <a:latin typeface="Arial" panose="020B0604020202020204" pitchFamily="34" charset="0"/>
              </a:rPr>
              <a:t>: runs on the user's own device</a:t>
            </a:r>
          </a:p>
          <a:p>
            <a:pPr marL="139700" indent="-139700">
              <a:spcAft>
                <a:spcPts val="400"/>
              </a:spcAft>
              <a:buClr>
                <a:srgbClr val="6F4FB0"/>
              </a:buClr>
              <a:buSzPct val="100000"/>
              <a:buFont typeface="Arial" panose="020B0604020202020204" pitchFamily="34" charset="0"/>
              <a:buChar char="•"/>
            </a:pPr>
            <a:r>
              <a:rPr lang="en-IN" sz="1000" b="1">
                <a:solidFill>
                  <a:srgbClr val="1A1A1A"/>
                </a:solidFill>
                <a:latin typeface="Arial" panose="020B0604020202020204" pitchFamily="34" charset="0"/>
              </a:rPr>
              <a:t>No per-token cost</a:t>
            </a:r>
            <a:r>
              <a:rPr lang="en-IN" sz="1000">
                <a:solidFill>
                  <a:srgbClr val="1A1A1A"/>
                </a:solidFill>
                <a:latin typeface="Arial" panose="020B0604020202020204" pitchFamily="34" charset="0"/>
              </a:rPr>
              <a:t>: the on-device AI is free</a:t>
            </a:r>
          </a:p>
          <a:p>
            <a:pPr marL="139700" indent="-139700">
              <a:spcAft>
                <a:spcPts val="400"/>
              </a:spcAft>
              <a:buClr>
                <a:srgbClr val="6F4FB0"/>
              </a:buClr>
              <a:buSzPct val="100000"/>
              <a:buFont typeface="Arial" panose="020B0604020202020204" pitchFamily="34" charset="0"/>
              <a:buChar char="•"/>
            </a:pPr>
            <a:r>
              <a:rPr lang="en-IN" sz="1000" b="1">
                <a:solidFill>
                  <a:srgbClr val="1A1A1A"/>
                </a:solidFill>
                <a:latin typeface="Arial" panose="020B0604020202020204" pitchFamily="34" charset="0"/>
              </a:rPr>
              <a:t>Free</a:t>
            </a:r>
            <a:r>
              <a:rPr lang="en-IN" sz="1000">
                <a:solidFill>
                  <a:srgbClr val="1A1A1A"/>
                </a:solidFill>
                <a:latin typeface="Arial" panose="020B0604020202020204" pitchFamily="34" charset="0"/>
              </a:rPr>
              <a:t> for individuals; </a:t>
            </a:r>
            <a:r>
              <a:rPr lang="en-IN" sz="1000" b="1">
                <a:solidFill>
                  <a:srgbClr val="1A1A1A"/>
                </a:solidFill>
                <a:latin typeface="Arial" panose="020B0604020202020204" pitchFamily="34" charset="0"/>
              </a:rPr>
              <a:t>per-seat plan</a:t>
            </a:r>
            <a:r>
              <a:rPr lang="en-IN" sz="1000">
                <a:solidFill>
                  <a:srgbClr val="1A1A1A"/>
                </a:solidFill>
                <a:latin typeface="Arial" panose="020B0604020202020204" pitchFamily="34" charset="0"/>
              </a:rPr>
              <a:t> for organizations (managed policy, audit log)</a:t>
            </a:r>
          </a:p>
          <a:p>
            <a:pPr marL="139700" indent="-139700">
              <a:spcAft>
                <a:spcPts val="400"/>
              </a:spcAft>
              <a:buClr>
                <a:srgbClr val="6F4FB0"/>
              </a:buClr>
              <a:buSzPct val="100000"/>
              <a:buFont typeface="Arial" panose="020B0604020202020204" pitchFamily="34" charset="0"/>
              <a:buChar char="•"/>
            </a:pPr>
            <a:r>
              <a:rPr lang="en-IN" sz="1000" b="1">
                <a:solidFill>
                  <a:srgbClr val="1A1A1A"/>
                </a:solidFill>
                <a:latin typeface="Arial" panose="020B0604020202020204" pitchFamily="34" charset="0"/>
              </a:rPr>
              <a:t>Free, open-source tooling</a:t>
            </a:r>
            <a:r>
              <a:rPr lang="en-IN" sz="1000">
                <a:solidFill>
                  <a:srgbClr val="1A1A1A"/>
                </a:solidFill>
                <a:latin typeface="Arial" panose="020B0604020202020204" pitchFamily="34" charset="0"/>
              </a:rPr>
              <a:t>: TypeScript, esbuild, Vitest, Playwright</a:t>
            </a:r>
          </a:p>
          <a:p>
            <a:pPr marL="139700" indent="-139700">
              <a:spcAft>
                <a:spcPts val="400"/>
              </a:spcAft>
              <a:buClr>
                <a:srgbClr val="6F4FB0"/>
              </a:buClr>
              <a:buSzPct val="100000"/>
              <a:buFont typeface="Arial" panose="020B0604020202020204" pitchFamily="34" charset="0"/>
              <a:buChar char="•"/>
            </a:pPr>
            <a:r>
              <a:rPr lang="en-IN" sz="1000">
                <a:solidFill>
                  <a:srgbClr val="1A1A1A"/>
                </a:solidFill>
                <a:latin typeface="Arial" panose="020B0604020202020204" pitchFamily="34" charset="0"/>
              </a:rPr>
              <a:t>DLP market: </a:t>
            </a:r>
            <a:r>
              <a:rPr lang="en-IN" sz="1000" b="1">
                <a:solidFill>
                  <a:srgbClr val="1A1A1A"/>
                </a:solidFill>
                <a:latin typeface="Arial" panose="020B0604020202020204" pitchFamily="34" charset="0"/>
              </a:rPr>
              <a:t>USD 3.4 B (2025) → 13.8 B (2033)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5"/>
          <p:cNvSpPr/>
          <p:nvPr/>
        </p:nvSpPr>
        <p:spPr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>
            <a:noFill/>
          </a:ln>
          <a:effectLst>
            <a:outerShdw dist="23000" dir="5400000" rotWithShape="0">
              <a:srgbClr val="80808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95373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5"/>
          <p:cNvSpPr txBox="1">
            <a:spLocks noGrp="1"/>
          </p:cNvSpPr>
          <p:nvPr>
            <p:ph type="title"/>
          </p:nvPr>
        </p:nvSpPr>
        <p:spPr>
          <a:xfrm>
            <a:off x="1905000" y="50800"/>
            <a:ext cx="8382000" cy="63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lvl="0" rtl="0"/>
            <a:r>
              <a:rPr lang="en-US" sz="3400" b="1">
                <a:solidFill>
                  <a:srgbClr val="000000"/>
                </a:solidFill>
                <a:latin typeface="Times New Roman" panose="02020603050405020304" pitchFamily="18" charset="0"/>
                <a:ea typeface="Times New Roman"/>
                <a:cs typeface="Times New Roman"/>
                <a:sym typeface="Times New Roman"/>
              </a:rPr>
              <a:t>IMPACT AND BENEFITS</a:t>
            </a:r>
            <a:endParaRPr sz="3400" b="1">
              <a:solidFill>
                <a:srgbClr val="000000"/>
              </a:solidFill>
              <a:latin typeface="Times New Roman" panose="02020603050405020304" pitchFamily="18" charset="0"/>
            </a:endParaRPr>
          </a:p>
        </p:txBody>
      </p:sp>
      <p:sp>
        <p:nvSpPr>
          <p:cNvPr id="138" name="Google Shape;138;p5"/>
          <p:cNvSpPr txBox="1">
            <a:spLocks noGrp="1"/>
          </p:cNvSpPr>
          <p:nvPr>
            <p:ph type="sldNum" idx="12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Oswald"/>
              <a:buNone/>
            </a:pPr>
            <a:fld id="{00000000-1234-1234-1234-123412341234}" type="slidenum">
              <a:rPr lang="en-US" sz="1200" b="1" i="0" u="none" strike="noStrike" cap="none">
                <a:solidFill>
                  <a:srgbClr val="FFFFFF"/>
                </a:solidFill>
                <a:latin typeface="Oswald"/>
                <a:ea typeface="Oswald"/>
                <a:cs typeface="Oswald"/>
                <a:sym typeface="Oswald"/>
              </a:rPr>
              <a:t>5</a:t>
            </a:fld>
            <a:endParaRPr sz="1200" b="1" i="0" u="none" strike="noStrike" cap="none">
              <a:solidFill>
                <a:srgbClr val="FFFFFF"/>
              </a:solidFill>
              <a:latin typeface="Oswald"/>
              <a:ea typeface="Oswald"/>
              <a:cs typeface="Oswald"/>
              <a:sym typeface="Oswald"/>
            </a:endParaRPr>
          </a:p>
        </p:txBody>
      </p:sp>
      <p:sp>
        <p:nvSpPr>
          <p:cNvPr id="139" name="Google Shape;139;p5"/>
          <p:cNvSpPr txBox="1">
            <a:spLocks noGrp="1"/>
          </p:cNvSpPr>
          <p:nvPr>
            <p:ph type="ftr" idx="11"/>
          </p:nvPr>
        </p:nvSpPr>
        <p:spPr>
          <a:xfrm>
            <a:off x="4648200" y="6356353"/>
            <a:ext cx="32040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R="0" lvl="0" rtl="0">
              <a:buClr>
                <a:srgbClr val="FFFFFF"/>
              </a:buClr>
              <a:buSzPts val="1200"/>
            </a:pPr>
            <a:r>
              <a:rPr lang="en-IN" sz="1100" u="none" strike="noStrike" cap="none">
                <a:solidFill>
                  <a:srgbClr val="FFFFFF"/>
                </a:solidFill>
                <a:latin typeface="Oswald" panose="00000500000000000000" pitchFamily="2" charset="0"/>
                <a:ea typeface="Oswald"/>
                <a:cs typeface="Oswald"/>
                <a:sym typeface="Oswald"/>
              </a:rPr>
              <a:t>@BITSHIFT Idea submission  ·  TechKnights  ·  P2Shield</a:t>
            </a:r>
            <a:endParaRPr sz="1100" u="none" strike="noStrike" cap="none">
              <a:solidFill>
                <a:srgbClr val="FFFFFF"/>
              </a:solidFill>
              <a:latin typeface="Oswald" panose="00000500000000000000" pitchFamily="2" charset="0"/>
              <a:ea typeface="Oswald"/>
              <a:cs typeface="Oswald"/>
              <a:sym typeface="Oswald"/>
            </a:endParaRPr>
          </a:p>
        </p:txBody>
      </p:sp>
      <p:sp>
        <p:nvSpPr>
          <p:cNvPr id="140" name="Google Shape;140;p5" descr="Your startup LOGO"/>
          <p:cNvSpPr/>
          <p:nvPr/>
        </p:nvSpPr>
        <p:spPr>
          <a:xfrm>
            <a:off x="253999" y="228600"/>
            <a:ext cx="1422400" cy="584200"/>
          </a:xfrm>
          <a:prstGeom prst="ellipse">
            <a:avLst/>
          </a:prstGeom>
          <a:solidFill>
            <a:schemeClr val="lt1"/>
          </a:solidFill>
          <a:ln w="25400" cap="flat" cmpd="sng">
            <a:solidFill>
              <a:srgbClr val="8064A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R="0" lvl="0" algn="ctr" rtl="0"/>
            <a:r>
              <a:rPr lang="en-US" sz="1500" b="1">
                <a:solidFill>
                  <a:srgbClr val="4B2E83"/>
                </a:solidFill>
                <a:latin typeface="Calibri" panose="020F0502020204030204" pitchFamily="34" charset="0"/>
                <a:ea typeface="Calibri"/>
                <a:cs typeface="Calibri"/>
                <a:sym typeface="Calibri"/>
              </a:rPr>
              <a:t>TechKnights</a:t>
            </a:r>
            <a:endParaRPr sz="1500" b="1">
              <a:solidFill>
                <a:srgbClr val="4B2E83"/>
              </a:solidFill>
              <a:latin typeface="Calibri" panose="020F0502020204030204" pitchFamily="34" charset="0"/>
              <a:ea typeface="Calibri"/>
              <a:cs typeface="Calibri"/>
              <a:sym typeface="Calibri"/>
            </a:endParaRPr>
          </a:p>
        </p:txBody>
      </p:sp>
      <p:pic>
        <p:nvPicPr>
          <p:cNvPr id="141" name="Google Shape;141;p5"/>
          <p:cNvPicPr preferRelativeResize="0">
            <a:picLocks noChangeAspect="1"/>
          </p:cNvPicPr>
          <p:nvPr/>
        </p:nvPicPr>
        <p:blipFill rotWithShape="1">
          <a:blip r:embed="rId3">
            <a:alphaModFix/>
          </a:blip>
          <a:srcRect r="13096" b="-9830"/>
          <a:stretch/>
        </p:blipFill>
        <p:spPr>
          <a:xfrm>
            <a:off x="10490200" y="76200"/>
            <a:ext cx="1498600" cy="10622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8621B68D-FF79-BDF8-C2DE-2CF8C3B08B82}"/>
              </a:ext>
            </a:extLst>
          </p:cNvPr>
          <p:cNvSpPr txBox="1"/>
          <p:nvPr/>
        </p:nvSpPr>
        <p:spPr>
          <a:xfrm>
            <a:off x="1905000" y="685800"/>
            <a:ext cx="83820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IN" b="1">
                <a:solidFill>
                  <a:srgbClr val="1F497D"/>
                </a:solidFill>
                <a:latin typeface="Arial" panose="020B0604020202020204" pitchFamily="34" charset="0"/>
              </a:rPr>
              <a:t>“USE AI FREELY. SHARE ONLY WHAT THE TASK NEEDS.”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D6C8F0E-9275-FC8B-D715-5A55583DD3A7}"/>
              </a:ext>
            </a:extLst>
          </p:cNvPr>
          <p:cNvSpPr txBox="1"/>
          <p:nvPr/>
        </p:nvSpPr>
        <p:spPr>
          <a:xfrm>
            <a:off x="228600" y="1193800"/>
            <a:ext cx="38100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IN" sz="1700" b="1">
                <a:latin typeface="Arial" panose="020B0604020202020204" pitchFamily="34" charset="0"/>
              </a:rPr>
              <a:t>WHO BENEFITS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F1CB5592-38C5-F81E-CF69-7CA05E63C0BB}"/>
              </a:ext>
            </a:extLst>
          </p:cNvPr>
          <p:cNvSpPr/>
          <p:nvPr/>
        </p:nvSpPr>
        <p:spPr>
          <a:xfrm>
            <a:off x="228600" y="1549400"/>
            <a:ext cx="2819400" cy="1066800"/>
          </a:xfrm>
          <a:prstGeom prst="roundRect">
            <a:avLst>
              <a:gd name="adj" fmla="val 19048"/>
            </a:avLst>
          </a:prstGeom>
          <a:solidFill>
            <a:srgbClr val="CFE2F8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6" name="Graphic 5" descr="user icon">
            <a:extLst>
              <a:ext uri="{FF2B5EF4-FFF2-40B4-BE49-F238E27FC236}">
                <a16:creationId xmlns:a16="http://schemas.microsoft.com/office/drawing/2014/main" id="{930951E9-334A-8D6D-417D-C151DF15935E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616200" y="1676400"/>
            <a:ext cx="279400" cy="2794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37D2177-FD74-2986-4C51-EE8E226B1F40}"/>
              </a:ext>
            </a:extLst>
          </p:cNvPr>
          <p:cNvSpPr txBox="1"/>
          <p:nvPr/>
        </p:nvSpPr>
        <p:spPr>
          <a:xfrm>
            <a:off x="406400" y="1676400"/>
            <a:ext cx="2159000" cy="254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IN" sz="1250" b="1">
                <a:latin typeface="Arial" panose="020B0604020202020204" pitchFamily="34" charset="0"/>
              </a:rPr>
              <a:t>Individuals &amp; Students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819BC6-76BB-232E-8155-35F454E34B5A}"/>
              </a:ext>
            </a:extLst>
          </p:cNvPr>
          <p:cNvSpPr txBox="1"/>
          <p:nvPr/>
        </p:nvSpPr>
        <p:spPr>
          <a:xfrm>
            <a:off x="406400" y="1955800"/>
            <a:ext cx="2489200" cy="6096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IN" sz="1050">
                <a:solidFill>
                  <a:srgbClr val="1A1A1A"/>
                </a:solidFill>
                <a:latin typeface="Arial" panose="020B0604020202020204" pitchFamily="34" charset="0"/>
              </a:rPr>
              <a:t>Ask AI about health, money or studies without revealing who you are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4EAD8EDB-30E2-AC74-309B-3312F96343FA}"/>
              </a:ext>
            </a:extLst>
          </p:cNvPr>
          <p:cNvSpPr/>
          <p:nvPr/>
        </p:nvSpPr>
        <p:spPr>
          <a:xfrm>
            <a:off x="3149600" y="1549400"/>
            <a:ext cx="2819400" cy="1066800"/>
          </a:xfrm>
          <a:prstGeom prst="roundRect">
            <a:avLst>
              <a:gd name="adj" fmla="val 19048"/>
            </a:avLst>
          </a:prstGeom>
          <a:solidFill>
            <a:srgbClr val="D3EEDD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11" name="Graphic 10" descr="hospital icon">
            <a:extLst>
              <a:ext uri="{FF2B5EF4-FFF2-40B4-BE49-F238E27FC236}">
                <a16:creationId xmlns:a16="http://schemas.microsoft.com/office/drawing/2014/main" id="{E50B80D2-40D7-C5E4-EFC3-B35881A8FC03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537200" y="1676400"/>
            <a:ext cx="279400" cy="27940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46B7496C-328C-0810-1189-6C88725D8B16}"/>
              </a:ext>
            </a:extLst>
          </p:cNvPr>
          <p:cNvSpPr txBox="1"/>
          <p:nvPr/>
        </p:nvSpPr>
        <p:spPr>
          <a:xfrm>
            <a:off x="3327400" y="1676400"/>
            <a:ext cx="2159000" cy="254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IN" sz="1250" b="1">
                <a:latin typeface="Arial" panose="020B0604020202020204" pitchFamily="34" charset="0"/>
              </a:rPr>
              <a:t>Patients &amp; Hospitals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4C97C62-4678-78B5-35F1-F2ACE7A6F2E6}"/>
              </a:ext>
            </a:extLst>
          </p:cNvPr>
          <p:cNvSpPr txBox="1"/>
          <p:nvPr/>
        </p:nvSpPr>
        <p:spPr>
          <a:xfrm>
            <a:off x="3327400" y="1955800"/>
            <a:ext cx="2489200" cy="6096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IN" sz="1050">
                <a:solidFill>
                  <a:srgbClr val="1A1A1A"/>
                </a:solidFill>
                <a:latin typeface="Arial" panose="020B0604020202020204" pitchFamily="34" charset="0"/>
              </a:rPr>
              <a:t>Clinical facts stay, patient identity goes (Healthcare profile)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D59CFE15-A97B-00C1-2471-8D5EEB0A923E}"/>
              </a:ext>
            </a:extLst>
          </p:cNvPr>
          <p:cNvSpPr/>
          <p:nvPr/>
        </p:nvSpPr>
        <p:spPr>
          <a:xfrm>
            <a:off x="228600" y="2717800"/>
            <a:ext cx="2819400" cy="1066800"/>
          </a:xfrm>
          <a:prstGeom prst="roundRect">
            <a:avLst>
              <a:gd name="adj" fmla="val 19048"/>
            </a:avLst>
          </a:prstGeom>
          <a:solidFill>
            <a:srgbClr val="FBDCC4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16" name="Graphic 15" descr="landmark icon">
            <a:extLst>
              <a:ext uri="{FF2B5EF4-FFF2-40B4-BE49-F238E27FC236}">
                <a16:creationId xmlns:a16="http://schemas.microsoft.com/office/drawing/2014/main" id="{0087D08E-6B20-1026-BAC1-55B6B8FDB396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616200" y="2844800"/>
            <a:ext cx="279400" cy="279400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9C7E44F6-3C41-F739-5042-0D9373987C6D}"/>
              </a:ext>
            </a:extLst>
          </p:cNvPr>
          <p:cNvSpPr txBox="1"/>
          <p:nvPr/>
        </p:nvSpPr>
        <p:spPr>
          <a:xfrm>
            <a:off x="406400" y="2844800"/>
            <a:ext cx="2159000" cy="254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IN" sz="1250" b="1">
                <a:latin typeface="Arial" panose="020B0604020202020204" pitchFamily="34" charset="0"/>
              </a:rPr>
              <a:t>Banks &amp; Fintech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C72F06E-8583-CC99-5E84-649833D4B3DF}"/>
              </a:ext>
            </a:extLst>
          </p:cNvPr>
          <p:cNvSpPr txBox="1"/>
          <p:nvPr/>
        </p:nvSpPr>
        <p:spPr>
          <a:xfrm>
            <a:off x="406400" y="3124200"/>
            <a:ext cx="2489200" cy="6096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IN" sz="1050">
                <a:solidFill>
                  <a:srgbClr val="1A1A1A"/>
                </a:solidFill>
                <a:latin typeface="Arial" panose="020B0604020202020204" pitchFamily="34" charset="0"/>
              </a:rPr>
              <a:t>Cards, accounts and PAN masked; salaries and amounts rounded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E906CE1E-ABE4-E3CF-53ED-B69226CBB45C}"/>
              </a:ext>
            </a:extLst>
          </p:cNvPr>
          <p:cNvSpPr/>
          <p:nvPr/>
        </p:nvSpPr>
        <p:spPr>
          <a:xfrm>
            <a:off x="3149600" y="2717800"/>
            <a:ext cx="2819400" cy="1066800"/>
          </a:xfrm>
          <a:prstGeom prst="roundRect">
            <a:avLst>
              <a:gd name="adj" fmla="val 19048"/>
            </a:avLst>
          </a:prstGeom>
          <a:solidFill>
            <a:srgbClr val="E0D5F3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21" name="Graphic 20" descr="square-terminal icon">
            <a:extLst>
              <a:ext uri="{FF2B5EF4-FFF2-40B4-BE49-F238E27FC236}">
                <a16:creationId xmlns:a16="http://schemas.microsoft.com/office/drawing/2014/main" id="{0F02E921-83EA-6208-6371-8706D09BB384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537200" y="2844800"/>
            <a:ext cx="279400" cy="279400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21E3BC89-B2B6-D365-C13D-91C79CEC1548}"/>
              </a:ext>
            </a:extLst>
          </p:cNvPr>
          <p:cNvSpPr txBox="1"/>
          <p:nvPr/>
        </p:nvSpPr>
        <p:spPr>
          <a:xfrm>
            <a:off x="3327400" y="2844800"/>
            <a:ext cx="2159000" cy="254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IN" sz="1250" b="1">
                <a:latin typeface="Arial" panose="020B0604020202020204" pitchFamily="34" charset="0"/>
              </a:rPr>
              <a:t>Developers &amp; IT Teams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A2063E8-02DA-95FA-684A-8C32BE8E3EF2}"/>
              </a:ext>
            </a:extLst>
          </p:cNvPr>
          <p:cNvSpPr txBox="1"/>
          <p:nvPr/>
        </p:nvSpPr>
        <p:spPr>
          <a:xfrm>
            <a:off x="3327400" y="3124200"/>
            <a:ext cx="2489200" cy="6096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IN" sz="1050">
                <a:solidFill>
                  <a:srgbClr val="1A1A1A"/>
                </a:solidFill>
                <a:latin typeface="Arial" panose="020B0604020202020204" pitchFamily="34" charset="0"/>
              </a:rPr>
              <a:t>API keys, passwords and tokens stripped before debugging with AI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3976843C-6A72-5F1F-8C41-6D4082FE7798}"/>
              </a:ext>
            </a:extLst>
          </p:cNvPr>
          <p:cNvSpPr/>
          <p:nvPr/>
        </p:nvSpPr>
        <p:spPr>
          <a:xfrm>
            <a:off x="228600" y="3886200"/>
            <a:ext cx="5740400" cy="939800"/>
          </a:xfrm>
          <a:prstGeom prst="roundRect">
            <a:avLst>
              <a:gd name="adj" fmla="val 21622"/>
            </a:avLst>
          </a:prstGeom>
          <a:solidFill>
            <a:srgbClr val="FBEBB0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26" name="Graphic 25" descr="building-2 icon">
            <a:extLst>
              <a:ext uri="{FF2B5EF4-FFF2-40B4-BE49-F238E27FC236}">
                <a16:creationId xmlns:a16="http://schemas.microsoft.com/office/drawing/2014/main" id="{DDBEF44B-1E65-A73F-58FF-694566103613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537200" y="4013200"/>
            <a:ext cx="279400" cy="279400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4903FA46-A208-ED1E-35C1-BAA4590E2034}"/>
              </a:ext>
            </a:extLst>
          </p:cNvPr>
          <p:cNvSpPr txBox="1"/>
          <p:nvPr/>
        </p:nvSpPr>
        <p:spPr>
          <a:xfrm>
            <a:off x="406400" y="4013200"/>
            <a:ext cx="5080000" cy="254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IN" sz="1250" b="1">
                <a:latin typeface="Arial" panose="020B0604020202020204" pitchFamily="34" charset="0"/>
              </a:rPr>
              <a:t>Enterprises &amp; Government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6CF2249-1C01-0F49-5F89-9CC8E4E989D8}"/>
              </a:ext>
            </a:extLst>
          </p:cNvPr>
          <p:cNvSpPr txBox="1"/>
          <p:nvPr/>
        </p:nvSpPr>
        <p:spPr>
          <a:xfrm>
            <a:off x="406400" y="4292600"/>
            <a:ext cx="5410200" cy="4826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IN" sz="1050">
                <a:solidFill>
                  <a:srgbClr val="1A1A1A"/>
                </a:solidFill>
                <a:latin typeface="Arial" panose="020B0604020202020204" pitchFamily="34" charset="0"/>
              </a:rPr>
              <a:t>Adopt AI safely instead of banning it: one policy, pushed to every browser, with a metadata-only audit log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6F2A3A07-BF44-96F4-E779-DB9ACC8BF3CD}"/>
              </a:ext>
            </a:extLst>
          </p:cNvPr>
          <p:cNvCxnSpPr/>
          <p:nvPr/>
        </p:nvCxnSpPr>
        <p:spPr>
          <a:xfrm>
            <a:off x="6096000" y="1270000"/>
            <a:ext cx="0" cy="3556000"/>
          </a:xfrm>
          <a:prstGeom prst="straightConnector1">
            <a:avLst/>
          </a:prstGeom>
          <a:ln w="22225">
            <a:solidFill>
              <a:srgbClr val="00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BCACD9E4-576C-A15A-2D5D-AE6AE64B10FF}"/>
              </a:ext>
            </a:extLst>
          </p:cNvPr>
          <p:cNvSpPr txBox="1"/>
          <p:nvPr/>
        </p:nvSpPr>
        <p:spPr>
          <a:xfrm>
            <a:off x="6273800" y="1193800"/>
            <a:ext cx="38100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IN" sz="1700" b="1">
                <a:latin typeface="Arial" panose="020B0604020202020204" pitchFamily="34" charset="0"/>
              </a:rPr>
              <a:t>BENEFITS</a:t>
            </a: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63D8F7A6-85B3-891C-3D0E-FC322BAD5681}"/>
              </a:ext>
            </a:extLst>
          </p:cNvPr>
          <p:cNvSpPr/>
          <p:nvPr/>
        </p:nvSpPr>
        <p:spPr>
          <a:xfrm>
            <a:off x="6273800" y="1549400"/>
            <a:ext cx="736600" cy="736600"/>
          </a:xfrm>
          <a:prstGeom prst="roundRect">
            <a:avLst>
              <a:gd name="adj" fmla="val 17241"/>
            </a:avLst>
          </a:prstGeom>
          <a:solidFill>
            <a:srgbClr val="E46A6A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33" name="Graphic 32" descr="hand-heart icon">
            <a:extLst>
              <a:ext uri="{FF2B5EF4-FFF2-40B4-BE49-F238E27FC236}">
                <a16:creationId xmlns:a16="http://schemas.microsoft.com/office/drawing/2014/main" id="{B015AF02-CD99-E17A-DBB3-E710CF32B0B1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438900" y="1714500"/>
            <a:ext cx="406400" cy="406400"/>
          </a:xfrm>
          <a:prstGeom prst="rect">
            <a:avLst/>
          </a:prstGeom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7A1F822D-FF58-FB3F-7349-F13663EF4249}"/>
              </a:ext>
            </a:extLst>
          </p:cNvPr>
          <p:cNvSpPr txBox="1"/>
          <p:nvPr/>
        </p:nvSpPr>
        <p:spPr>
          <a:xfrm>
            <a:off x="7137400" y="1549400"/>
            <a:ext cx="4826000" cy="7366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>
              <a:spcAft>
                <a:spcPts val="200"/>
              </a:spcAft>
            </a:pPr>
            <a:r>
              <a:rPr lang="en-IN" sz="1250" b="1">
                <a:solidFill>
                  <a:srgbClr val="1A1A1A"/>
                </a:solidFill>
                <a:latin typeface="Arial" panose="020B0604020202020204" pitchFamily="34" charset="0"/>
              </a:rPr>
              <a:t>Social</a:t>
            </a:r>
          </a:p>
          <a:p>
            <a:pPr>
              <a:spcAft>
                <a:spcPts val="200"/>
              </a:spcAft>
            </a:pPr>
            <a:r>
              <a:rPr lang="en-IN" sz="1050">
                <a:solidFill>
                  <a:srgbClr val="1A1A1A"/>
                </a:solidFill>
                <a:latin typeface="Arial" panose="020B0604020202020204" pitchFamily="34" charset="0"/>
              </a:rPr>
              <a:t>Privacy by default for every AI user, so more people can use AI with confidence</a:t>
            </a: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86371694-8EB4-2E5C-6698-AA61CEB2C740}"/>
              </a:ext>
            </a:extLst>
          </p:cNvPr>
          <p:cNvSpPr/>
          <p:nvPr/>
        </p:nvSpPr>
        <p:spPr>
          <a:xfrm>
            <a:off x="6273800" y="2387600"/>
            <a:ext cx="736600" cy="736600"/>
          </a:xfrm>
          <a:prstGeom prst="roundRect">
            <a:avLst>
              <a:gd name="adj" fmla="val 17241"/>
            </a:avLst>
          </a:prstGeom>
          <a:solidFill>
            <a:srgbClr val="2E9E5B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37" name="Graphic 36" descr="indian-rupee icon">
            <a:extLst>
              <a:ext uri="{FF2B5EF4-FFF2-40B4-BE49-F238E27FC236}">
                <a16:creationId xmlns:a16="http://schemas.microsoft.com/office/drawing/2014/main" id="{DA618E99-8437-097B-F68D-30A404325499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438900" y="2552700"/>
            <a:ext cx="406400" cy="406400"/>
          </a:xfrm>
          <a:prstGeom prst="rect">
            <a:avLst/>
          </a:prstGeom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F3D13015-5814-3368-508F-E9218259655E}"/>
              </a:ext>
            </a:extLst>
          </p:cNvPr>
          <p:cNvSpPr txBox="1"/>
          <p:nvPr/>
        </p:nvSpPr>
        <p:spPr>
          <a:xfrm>
            <a:off x="7137400" y="2387600"/>
            <a:ext cx="4826000" cy="7366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>
              <a:spcAft>
                <a:spcPts val="200"/>
              </a:spcAft>
            </a:pPr>
            <a:r>
              <a:rPr lang="en-IN" sz="1250" b="1">
                <a:solidFill>
                  <a:srgbClr val="1A1A1A"/>
                </a:solidFill>
                <a:latin typeface="Arial" panose="020B0604020202020204" pitchFamily="34" charset="0"/>
              </a:rPr>
              <a:t>Economic</a:t>
            </a:r>
          </a:p>
          <a:p>
            <a:pPr>
              <a:spcAft>
                <a:spcPts val="200"/>
              </a:spcAft>
            </a:pPr>
            <a:r>
              <a:rPr lang="en-IN" sz="1050">
                <a:solidFill>
                  <a:srgbClr val="1A1A1A"/>
                </a:solidFill>
                <a:latin typeface="Arial" panose="020B0604020202020204" pitchFamily="34" charset="0"/>
              </a:rPr>
              <a:t>Cuts breach and DPDP penalty exposure (up to ₹250 Cr) with zero server spend</a:t>
            </a:r>
          </a:p>
        </p:txBody>
      </p:sp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B6EBF0FE-4FF5-A447-5C25-2AB9D681BDCE}"/>
              </a:ext>
            </a:extLst>
          </p:cNvPr>
          <p:cNvSpPr/>
          <p:nvPr/>
        </p:nvSpPr>
        <p:spPr>
          <a:xfrm>
            <a:off x="6273800" y="3225800"/>
            <a:ext cx="736600" cy="736600"/>
          </a:xfrm>
          <a:prstGeom prst="roundRect">
            <a:avLst>
              <a:gd name="adj" fmla="val 17241"/>
            </a:avLst>
          </a:prstGeom>
          <a:solidFill>
            <a:srgbClr val="6F4FB0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41" name="Graphic 40" descr="scale icon">
            <a:extLst>
              <a:ext uri="{FF2B5EF4-FFF2-40B4-BE49-F238E27FC236}">
                <a16:creationId xmlns:a16="http://schemas.microsoft.com/office/drawing/2014/main" id="{F3296F1B-2882-2843-7209-9C3547432A1D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6438900" y="3390900"/>
            <a:ext cx="406400" cy="406400"/>
          </a:xfrm>
          <a:prstGeom prst="rect">
            <a:avLst/>
          </a:prstGeom>
        </p:spPr>
      </p:pic>
      <p:sp>
        <p:nvSpPr>
          <p:cNvPr id="42" name="TextBox 41">
            <a:extLst>
              <a:ext uri="{FF2B5EF4-FFF2-40B4-BE49-F238E27FC236}">
                <a16:creationId xmlns:a16="http://schemas.microsoft.com/office/drawing/2014/main" id="{EFB7B430-BAAE-D68E-B42F-CE596C465135}"/>
              </a:ext>
            </a:extLst>
          </p:cNvPr>
          <p:cNvSpPr txBox="1"/>
          <p:nvPr/>
        </p:nvSpPr>
        <p:spPr>
          <a:xfrm>
            <a:off x="7137400" y="3225800"/>
            <a:ext cx="4826000" cy="7366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>
              <a:spcAft>
                <a:spcPts val="200"/>
              </a:spcAft>
            </a:pPr>
            <a:r>
              <a:rPr lang="en-IN" sz="1250" b="1">
                <a:solidFill>
                  <a:srgbClr val="1A1A1A"/>
                </a:solidFill>
                <a:latin typeface="Arial" panose="020B0604020202020204" pitchFamily="34" charset="0"/>
              </a:rPr>
              <a:t>Compliance</a:t>
            </a:r>
          </a:p>
          <a:p>
            <a:pPr>
              <a:spcAft>
                <a:spcPts val="200"/>
              </a:spcAft>
            </a:pPr>
            <a:r>
              <a:rPr lang="en-IN" sz="1050">
                <a:solidFill>
                  <a:srgbClr val="1A1A1A"/>
                </a:solidFill>
                <a:latin typeface="Arial" panose="020B0604020202020204" pitchFamily="34" charset="0"/>
              </a:rPr>
              <a:t>Data minimisation by design (DPDP Act 2023, GDPR); the audit log stores counts, never text</a:t>
            </a:r>
          </a:p>
        </p:txBody>
      </p:sp>
      <p:sp>
        <p:nvSpPr>
          <p:cNvPr id="43" name="Rectangle: Rounded Corners 42">
            <a:extLst>
              <a:ext uri="{FF2B5EF4-FFF2-40B4-BE49-F238E27FC236}">
                <a16:creationId xmlns:a16="http://schemas.microsoft.com/office/drawing/2014/main" id="{56DF5289-5CF4-777D-9D04-06C1CD111575}"/>
              </a:ext>
            </a:extLst>
          </p:cNvPr>
          <p:cNvSpPr/>
          <p:nvPr/>
        </p:nvSpPr>
        <p:spPr>
          <a:xfrm>
            <a:off x="6273800" y="4064000"/>
            <a:ext cx="736600" cy="736600"/>
          </a:xfrm>
          <a:prstGeom prst="roundRect">
            <a:avLst>
              <a:gd name="adj" fmla="val 17241"/>
            </a:avLst>
          </a:prstGeom>
          <a:solidFill>
            <a:srgbClr val="1BA37A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45" name="Graphic 44" descr="leaf icon">
            <a:extLst>
              <a:ext uri="{FF2B5EF4-FFF2-40B4-BE49-F238E27FC236}">
                <a16:creationId xmlns:a16="http://schemas.microsoft.com/office/drawing/2014/main" id="{3F9B7CCA-3934-22DF-8409-82167F4D2EB1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438900" y="4229100"/>
            <a:ext cx="406400" cy="406400"/>
          </a:xfrm>
          <a:prstGeom prst="rect">
            <a:avLst/>
          </a:prstGeom>
        </p:spPr>
      </p:pic>
      <p:sp>
        <p:nvSpPr>
          <p:cNvPr id="46" name="TextBox 45">
            <a:extLst>
              <a:ext uri="{FF2B5EF4-FFF2-40B4-BE49-F238E27FC236}">
                <a16:creationId xmlns:a16="http://schemas.microsoft.com/office/drawing/2014/main" id="{173A2613-3706-5C2D-2F8C-62A81B34E0F1}"/>
              </a:ext>
            </a:extLst>
          </p:cNvPr>
          <p:cNvSpPr txBox="1"/>
          <p:nvPr/>
        </p:nvSpPr>
        <p:spPr>
          <a:xfrm>
            <a:off x="7137400" y="4064000"/>
            <a:ext cx="4826000" cy="7366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>
              <a:spcAft>
                <a:spcPts val="200"/>
              </a:spcAft>
            </a:pPr>
            <a:r>
              <a:rPr lang="en-IN" sz="1250" b="1">
                <a:solidFill>
                  <a:srgbClr val="1A1A1A"/>
                </a:solidFill>
                <a:latin typeface="Arial" panose="020B0604020202020204" pitchFamily="34" charset="0"/>
              </a:rPr>
              <a:t>Environmental</a:t>
            </a:r>
          </a:p>
          <a:p>
            <a:pPr>
              <a:spcAft>
                <a:spcPts val="200"/>
              </a:spcAft>
            </a:pPr>
            <a:r>
              <a:rPr lang="en-IN" sz="1050">
                <a:solidFill>
                  <a:srgbClr val="1A1A1A"/>
                </a:solidFill>
                <a:latin typeface="Arial" panose="020B0604020202020204" pitchFamily="34" charset="0"/>
              </a:rPr>
              <a:t>No proxy servers or extra data-centre hops; runs on devices people already have</a:t>
            </a:r>
          </a:p>
        </p:txBody>
      </p:sp>
      <p:sp>
        <p:nvSpPr>
          <p:cNvPr id="47" name="Rectangle: Rounded Corners 46">
            <a:extLst>
              <a:ext uri="{FF2B5EF4-FFF2-40B4-BE49-F238E27FC236}">
                <a16:creationId xmlns:a16="http://schemas.microsoft.com/office/drawing/2014/main" id="{85CB4CAD-B0DB-55EB-D991-5B4BC5FC50E5}"/>
              </a:ext>
            </a:extLst>
          </p:cNvPr>
          <p:cNvSpPr/>
          <p:nvPr/>
        </p:nvSpPr>
        <p:spPr>
          <a:xfrm>
            <a:off x="228600" y="4953000"/>
            <a:ext cx="11734800" cy="1295400"/>
          </a:xfrm>
          <a:prstGeom prst="roundRect">
            <a:avLst>
              <a:gd name="adj" fmla="val 13725"/>
            </a:avLst>
          </a:prstGeom>
          <a:gradFill flip="none" rotWithShape="1">
            <a:gsLst>
              <a:gs pos="0">
                <a:srgbClr val="E9E2F8"/>
              </a:gs>
              <a:gs pos="100000">
                <a:srgbClr val="DDEBFB"/>
              </a:gs>
            </a:gsLst>
            <a:lin ang="0" scaled="1"/>
            <a:tileRect/>
          </a:gra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BB1F8E73-85F7-866C-748B-16C2CE017583}"/>
              </a:ext>
            </a:extLst>
          </p:cNvPr>
          <p:cNvSpPr txBox="1"/>
          <p:nvPr/>
        </p:nvSpPr>
        <p:spPr>
          <a:xfrm>
            <a:off x="381000" y="5003800"/>
            <a:ext cx="38100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IN" b="1">
                <a:latin typeface="Arial" panose="020B0604020202020204" pitchFamily="34" charset="0"/>
              </a:rPr>
              <a:t>FUTURE SCOPE</a:t>
            </a:r>
          </a:p>
        </p:txBody>
      </p:sp>
      <p:sp>
        <p:nvSpPr>
          <p:cNvPr id="49" name="Rectangle: Rounded Corners 48">
            <a:extLst>
              <a:ext uri="{FF2B5EF4-FFF2-40B4-BE49-F238E27FC236}">
                <a16:creationId xmlns:a16="http://schemas.microsoft.com/office/drawing/2014/main" id="{FF64510E-1327-B978-56D9-5246FDB5A5B5}"/>
              </a:ext>
            </a:extLst>
          </p:cNvPr>
          <p:cNvSpPr/>
          <p:nvPr/>
        </p:nvSpPr>
        <p:spPr>
          <a:xfrm>
            <a:off x="381000" y="5334000"/>
            <a:ext cx="1816100" cy="787400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25400" cap="flat" cmpd="sng" algn="ctr">
            <a:noFill/>
            <a:prstDash val="solid"/>
          </a:ln>
          <a:effectLst>
            <a:outerShdw blurRad="101600" dist="25400" dir="5400000" rotWithShape="0">
              <a:srgbClr val="1E293B">
                <a:alpha val="18000"/>
              </a:srgbClr>
            </a:outerShdw>
          </a:effectLst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51" name="Graphic 50" descr="refresh-cw icon">
            <a:extLst>
              <a:ext uri="{FF2B5EF4-FFF2-40B4-BE49-F238E27FC236}">
                <a16:creationId xmlns:a16="http://schemas.microsoft.com/office/drawing/2014/main" id="{8D950051-913A-AA23-DE19-A7EE994D2A78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508000" y="5562600"/>
            <a:ext cx="304800" cy="304800"/>
          </a:xfrm>
          <a:prstGeom prst="rect">
            <a:avLst/>
          </a:prstGeom>
        </p:spPr>
      </p:pic>
      <p:sp>
        <p:nvSpPr>
          <p:cNvPr id="52" name="TextBox 51">
            <a:extLst>
              <a:ext uri="{FF2B5EF4-FFF2-40B4-BE49-F238E27FC236}">
                <a16:creationId xmlns:a16="http://schemas.microsoft.com/office/drawing/2014/main" id="{A5F8F0A8-415A-405F-C862-0E30BEE2CC96}"/>
              </a:ext>
            </a:extLst>
          </p:cNvPr>
          <p:cNvSpPr txBox="1"/>
          <p:nvPr/>
        </p:nvSpPr>
        <p:spPr>
          <a:xfrm>
            <a:off x="889000" y="5334000"/>
            <a:ext cx="1244600" cy="7874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IN" sz="1000" b="1">
                <a:solidFill>
                  <a:srgbClr val="1F497D"/>
                </a:solidFill>
                <a:latin typeface="Arial" panose="020B0604020202020204" pitchFamily="34" charset="0"/>
              </a:rPr>
              <a:t>Restore real values in AI replies</a:t>
            </a:r>
          </a:p>
        </p:txBody>
      </p:sp>
      <p:sp>
        <p:nvSpPr>
          <p:cNvPr id="53" name="Rectangle: Rounded Corners 52">
            <a:extLst>
              <a:ext uri="{FF2B5EF4-FFF2-40B4-BE49-F238E27FC236}">
                <a16:creationId xmlns:a16="http://schemas.microsoft.com/office/drawing/2014/main" id="{B389AB92-260A-1A77-5559-FE5C9F401FB2}"/>
              </a:ext>
            </a:extLst>
          </p:cNvPr>
          <p:cNvSpPr/>
          <p:nvPr/>
        </p:nvSpPr>
        <p:spPr>
          <a:xfrm>
            <a:off x="2286000" y="5334000"/>
            <a:ext cx="1816100" cy="787400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25400" cap="flat" cmpd="sng" algn="ctr">
            <a:noFill/>
            <a:prstDash val="solid"/>
          </a:ln>
          <a:effectLst>
            <a:outerShdw blurRad="101600" dist="25400" dir="5400000" rotWithShape="0">
              <a:srgbClr val="1E293B">
                <a:alpha val="18000"/>
              </a:srgbClr>
            </a:outerShdw>
          </a:effectLst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55" name="Graphic 54" descr="scan-text icon">
            <a:extLst>
              <a:ext uri="{FF2B5EF4-FFF2-40B4-BE49-F238E27FC236}">
                <a16:creationId xmlns:a16="http://schemas.microsoft.com/office/drawing/2014/main" id="{C27A6662-139F-0731-C849-9B11391A76A1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2413000" y="5562600"/>
            <a:ext cx="304800" cy="304800"/>
          </a:xfrm>
          <a:prstGeom prst="rect">
            <a:avLst/>
          </a:prstGeom>
        </p:spPr>
      </p:pic>
      <p:sp>
        <p:nvSpPr>
          <p:cNvPr id="56" name="TextBox 55">
            <a:extLst>
              <a:ext uri="{FF2B5EF4-FFF2-40B4-BE49-F238E27FC236}">
                <a16:creationId xmlns:a16="http://schemas.microsoft.com/office/drawing/2014/main" id="{E49E8E0B-91EB-B382-5223-06F23E03CF81}"/>
              </a:ext>
            </a:extLst>
          </p:cNvPr>
          <p:cNvSpPr txBox="1"/>
          <p:nvPr/>
        </p:nvSpPr>
        <p:spPr>
          <a:xfrm>
            <a:off x="2794000" y="5334000"/>
            <a:ext cx="1244600" cy="7874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IN" sz="1000" b="1">
                <a:solidFill>
                  <a:srgbClr val="1F497D"/>
                </a:solidFill>
                <a:latin typeface="Arial" panose="020B0604020202020204" pitchFamily="34" charset="0"/>
              </a:rPr>
              <a:t>PDF, DOCX and OCR for images</a:t>
            </a:r>
          </a:p>
        </p:txBody>
      </p:sp>
      <p:sp>
        <p:nvSpPr>
          <p:cNvPr id="57" name="Rectangle: Rounded Corners 56">
            <a:extLst>
              <a:ext uri="{FF2B5EF4-FFF2-40B4-BE49-F238E27FC236}">
                <a16:creationId xmlns:a16="http://schemas.microsoft.com/office/drawing/2014/main" id="{957B748A-33A8-E2F7-1F7B-0EAEF937F57E}"/>
              </a:ext>
            </a:extLst>
          </p:cNvPr>
          <p:cNvSpPr/>
          <p:nvPr/>
        </p:nvSpPr>
        <p:spPr>
          <a:xfrm>
            <a:off x="4191000" y="5334000"/>
            <a:ext cx="1816100" cy="787400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25400" cap="flat" cmpd="sng" algn="ctr">
            <a:noFill/>
            <a:prstDash val="solid"/>
          </a:ln>
          <a:effectLst>
            <a:outerShdw blurRad="101600" dist="25400" dir="5400000" rotWithShape="0">
              <a:srgbClr val="1E293B">
                <a:alpha val="18000"/>
              </a:srgbClr>
            </a:outerShdw>
          </a:effectLst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59" name="Graphic 58" descr="languages icon">
            <a:extLst>
              <a:ext uri="{FF2B5EF4-FFF2-40B4-BE49-F238E27FC236}">
                <a16:creationId xmlns:a16="http://schemas.microsoft.com/office/drawing/2014/main" id="{C4EA5BC6-B466-42BE-0480-33AAC1DD9849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4318000" y="5562600"/>
            <a:ext cx="304800" cy="304800"/>
          </a:xfrm>
          <a:prstGeom prst="rect">
            <a:avLst/>
          </a:prstGeom>
        </p:spPr>
      </p:pic>
      <p:sp>
        <p:nvSpPr>
          <p:cNvPr id="60" name="TextBox 59">
            <a:extLst>
              <a:ext uri="{FF2B5EF4-FFF2-40B4-BE49-F238E27FC236}">
                <a16:creationId xmlns:a16="http://schemas.microsoft.com/office/drawing/2014/main" id="{04DBFC1E-4B91-D169-CA7F-9CCE42C3CAE6}"/>
              </a:ext>
            </a:extLst>
          </p:cNvPr>
          <p:cNvSpPr txBox="1"/>
          <p:nvPr/>
        </p:nvSpPr>
        <p:spPr>
          <a:xfrm>
            <a:off x="4699000" y="5334000"/>
            <a:ext cx="1244600" cy="7874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IN" sz="1000" b="1">
                <a:solidFill>
                  <a:srgbClr val="1F497D"/>
                </a:solidFill>
                <a:latin typeface="Arial" panose="020B0604020202020204" pitchFamily="34" charset="0"/>
              </a:rPr>
              <a:t>Hindi and other Indian languages</a:t>
            </a:r>
          </a:p>
        </p:txBody>
      </p:sp>
      <p:sp>
        <p:nvSpPr>
          <p:cNvPr id="61" name="Rectangle: Rounded Corners 60">
            <a:extLst>
              <a:ext uri="{FF2B5EF4-FFF2-40B4-BE49-F238E27FC236}">
                <a16:creationId xmlns:a16="http://schemas.microsoft.com/office/drawing/2014/main" id="{EF9EAC4E-0635-1F87-3C19-ADDD5585250F}"/>
              </a:ext>
            </a:extLst>
          </p:cNvPr>
          <p:cNvSpPr/>
          <p:nvPr/>
        </p:nvSpPr>
        <p:spPr>
          <a:xfrm>
            <a:off x="6096000" y="5334000"/>
            <a:ext cx="1816100" cy="787400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25400" cap="flat" cmpd="sng" algn="ctr">
            <a:noFill/>
            <a:prstDash val="solid"/>
          </a:ln>
          <a:effectLst>
            <a:outerShdw blurRad="101600" dist="25400" dir="5400000" rotWithShape="0">
              <a:srgbClr val="1E293B">
                <a:alpha val="18000"/>
              </a:srgbClr>
            </a:outerShdw>
          </a:effectLst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63" name="Graphic 62" descr="brain-circuit icon">
            <a:extLst>
              <a:ext uri="{FF2B5EF4-FFF2-40B4-BE49-F238E27FC236}">
                <a16:creationId xmlns:a16="http://schemas.microsoft.com/office/drawing/2014/main" id="{641A868C-2028-108D-5D63-8A616CFA68B9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223000" y="5562600"/>
            <a:ext cx="304800" cy="304800"/>
          </a:xfrm>
          <a:prstGeom prst="rect">
            <a:avLst/>
          </a:prstGeom>
        </p:spPr>
      </p:pic>
      <p:sp>
        <p:nvSpPr>
          <p:cNvPr id="128" name="TextBox 127">
            <a:extLst>
              <a:ext uri="{FF2B5EF4-FFF2-40B4-BE49-F238E27FC236}">
                <a16:creationId xmlns:a16="http://schemas.microsoft.com/office/drawing/2014/main" id="{CA4539C4-CFC4-8FEC-528D-8D9817322D49}"/>
              </a:ext>
            </a:extLst>
          </p:cNvPr>
          <p:cNvSpPr txBox="1"/>
          <p:nvPr/>
        </p:nvSpPr>
        <p:spPr>
          <a:xfrm>
            <a:off x="6604000" y="5334000"/>
            <a:ext cx="1244600" cy="7874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IN" sz="1000" b="1">
                <a:solidFill>
                  <a:srgbClr val="1F497D"/>
                </a:solidFill>
                <a:latin typeface="Arial" panose="020B0604020202020204" pitchFamily="34" charset="0"/>
              </a:rPr>
              <a:t>Local NER model for names</a:t>
            </a:r>
          </a:p>
        </p:txBody>
      </p:sp>
      <p:sp>
        <p:nvSpPr>
          <p:cNvPr id="129" name="Rectangle: Rounded Corners 128">
            <a:extLst>
              <a:ext uri="{FF2B5EF4-FFF2-40B4-BE49-F238E27FC236}">
                <a16:creationId xmlns:a16="http://schemas.microsoft.com/office/drawing/2014/main" id="{5DD4BB73-86A5-B1B2-AA5F-B525DB7D920D}"/>
              </a:ext>
            </a:extLst>
          </p:cNvPr>
          <p:cNvSpPr/>
          <p:nvPr/>
        </p:nvSpPr>
        <p:spPr>
          <a:xfrm>
            <a:off x="8001000" y="5334000"/>
            <a:ext cx="1816100" cy="787400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25400" cap="flat" cmpd="sng" algn="ctr">
            <a:noFill/>
            <a:prstDash val="solid"/>
          </a:ln>
          <a:effectLst>
            <a:outerShdw blurRad="101600" dist="25400" dir="5400000" rotWithShape="0">
              <a:srgbClr val="1E293B">
                <a:alpha val="18000"/>
              </a:srgbClr>
            </a:outerShdw>
          </a:effectLst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131" name="Graphic 130" descr="route icon">
            <a:extLst>
              <a:ext uri="{FF2B5EF4-FFF2-40B4-BE49-F238E27FC236}">
                <a16:creationId xmlns:a16="http://schemas.microsoft.com/office/drawing/2014/main" id="{484DC3E3-C698-79B6-D6A0-B606B4640914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8128000" y="5562600"/>
            <a:ext cx="304800" cy="304800"/>
          </a:xfrm>
          <a:prstGeom prst="rect">
            <a:avLst/>
          </a:prstGeom>
        </p:spPr>
      </p:pic>
      <p:sp>
        <p:nvSpPr>
          <p:cNvPr id="132" name="TextBox 131">
            <a:extLst>
              <a:ext uri="{FF2B5EF4-FFF2-40B4-BE49-F238E27FC236}">
                <a16:creationId xmlns:a16="http://schemas.microsoft.com/office/drawing/2014/main" id="{3957535F-9534-8BA7-3441-B5DAA158812E}"/>
              </a:ext>
            </a:extLst>
          </p:cNvPr>
          <p:cNvSpPr txBox="1"/>
          <p:nvPr/>
        </p:nvSpPr>
        <p:spPr>
          <a:xfrm>
            <a:off x="8509000" y="5334000"/>
            <a:ext cx="1244600" cy="7874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IN" sz="1000" b="1">
                <a:solidFill>
                  <a:srgbClr val="1F497D"/>
                </a:solidFill>
                <a:latin typeface="Arial" panose="020B0604020202020204" pitchFamily="34" charset="0"/>
              </a:rPr>
              <a:t>Org gateway for desktop apps</a:t>
            </a:r>
          </a:p>
        </p:txBody>
      </p:sp>
      <p:sp>
        <p:nvSpPr>
          <p:cNvPr id="133" name="Rectangle: Rounded Corners 132">
            <a:extLst>
              <a:ext uri="{FF2B5EF4-FFF2-40B4-BE49-F238E27FC236}">
                <a16:creationId xmlns:a16="http://schemas.microsoft.com/office/drawing/2014/main" id="{E5FF8EEF-A5B8-8B03-8373-13EAE4BFE1A0}"/>
              </a:ext>
            </a:extLst>
          </p:cNvPr>
          <p:cNvSpPr/>
          <p:nvPr/>
        </p:nvSpPr>
        <p:spPr>
          <a:xfrm>
            <a:off x="9906000" y="5334000"/>
            <a:ext cx="1816100" cy="787400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25400" cap="flat" cmpd="sng" algn="ctr">
            <a:noFill/>
            <a:prstDash val="solid"/>
          </a:ln>
          <a:effectLst>
            <a:outerShdw blurRad="101600" dist="25400" dir="5400000" rotWithShape="0">
              <a:srgbClr val="1E293B">
                <a:alpha val="18000"/>
              </a:srgbClr>
            </a:outerShdw>
          </a:effectLst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142" name="Graphic 141" descr="file-lock icon">
            <a:extLst>
              <a:ext uri="{FF2B5EF4-FFF2-40B4-BE49-F238E27FC236}">
                <a16:creationId xmlns:a16="http://schemas.microsoft.com/office/drawing/2014/main" id="{E90BE953-B4F2-2A6A-B42E-46BF6A8CD455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10033000" y="5562600"/>
            <a:ext cx="304800" cy="304800"/>
          </a:xfrm>
          <a:prstGeom prst="rect">
            <a:avLst/>
          </a:prstGeom>
        </p:spPr>
      </p:pic>
      <p:sp>
        <p:nvSpPr>
          <p:cNvPr id="143" name="TextBox 142">
            <a:extLst>
              <a:ext uri="{FF2B5EF4-FFF2-40B4-BE49-F238E27FC236}">
                <a16:creationId xmlns:a16="http://schemas.microsoft.com/office/drawing/2014/main" id="{D071DD80-25D7-3651-0027-E1FFEF7F8080}"/>
              </a:ext>
            </a:extLst>
          </p:cNvPr>
          <p:cNvSpPr txBox="1"/>
          <p:nvPr/>
        </p:nvSpPr>
        <p:spPr>
          <a:xfrm>
            <a:off x="10414000" y="5334000"/>
            <a:ext cx="1244600" cy="7874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IN" sz="1000" b="1">
                <a:solidFill>
                  <a:srgbClr val="1F497D"/>
                </a:solidFill>
                <a:latin typeface="Arial" panose="020B0604020202020204" pitchFamily="34" charset="0"/>
              </a:rPr>
              <a:t>Tamper-evident audit log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6"/>
          <p:cNvSpPr/>
          <p:nvPr/>
        </p:nvSpPr>
        <p:spPr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>
            <a:noFill/>
          </a:ln>
          <a:effectLst>
            <a:outerShdw dist="23000" dir="5400000" rotWithShape="0">
              <a:srgbClr val="80808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95373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" name="Google Shape;148;p6"/>
          <p:cNvSpPr txBox="1">
            <a:spLocks noGrp="1"/>
          </p:cNvSpPr>
          <p:nvPr>
            <p:ph type="title"/>
          </p:nvPr>
        </p:nvSpPr>
        <p:spPr>
          <a:xfrm>
            <a:off x="1905000" y="50800"/>
            <a:ext cx="8382000" cy="63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lvl="0" rtl="0"/>
            <a:r>
              <a:rPr lang="en-US" sz="3400" b="1">
                <a:solidFill>
                  <a:srgbClr val="000000"/>
                </a:solidFill>
                <a:latin typeface="Times New Roman" panose="02020603050405020304" pitchFamily="18" charset="0"/>
                <a:ea typeface="Times New Roman"/>
                <a:cs typeface="Times New Roman"/>
                <a:sym typeface="Times New Roman"/>
              </a:rPr>
              <a:t>RESEARCH AND REFERENCES</a:t>
            </a:r>
            <a:endParaRPr sz="3400" b="1">
              <a:solidFill>
                <a:srgbClr val="000000"/>
              </a:solidFill>
              <a:latin typeface="Times New Roman" panose="02020603050405020304" pitchFamily="18" charset="0"/>
            </a:endParaRPr>
          </a:p>
        </p:txBody>
      </p:sp>
      <p:sp>
        <p:nvSpPr>
          <p:cNvPr id="150" name="Google Shape;150;p6"/>
          <p:cNvSpPr txBox="1">
            <a:spLocks noGrp="1"/>
          </p:cNvSpPr>
          <p:nvPr>
            <p:ph type="sldNum" idx="12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Oswald"/>
              <a:buNone/>
            </a:pPr>
            <a:fld id="{00000000-1234-1234-1234-123412341234}" type="slidenum">
              <a:rPr lang="en-US" sz="1200" b="1" i="0" u="none" strike="noStrike" cap="none">
                <a:solidFill>
                  <a:srgbClr val="FFFFFF"/>
                </a:solidFill>
                <a:latin typeface="Oswald"/>
                <a:ea typeface="Oswald"/>
                <a:cs typeface="Oswald"/>
                <a:sym typeface="Oswald"/>
              </a:rPr>
              <a:t>6</a:t>
            </a:fld>
            <a:endParaRPr sz="1200" b="1" i="0" u="none" strike="noStrike" cap="none">
              <a:solidFill>
                <a:srgbClr val="FFFFFF"/>
              </a:solidFill>
              <a:latin typeface="Oswald"/>
              <a:ea typeface="Oswald"/>
              <a:cs typeface="Oswald"/>
              <a:sym typeface="Oswald"/>
            </a:endParaRPr>
          </a:p>
        </p:txBody>
      </p:sp>
      <p:sp>
        <p:nvSpPr>
          <p:cNvPr id="151" name="Google Shape;151;p6"/>
          <p:cNvSpPr txBox="1">
            <a:spLocks noGrp="1"/>
          </p:cNvSpPr>
          <p:nvPr>
            <p:ph type="ftr" idx="11"/>
          </p:nvPr>
        </p:nvSpPr>
        <p:spPr>
          <a:xfrm>
            <a:off x="4648200" y="6356353"/>
            <a:ext cx="32040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R="0" lvl="0" rtl="0">
              <a:buClr>
                <a:srgbClr val="FFFFFF"/>
              </a:buClr>
              <a:buSzPts val="1200"/>
            </a:pPr>
            <a:r>
              <a:rPr lang="en-IN" sz="1100" u="none" strike="noStrike" cap="none">
                <a:solidFill>
                  <a:srgbClr val="FFFFFF"/>
                </a:solidFill>
                <a:latin typeface="Oswald" panose="00000500000000000000" pitchFamily="2" charset="0"/>
                <a:ea typeface="Oswald"/>
                <a:cs typeface="Oswald"/>
                <a:sym typeface="Oswald"/>
              </a:rPr>
              <a:t>@BITSHIFT Idea submission  ·  TechKnights  ·  P2Shield</a:t>
            </a:r>
            <a:endParaRPr sz="1100" u="none" strike="noStrike" cap="none">
              <a:solidFill>
                <a:srgbClr val="FFFFFF"/>
              </a:solidFill>
              <a:latin typeface="Oswald" panose="00000500000000000000" pitchFamily="2" charset="0"/>
              <a:ea typeface="Oswald"/>
              <a:cs typeface="Oswald"/>
              <a:sym typeface="Oswald"/>
            </a:endParaRPr>
          </a:p>
        </p:txBody>
      </p:sp>
      <p:sp>
        <p:nvSpPr>
          <p:cNvPr id="152" name="Google Shape;152;p6" descr="Your startup LOGO"/>
          <p:cNvSpPr/>
          <p:nvPr/>
        </p:nvSpPr>
        <p:spPr>
          <a:xfrm>
            <a:off x="253999" y="228600"/>
            <a:ext cx="1422400" cy="584200"/>
          </a:xfrm>
          <a:prstGeom prst="ellipse">
            <a:avLst/>
          </a:prstGeom>
          <a:solidFill>
            <a:schemeClr val="lt1"/>
          </a:solidFill>
          <a:ln w="25400" cap="flat" cmpd="sng">
            <a:solidFill>
              <a:srgbClr val="8064A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R="0" lvl="0" algn="ctr" rtl="0"/>
            <a:r>
              <a:rPr lang="en-US" sz="1500" b="1">
                <a:solidFill>
                  <a:srgbClr val="4B2E83"/>
                </a:solidFill>
                <a:latin typeface="Calibri" panose="020F0502020204030204" pitchFamily="34" charset="0"/>
                <a:ea typeface="Calibri"/>
                <a:cs typeface="Calibri"/>
                <a:sym typeface="Calibri"/>
              </a:rPr>
              <a:t>TechKnights</a:t>
            </a:r>
            <a:endParaRPr sz="1500" b="1">
              <a:solidFill>
                <a:srgbClr val="4B2E83"/>
              </a:solidFill>
              <a:latin typeface="Calibri" panose="020F0502020204030204" pitchFamily="34" charset="0"/>
              <a:ea typeface="Calibri"/>
              <a:cs typeface="Calibri"/>
              <a:sym typeface="Calibri"/>
            </a:endParaRPr>
          </a:p>
        </p:txBody>
      </p:sp>
      <p:pic>
        <p:nvPicPr>
          <p:cNvPr id="153" name="Google Shape;153;p6"/>
          <p:cNvPicPr preferRelativeResize="0">
            <a:picLocks noChangeAspect="1"/>
          </p:cNvPicPr>
          <p:nvPr/>
        </p:nvPicPr>
        <p:blipFill rotWithShape="1">
          <a:blip r:embed="rId3">
            <a:alphaModFix/>
          </a:blip>
          <a:srcRect r="13096" b="-9830"/>
          <a:stretch/>
        </p:blipFill>
        <p:spPr>
          <a:xfrm>
            <a:off x="10490200" y="76200"/>
            <a:ext cx="1498600" cy="10622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68ED2008-954E-6950-FCF6-0872A61CB120}"/>
              </a:ext>
            </a:extLst>
          </p:cNvPr>
          <p:cNvSpPr/>
          <p:nvPr/>
        </p:nvSpPr>
        <p:spPr>
          <a:xfrm>
            <a:off x="228600" y="1219200"/>
            <a:ext cx="5829300" cy="2489200"/>
          </a:xfrm>
          <a:prstGeom prst="rect">
            <a:avLst/>
          </a:prstGeom>
          <a:gradFill flip="none" rotWithShape="1">
            <a:gsLst>
              <a:gs pos="0">
                <a:srgbClr val="BDF2F6"/>
              </a:gs>
              <a:gs pos="100000">
                <a:srgbClr val="A9C0F2"/>
              </a:gs>
            </a:gsLst>
            <a:lin ang="0" scaled="1"/>
            <a:tileRect/>
          </a:gra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4" name="Graphic 3" descr="book-open icon">
            <a:extLst>
              <a:ext uri="{FF2B5EF4-FFF2-40B4-BE49-F238E27FC236}">
                <a16:creationId xmlns:a16="http://schemas.microsoft.com/office/drawing/2014/main" id="{9A640E17-D026-E7A7-8C0E-FFB23BF21677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06400" y="1333500"/>
            <a:ext cx="279400" cy="2794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00E1F3B-66E4-3E9A-CE77-951F286B9C0A}"/>
              </a:ext>
            </a:extLst>
          </p:cNvPr>
          <p:cNvSpPr txBox="1"/>
          <p:nvPr/>
        </p:nvSpPr>
        <p:spPr>
          <a:xfrm>
            <a:off x="762000" y="1295400"/>
            <a:ext cx="5143500" cy="3556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IN" sz="1700" b="1">
                <a:latin typeface="Arial" panose="020B0604020202020204" pitchFamily="34" charset="0"/>
              </a:rPr>
              <a:t>INDUSTRY RESEARCH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F433140-03E5-DF78-C239-F0BFD85C05C1}"/>
              </a:ext>
            </a:extLst>
          </p:cNvPr>
          <p:cNvSpPr txBox="1"/>
          <p:nvPr/>
        </p:nvSpPr>
        <p:spPr>
          <a:xfrm>
            <a:off x="431800" y="1701800"/>
            <a:ext cx="5461000" cy="1955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marL="127000" indent="-127000">
              <a:spcAft>
                <a:spcPts val="500"/>
              </a:spcAft>
              <a:buSzPct val="100000"/>
              <a:buFont typeface="Arial" panose="020B0604020202020204" pitchFamily="34" charset="0"/>
              <a:buChar char="•"/>
            </a:pPr>
            <a:r>
              <a:rPr lang="en-IN" sz="1000" b="1">
                <a:latin typeface="Arial" panose="020B0604020202020204" pitchFamily="34" charset="0"/>
              </a:rPr>
              <a:t>LayerX (2025)</a:t>
            </a:r>
            <a:r>
              <a:rPr lang="en-IN" sz="1000">
                <a:latin typeface="Arial" panose="020B0604020202020204" pitchFamily="34" charset="0"/>
              </a:rPr>
              <a:t>, Enterprise AI &amp; SaaS Data Security Report: 77% of GenAI users paste data into prompts; 82% from personal accounts</a:t>
            </a:r>
            <a:br>
              <a:rPr lang="en-IN" sz="1000">
                <a:latin typeface="Arial" panose="020B0604020202020204" pitchFamily="34" charset="0"/>
              </a:rPr>
            </a:br>
            <a:r>
              <a:rPr lang="en-IN" sz="850">
                <a:solidFill>
                  <a:srgbClr val="1D3FA0"/>
                </a:solidFill>
                <a:latin typeface="Arial" panose="020B0604020202020204" pitchFamily="34" charset="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go.layerxsecurity.com/the-layerx-enterprise-ai-saas-data-security-report-2025</a:t>
            </a:r>
            <a:endParaRPr lang="en-IN" sz="850">
              <a:solidFill>
                <a:srgbClr val="1D3FA0"/>
              </a:solidFill>
              <a:latin typeface="Arial" panose="020B0604020202020204" pitchFamily="34" charset="0"/>
            </a:endParaRPr>
          </a:p>
          <a:p>
            <a:pPr marL="127000" indent="-127000">
              <a:spcAft>
                <a:spcPts val="500"/>
              </a:spcAft>
              <a:buSzPct val="100000"/>
              <a:buFont typeface="Arial" panose="020B0604020202020204" pitchFamily="34" charset="0"/>
              <a:buChar char="•"/>
            </a:pPr>
            <a:r>
              <a:rPr lang="en-IN" sz="1000" b="1">
                <a:latin typeface="Arial" panose="020B0604020202020204" pitchFamily="34" charset="0"/>
              </a:rPr>
              <a:t>Cyberhaven Labs (2026)</a:t>
            </a:r>
            <a:r>
              <a:rPr lang="en-IN" sz="1000">
                <a:latin typeface="Arial" panose="020B0604020202020204" pitchFamily="34" charset="0"/>
              </a:rPr>
              <a:t>, AI Adoption &amp; Risk Report: 39.7% of data shared with AI tools is sensitive</a:t>
            </a:r>
            <a:br>
              <a:rPr lang="en-IN" sz="1000">
                <a:latin typeface="Arial" panose="020B0604020202020204" pitchFamily="34" charset="0"/>
              </a:rPr>
            </a:br>
            <a:r>
              <a:rPr lang="en-IN" sz="850">
                <a:solidFill>
                  <a:srgbClr val="1D3FA0"/>
                </a:solidFill>
                <a:latin typeface="Arial" panose="020B0604020202020204" pitchFamily="34" charset="0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cyberhaven.com/press-releases/cyberhaven-2026-ai-adoption-risk-report</a:t>
            </a:r>
            <a:endParaRPr lang="en-IN" sz="850">
              <a:solidFill>
                <a:srgbClr val="1D3FA0"/>
              </a:solidFill>
              <a:latin typeface="Arial" panose="020B0604020202020204" pitchFamily="34" charset="0"/>
            </a:endParaRPr>
          </a:p>
          <a:p>
            <a:pPr marL="127000" indent="-127000">
              <a:spcAft>
                <a:spcPts val="500"/>
              </a:spcAft>
              <a:buSzPct val="100000"/>
              <a:buFont typeface="Arial" panose="020B0604020202020204" pitchFamily="34" charset="0"/>
              <a:buChar char="•"/>
            </a:pPr>
            <a:r>
              <a:rPr lang="en-IN" sz="1000" b="1">
                <a:latin typeface="Arial" panose="020B0604020202020204" pitchFamily="34" charset="0"/>
              </a:rPr>
              <a:t>TechCrunch (2023)</a:t>
            </a:r>
            <a:r>
              <a:rPr lang="en-IN" sz="1000">
                <a:latin typeface="Arial" panose="020B0604020202020204" pitchFamily="34" charset="0"/>
              </a:rPr>
              <a:t>: Samsung bans generative AI after staff leaked internal code to ChatGPT</a:t>
            </a:r>
            <a:br>
              <a:rPr lang="en-IN" sz="1000">
                <a:latin typeface="Arial" panose="020B0604020202020204" pitchFamily="34" charset="0"/>
              </a:rPr>
            </a:br>
            <a:r>
              <a:rPr lang="en-IN" sz="850">
                <a:solidFill>
                  <a:srgbClr val="1D3FA0"/>
                </a:solidFill>
                <a:latin typeface="Arial" panose="020B0604020202020204" pitchFamily="34" charset="0"/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techcrunch.com/2023/05/02/samsung-bans-use-of-generative-ai-tools…</a:t>
            </a:r>
            <a:endParaRPr lang="en-IN" sz="850">
              <a:solidFill>
                <a:srgbClr val="1D3FA0"/>
              </a:solidFill>
              <a:latin typeface="Arial" panose="020B0604020202020204" pitchFamily="34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981210C-DDFE-28AD-4411-EE5935295B15}"/>
              </a:ext>
            </a:extLst>
          </p:cNvPr>
          <p:cNvSpPr/>
          <p:nvPr/>
        </p:nvSpPr>
        <p:spPr>
          <a:xfrm>
            <a:off x="6134100" y="1219200"/>
            <a:ext cx="5829300" cy="2489200"/>
          </a:xfrm>
          <a:prstGeom prst="rect">
            <a:avLst/>
          </a:prstGeom>
          <a:gradFill flip="none" rotWithShape="1">
            <a:gsLst>
              <a:gs pos="0">
                <a:srgbClr val="0B0B2B"/>
              </a:gs>
              <a:gs pos="100000">
                <a:srgbClr val="3B39C9"/>
              </a:gs>
            </a:gsLst>
            <a:lin ang="0" scaled="1"/>
            <a:tileRect/>
          </a:gra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9" name="Graphic 8" descr="scale icon">
            <a:extLst>
              <a:ext uri="{FF2B5EF4-FFF2-40B4-BE49-F238E27FC236}">
                <a16:creationId xmlns:a16="http://schemas.microsoft.com/office/drawing/2014/main" id="{700A819B-9522-2E8C-216F-7EE2084626DB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11900" y="1333500"/>
            <a:ext cx="279400" cy="2794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46662754-337B-1C2B-2C76-6855EDC1CBF2}"/>
              </a:ext>
            </a:extLst>
          </p:cNvPr>
          <p:cNvSpPr txBox="1"/>
          <p:nvPr/>
        </p:nvSpPr>
        <p:spPr>
          <a:xfrm>
            <a:off x="6667500" y="1295400"/>
            <a:ext cx="5143500" cy="3556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IN" sz="1700" b="1">
                <a:solidFill>
                  <a:srgbClr val="FFFFFF"/>
                </a:solidFill>
                <a:latin typeface="Arial" panose="020B0604020202020204" pitchFamily="34" charset="0"/>
              </a:rPr>
              <a:t>STANDARDS &amp; REGULATIONS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3666FF7-83E0-C867-38A8-750C9187C167}"/>
              </a:ext>
            </a:extLst>
          </p:cNvPr>
          <p:cNvSpPr txBox="1"/>
          <p:nvPr/>
        </p:nvSpPr>
        <p:spPr>
          <a:xfrm>
            <a:off x="6337300" y="1701800"/>
            <a:ext cx="5461000" cy="1955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marL="127000" indent="-127000">
              <a:spcAft>
                <a:spcPts val="500"/>
              </a:spcAft>
              <a:buClr>
                <a:srgbClr val="FFFFFF"/>
              </a:buClr>
              <a:buSzPct val="100000"/>
              <a:buFont typeface="Arial" panose="020B0604020202020204" pitchFamily="34" charset="0"/>
              <a:buChar char="•"/>
            </a:pPr>
            <a:r>
              <a:rPr lang="en-IN" sz="1000" b="1">
                <a:solidFill>
                  <a:srgbClr val="FFFFFF"/>
                </a:solidFill>
                <a:latin typeface="Arial" panose="020B0604020202020204" pitchFamily="34" charset="0"/>
              </a:rPr>
              <a:t>OWASP Top 10 for LLM Applications 2025</a:t>
            </a:r>
            <a:r>
              <a:rPr lang="en-IN" sz="1000">
                <a:solidFill>
                  <a:srgbClr val="FFFFFF"/>
                </a:solidFill>
                <a:latin typeface="Arial" panose="020B0604020202020204" pitchFamily="34" charset="0"/>
              </a:rPr>
              <a:t> – LLM02: Sensitive Information Disclosure</a:t>
            </a:r>
            <a:br>
              <a:rPr lang="en-IN" sz="1000">
                <a:solidFill>
                  <a:srgbClr val="FFFFFF"/>
                </a:solidFill>
                <a:latin typeface="Arial" panose="020B0604020202020204" pitchFamily="34" charset="0"/>
              </a:rPr>
            </a:br>
            <a:r>
              <a:rPr lang="en-IN" sz="850">
                <a:solidFill>
                  <a:srgbClr val="A9D4FF"/>
                </a:solidFill>
                <a:latin typeface="Arial" panose="020B0604020202020204" pitchFamily="34" charset="0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genai.owasp.org/llm-top-10</a:t>
            </a:r>
            <a:endParaRPr lang="en-IN" sz="850">
              <a:solidFill>
                <a:srgbClr val="A9D4FF"/>
              </a:solidFill>
              <a:latin typeface="Arial" panose="020B0604020202020204" pitchFamily="34" charset="0"/>
            </a:endParaRPr>
          </a:p>
          <a:p>
            <a:pPr marL="127000" indent="-127000">
              <a:spcAft>
                <a:spcPts val="500"/>
              </a:spcAft>
              <a:buClr>
                <a:srgbClr val="FFFFFF"/>
              </a:buClr>
              <a:buSzPct val="100000"/>
              <a:buFont typeface="Arial" panose="020B0604020202020204" pitchFamily="34" charset="0"/>
              <a:buChar char="•"/>
            </a:pPr>
            <a:r>
              <a:rPr lang="en-IN" sz="1000" b="1">
                <a:solidFill>
                  <a:srgbClr val="FFFFFF"/>
                </a:solidFill>
                <a:latin typeface="Arial" panose="020B0604020202020204" pitchFamily="34" charset="0"/>
              </a:rPr>
              <a:t>Digital Personal Data Protection Act 2023</a:t>
            </a:r>
            <a:r>
              <a:rPr lang="en-IN" sz="1000">
                <a:solidFill>
                  <a:srgbClr val="FFFFFF"/>
                </a:solidFill>
                <a:latin typeface="Arial" panose="020B0604020202020204" pitchFamily="34" charset="0"/>
              </a:rPr>
              <a:t> and DPDP Rules 2025 (MeitY)</a:t>
            </a:r>
            <a:br>
              <a:rPr lang="en-IN" sz="1000">
                <a:solidFill>
                  <a:srgbClr val="FFFFFF"/>
                </a:solidFill>
                <a:latin typeface="Arial" panose="020B0604020202020204" pitchFamily="34" charset="0"/>
              </a:rPr>
            </a:br>
            <a:r>
              <a:rPr lang="en-IN" sz="850">
                <a:solidFill>
                  <a:srgbClr val="A9D4FF"/>
                </a:solidFill>
                <a:latin typeface="Arial" panose="020B0604020202020204" pitchFamily="34" charset="0"/>
                <a:hlinkClick r:id="rId1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meity.gov.in/data-protection-framework</a:t>
            </a:r>
            <a:endParaRPr lang="en-IN" sz="850">
              <a:solidFill>
                <a:srgbClr val="A9D4FF"/>
              </a:solidFill>
              <a:latin typeface="Arial" panose="020B0604020202020204" pitchFamily="34" charset="0"/>
            </a:endParaRPr>
          </a:p>
          <a:p>
            <a:pPr marL="127000" indent="-127000">
              <a:spcAft>
                <a:spcPts val="500"/>
              </a:spcAft>
              <a:buClr>
                <a:srgbClr val="FFFFFF"/>
              </a:buClr>
              <a:buSzPct val="100000"/>
              <a:buFont typeface="Arial" panose="020B0604020202020204" pitchFamily="34" charset="0"/>
              <a:buChar char="•"/>
            </a:pPr>
            <a:r>
              <a:rPr lang="en-IN" sz="1000" b="1">
                <a:solidFill>
                  <a:srgbClr val="FFFFFF"/>
                </a:solidFill>
                <a:latin typeface="Arial" panose="020B0604020202020204" pitchFamily="34" charset="0"/>
              </a:rPr>
              <a:t>NIST SP 800-122</a:t>
            </a:r>
            <a:r>
              <a:rPr lang="en-IN" sz="1000">
                <a:solidFill>
                  <a:srgbClr val="FFFFFF"/>
                </a:solidFill>
                <a:latin typeface="Arial" panose="020B0604020202020204" pitchFamily="34" charset="0"/>
              </a:rPr>
              <a:t> – Guide to Protecting the Confidentiality of PII</a:t>
            </a:r>
            <a:br>
              <a:rPr lang="en-IN" sz="1000">
                <a:solidFill>
                  <a:srgbClr val="FFFFFF"/>
                </a:solidFill>
                <a:latin typeface="Arial" panose="020B0604020202020204" pitchFamily="34" charset="0"/>
              </a:rPr>
            </a:br>
            <a:r>
              <a:rPr lang="en-IN" sz="850">
                <a:solidFill>
                  <a:srgbClr val="A9D4FF"/>
                </a:solidFill>
                <a:latin typeface="Arial" panose="020B0604020202020204" pitchFamily="34" charset="0"/>
                <a:hlinkClick r:id="rId11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csrc.nist.gov/pubs/sp/800/122/final</a:t>
            </a:r>
            <a:endParaRPr lang="en-IN" sz="850">
              <a:solidFill>
                <a:srgbClr val="A9D4FF"/>
              </a:solidFill>
              <a:latin typeface="Arial" panose="020B0604020202020204" pitchFamily="34" charset="0"/>
            </a:endParaRPr>
          </a:p>
          <a:p>
            <a:pPr marL="127000" indent="-127000">
              <a:spcAft>
                <a:spcPts val="500"/>
              </a:spcAft>
              <a:buClr>
                <a:srgbClr val="FFFFFF"/>
              </a:buClr>
              <a:buSzPct val="100000"/>
              <a:buFont typeface="Arial" panose="020B0604020202020204" pitchFamily="34" charset="0"/>
              <a:buChar char="•"/>
            </a:pPr>
            <a:r>
              <a:rPr lang="en-IN" sz="1000" b="1">
                <a:solidFill>
                  <a:srgbClr val="FFFFFF"/>
                </a:solidFill>
                <a:latin typeface="Arial" panose="020B0604020202020204" pitchFamily="34" charset="0"/>
              </a:rPr>
              <a:t>GDPR Art. 25</a:t>
            </a:r>
            <a:r>
              <a:rPr lang="en-IN" sz="1000">
                <a:solidFill>
                  <a:srgbClr val="FFFFFF"/>
                </a:solidFill>
                <a:latin typeface="Arial" panose="020B0604020202020204" pitchFamily="34" charset="0"/>
              </a:rPr>
              <a:t> – data protection by design and by default</a:t>
            </a:r>
            <a:br>
              <a:rPr lang="en-IN" sz="1000">
                <a:solidFill>
                  <a:srgbClr val="FFFFFF"/>
                </a:solidFill>
                <a:latin typeface="Arial" panose="020B0604020202020204" pitchFamily="34" charset="0"/>
              </a:rPr>
            </a:br>
            <a:r>
              <a:rPr lang="en-IN" sz="850">
                <a:solidFill>
                  <a:srgbClr val="A9D4FF"/>
                </a:solidFill>
                <a:latin typeface="Arial" panose="020B0604020202020204" pitchFamily="34" charset="0"/>
                <a:hlinkClick r:id="rId1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gdpr-info.eu/art-25-gdpr</a:t>
            </a:r>
            <a:endParaRPr lang="en-IN" sz="850">
              <a:solidFill>
                <a:srgbClr val="A9D4FF"/>
              </a:solidFill>
              <a:latin typeface="Arial" panose="020B0604020202020204" pitchFamily="34" charset="0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091B6E2-DB8C-642F-6637-AF5C0F535F85}"/>
              </a:ext>
            </a:extLst>
          </p:cNvPr>
          <p:cNvSpPr/>
          <p:nvPr/>
        </p:nvSpPr>
        <p:spPr>
          <a:xfrm>
            <a:off x="228600" y="3759200"/>
            <a:ext cx="5829300" cy="2489200"/>
          </a:xfrm>
          <a:prstGeom prst="rect">
            <a:avLst/>
          </a:prstGeom>
          <a:gradFill flip="none" rotWithShape="1">
            <a:gsLst>
              <a:gs pos="0">
                <a:srgbClr val="0B0B2B"/>
              </a:gs>
              <a:gs pos="100000">
                <a:srgbClr val="3B39C9"/>
              </a:gs>
            </a:gsLst>
            <a:lin ang="0" scaled="1"/>
            <a:tileRect/>
          </a:gra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14" name="Graphic 13" descr="chart-bar icon">
            <a:extLst>
              <a:ext uri="{FF2B5EF4-FFF2-40B4-BE49-F238E27FC236}">
                <a16:creationId xmlns:a16="http://schemas.microsoft.com/office/drawing/2014/main" id="{2BCC155E-8339-CE33-CDD1-20019902D85E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406400" y="3873500"/>
            <a:ext cx="279400" cy="279400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7A7E1EE8-43F7-F620-DB37-CE18278BDE84}"/>
              </a:ext>
            </a:extLst>
          </p:cNvPr>
          <p:cNvSpPr txBox="1"/>
          <p:nvPr/>
        </p:nvSpPr>
        <p:spPr>
          <a:xfrm>
            <a:off x="762000" y="3835400"/>
            <a:ext cx="5143500" cy="3556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IN" sz="1700" b="1">
                <a:solidFill>
                  <a:srgbClr val="FFFFFF"/>
                </a:solidFill>
                <a:latin typeface="Arial" panose="020B0604020202020204" pitchFamily="34" charset="0"/>
              </a:rPr>
              <a:t>MARKET RESEARCH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7CF7E7E-F269-0F13-0923-5076BDA420E4}"/>
              </a:ext>
            </a:extLst>
          </p:cNvPr>
          <p:cNvSpPr txBox="1"/>
          <p:nvPr/>
        </p:nvSpPr>
        <p:spPr>
          <a:xfrm>
            <a:off x="431800" y="4241800"/>
            <a:ext cx="5461000" cy="1955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marL="127000" indent="-127000">
              <a:spcAft>
                <a:spcPts val="500"/>
              </a:spcAft>
              <a:buClr>
                <a:srgbClr val="FFFFFF"/>
              </a:buClr>
              <a:buSzPct val="100000"/>
              <a:buFont typeface="Arial" panose="020B0604020202020204" pitchFamily="34" charset="0"/>
              <a:buChar char="•"/>
            </a:pPr>
            <a:r>
              <a:rPr lang="en-IN" sz="1000" b="1">
                <a:solidFill>
                  <a:srgbClr val="FFFFFF"/>
                </a:solidFill>
                <a:latin typeface="Arial" panose="020B0604020202020204" pitchFamily="34" charset="0"/>
              </a:rPr>
              <a:t>Data loss prevention market</a:t>
            </a:r>
            <a:r>
              <a:rPr lang="en-IN" sz="1000">
                <a:solidFill>
                  <a:srgbClr val="FFFFFF"/>
                </a:solidFill>
                <a:latin typeface="Arial" panose="020B0604020202020204" pitchFamily="34" charset="0"/>
              </a:rPr>
              <a:t>: USD 3.4 B (2025) → USD 13.8 B by 2033, 19.0% CAGR (Grand View Research)</a:t>
            </a:r>
            <a:br>
              <a:rPr lang="en-IN" sz="1000">
                <a:solidFill>
                  <a:srgbClr val="FFFFFF"/>
                </a:solidFill>
                <a:latin typeface="Arial" panose="020B0604020202020204" pitchFamily="34" charset="0"/>
              </a:rPr>
            </a:br>
            <a:r>
              <a:rPr lang="en-IN" sz="850">
                <a:solidFill>
                  <a:srgbClr val="A9D4FF"/>
                </a:solidFill>
                <a:latin typeface="Arial" panose="020B0604020202020204" pitchFamily="34" charset="0"/>
                <a:hlinkClick r:id="rId1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grandviewresearch.com/industry-analysis/data-loss-prevention-market</a:t>
            </a:r>
            <a:endParaRPr lang="en-IN" sz="850">
              <a:solidFill>
                <a:srgbClr val="A9D4FF"/>
              </a:solidFill>
              <a:latin typeface="Arial" panose="020B0604020202020204" pitchFamily="34" charset="0"/>
            </a:endParaRPr>
          </a:p>
          <a:p>
            <a:pPr marL="127000" indent="-127000">
              <a:spcAft>
                <a:spcPts val="500"/>
              </a:spcAft>
              <a:buClr>
                <a:srgbClr val="FFFFFF"/>
              </a:buClr>
              <a:buSzPct val="100000"/>
              <a:buFont typeface="Arial" panose="020B0604020202020204" pitchFamily="34" charset="0"/>
              <a:buChar char="•"/>
            </a:pPr>
            <a:r>
              <a:rPr lang="en-IN" sz="1000" b="1">
                <a:solidFill>
                  <a:srgbClr val="FFFFFF"/>
                </a:solidFill>
                <a:latin typeface="Arial" panose="020B0604020202020204" pitchFamily="34" charset="0"/>
              </a:rPr>
              <a:t>82% of AI pastes</a:t>
            </a:r>
            <a:r>
              <a:rPr lang="en-IN" sz="1000">
                <a:solidFill>
                  <a:srgbClr val="FFFFFF"/>
                </a:solidFill>
                <a:latin typeface="Arial" panose="020B0604020202020204" pitchFamily="34" charset="0"/>
              </a:rPr>
              <a:t> come from unmanaged accounts that network DLP cannot see → the control has to live on the device (LayerX 2025)</a:t>
            </a:r>
          </a:p>
          <a:p>
            <a:pPr marL="127000" indent="-127000">
              <a:spcAft>
                <a:spcPts val="500"/>
              </a:spcAft>
              <a:buClr>
                <a:srgbClr val="FFFFFF"/>
              </a:buClr>
              <a:buSzPct val="100000"/>
              <a:buFont typeface="Arial" panose="020B0604020202020204" pitchFamily="34" charset="0"/>
              <a:buChar char="•"/>
            </a:pPr>
            <a:r>
              <a:rPr lang="en-IN" sz="1000" b="1">
                <a:solidFill>
                  <a:srgbClr val="FFFFFF"/>
                </a:solidFill>
                <a:latin typeface="Arial" panose="020B0604020202020204" pitchFamily="34" charset="0"/>
              </a:rPr>
              <a:t>Gap</a:t>
            </a:r>
            <a:r>
              <a:rPr lang="en-IN" sz="1000">
                <a:solidFill>
                  <a:srgbClr val="FFFFFF"/>
                </a:solidFill>
                <a:latin typeface="Arial" panose="020B0604020202020204" pitchFamily="34" charset="0"/>
              </a:rPr>
              <a:t>: current tools block AI or proxy prompts through the cloud; on-device, policy-driven sanitizing is what P2Shield adds</a:t>
            </a:r>
          </a:p>
          <a:p>
            <a:pPr marL="127000" indent="-127000">
              <a:spcAft>
                <a:spcPts val="500"/>
              </a:spcAft>
              <a:buClr>
                <a:srgbClr val="FFFFFF"/>
              </a:buClr>
              <a:buSzPct val="100000"/>
              <a:buFont typeface="Arial" panose="020B0604020202020204" pitchFamily="34" charset="0"/>
              <a:buChar char="•"/>
            </a:pPr>
            <a:r>
              <a:rPr lang="en-IN" sz="1000" b="1">
                <a:solidFill>
                  <a:srgbClr val="FFFFFF"/>
                </a:solidFill>
                <a:latin typeface="Arial" panose="020B0604020202020204" pitchFamily="34" charset="0"/>
              </a:rPr>
              <a:t>Demand drivers</a:t>
            </a:r>
            <a:r>
              <a:rPr lang="en-IN" sz="1000">
                <a:solidFill>
                  <a:srgbClr val="FFFFFF"/>
                </a:solidFill>
                <a:latin typeface="Arial" panose="020B0604020202020204" pitchFamily="34" charset="0"/>
              </a:rPr>
              <a:t>: DPDP compliance deadline (May 2027), enterprise AI rollout, regulated sectors such as health and banking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BBE357C-01D3-21BD-CC26-AA9F5E80356B}"/>
              </a:ext>
            </a:extLst>
          </p:cNvPr>
          <p:cNvSpPr/>
          <p:nvPr/>
        </p:nvSpPr>
        <p:spPr>
          <a:xfrm>
            <a:off x="6134100" y="3759200"/>
            <a:ext cx="5829300" cy="2489200"/>
          </a:xfrm>
          <a:prstGeom prst="rect">
            <a:avLst/>
          </a:prstGeom>
          <a:gradFill flip="none" rotWithShape="1">
            <a:gsLst>
              <a:gs pos="0">
                <a:srgbClr val="BDF2F6"/>
              </a:gs>
              <a:gs pos="100000">
                <a:srgbClr val="A9C0F2"/>
              </a:gs>
            </a:gsLst>
            <a:lin ang="0" scaled="1"/>
            <a:tileRect/>
          </a:gra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19" name="Graphic 18" descr="file-text icon">
            <a:extLst>
              <a:ext uri="{FF2B5EF4-FFF2-40B4-BE49-F238E27FC236}">
                <a16:creationId xmlns:a16="http://schemas.microsoft.com/office/drawing/2014/main" id="{07AD55A9-51B9-E705-7B44-3A3A69C1114C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6311900" y="3873500"/>
            <a:ext cx="279400" cy="279400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846E573B-B2A8-1631-48AD-4C4652CDB604}"/>
              </a:ext>
            </a:extLst>
          </p:cNvPr>
          <p:cNvSpPr txBox="1"/>
          <p:nvPr/>
        </p:nvSpPr>
        <p:spPr>
          <a:xfrm>
            <a:off x="6667500" y="3835400"/>
            <a:ext cx="5143500" cy="3556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IN" sz="1700" b="1">
                <a:latin typeface="Arial" panose="020B0604020202020204" pitchFamily="34" charset="0"/>
              </a:rPr>
              <a:t>TECHNICAL DOCUMENTATION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C5DDF29-7560-82F8-8C3E-34B10CC9DC0B}"/>
              </a:ext>
            </a:extLst>
          </p:cNvPr>
          <p:cNvSpPr txBox="1"/>
          <p:nvPr/>
        </p:nvSpPr>
        <p:spPr>
          <a:xfrm>
            <a:off x="6337300" y="4241800"/>
            <a:ext cx="5461000" cy="1955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marL="127000" indent="-127000">
              <a:spcAft>
                <a:spcPts val="500"/>
              </a:spcAft>
              <a:buSzPct val="100000"/>
              <a:buFont typeface="Arial" panose="020B0604020202020204" pitchFamily="34" charset="0"/>
              <a:buChar char="•"/>
            </a:pPr>
            <a:r>
              <a:rPr lang="en-IN" sz="1000" b="1">
                <a:latin typeface="Arial" panose="020B0604020202020204" pitchFamily="34" charset="0"/>
              </a:rPr>
              <a:t>Chrome Prompt API</a:t>
            </a:r>
            <a:r>
              <a:rPr lang="en-IN" sz="1000">
                <a:latin typeface="Arial" panose="020B0604020202020204" pitchFamily="34" charset="0"/>
              </a:rPr>
              <a:t> (Gemini Nano, on-device) for extensions</a:t>
            </a:r>
            <a:br>
              <a:rPr lang="en-IN" sz="1000">
                <a:latin typeface="Arial" panose="020B0604020202020204" pitchFamily="34" charset="0"/>
              </a:rPr>
            </a:br>
            <a:r>
              <a:rPr lang="en-IN" sz="850">
                <a:solidFill>
                  <a:srgbClr val="1D3FA0"/>
                </a:solidFill>
                <a:latin typeface="Arial" panose="020B0604020202020204" pitchFamily="34" charset="0"/>
                <a:hlinkClick r:id="rId1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developer.chrome.com/docs/extensions/ai/prompt-api</a:t>
            </a:r>
            <a:endParaRPr lang="en-IN" sz="850">
              <a:solidFill>
                <a:srgbClr val="1D3FA0"/>
              </a:solidFill>
              <a:latin typeface="Arial" panose="020B0604020202020204" pitchFamily="34" charset="0"/>
            </a:endParaRPr>
          </a:p>
          <a:p>
            <a:pPr marL="127000" indent="-127000">
              <a:spcAft>
                <a:spcPts val="500"/>
              </a:spcAft>
              <a:buSzPct val="100000"/>
              <a:buFont typeface="Arial" panose="020B0604020202020204" pitchFamily="34" charset="0"/>
              <a:buChar char="•"/>
            </a:pPr>
            <a:r>
              <a:rPr lang="en-IN" sz="1000" b="1">
                <a:latin typeface="Arial" panose="020B0604020202020204" pitchFamily="34" charset="0"/>
              </a:rPr>
              <a:t>chrome.storage.managed</a:t>
            </a:r>
            <a:r>
              <a:rPr lang="en-IN" sz="1000">
                <a:latin typeface="Arial" panose="020B0604020202020204" pitchFamily="34" charset="0"/>
              </a:rPr>
              <a:t> – organization policy for extensions</a:t>
            </a:r>
            <a:br>
              <a:rPr lang="en-IN" sz="1000">
                <a:latin typeface="Arial" panose="020B0604020202020204" pitchFamily="34" charset="0"/>
              </a:rPr>
            </a:br>
            <a:r>
              <a:rPr lang="en-IN" sz="850">
                <a:solidFill>
                  <a:srgbClr val="1D3FA0"/>
                </a:solidFill>
                <a:latin typeface="Arial" panose="020B0604020202020204" pitchFamily="34" charset="0"/>
                <a:hlinkClick r:id="rId1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developer.chrome.com/docs/extensions/reference/api/storage</a:t>
            </a:r>
            <a:endParaRPr lang="en-IN" sz="850">
              <a:solidFill>
                <a:srgbClr val="1D3FA0"/>
              </a:solidFill>
              <a:latin typeface="Arial" panose="020B0604020202020204" pitchFamily="34" charset="0"/>
            </a:endParaRPr>
          </a:p>
          <a:p>
            <a:pPr marL="127000" indent="-127000">
              <a:spcAft>
                <a:spcPts val="500"/>
              </a:spcAft>
              <a:buSzPct val="100000"/>
              <a:buFont typeface="Arial" panose="020B0604020202020204" pitchFamily="34" charset="0"/>
              <a:buChar char="•"/>
            </a:pPr>
            <a:r>
              <a:rPr lang="en-IN" sz="1000" b="1">
                <a:latin typeface="Arial" panose="020B0604020202020204" pitchFamily="34" charset="0"/>
              </a:rPr>
              <a:t>Microsoft Presidio</a:t>
            </a:r>
            <a:r>
              <a:rPr lang="en-IN" sz="1000">
                <a:latin typeface="Arial" panose="020B0604020202020204" pitchFamily="34" charset="0"/>
              </a:rPr>
              <a:t> – open-source PII detection and anonymization (reference design)</a:t>
            </a:r>
            <a:br>
              <a:rPr lang="en-IN" sz="1000">
                <a:latin typeface="Arial" panose="020B0604020202020204" pitchFamily="34" charset="0"/>
              </a:rPr>
            </a:br>
            <a:r>
              <a:rPr lang="en-IN" sz="850">
                <a:solidFill>
                  <a:srgbClr val="1D3FA0"/>
                </a:solidFill>
                <a:latin typeface="Arial" panose="020B0604020202020204" pitchFamily="34" charset="0"/>
                <a:hlinkClick r:id="rId1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microsoft.github.io/presidio</a:t>
            </a:r>
            <a:endParaRPr lang="en-IN" sz="850">
              <a:solidFill>
                <a:srgbClr val="1D3FA0"/>
              </a:solidFill>
              <a:latin typeface="Arial" panose="020B0604020202020204" pitchFamily="34" charset="0"/>
            </a:endParaRPr>
          </a:p>
          <a:p>
            <a:pPr marL="127000" indent="-127000">
              <a:spcAft>
                <a:spcPts val="500"/>
              </a:spcAft>
              <a:buSzPct val="100000"/>
              <a:buFont typeface="Arial" panose="020B0604020202020204" pitchFamily="34" charset="0"/>
              <a:buChar char="•"/>
            </a:pPr>
            <a:r>
              <a:rPr lang="en-IN" sz="1000" b="1">
                <a:latin typeface="Arial" panose="020B0604020202020204" pitchFamily="34" charset="0"/>
              </a:rPr>
              <a:t>Checksums</a:t>
            </a:r>
            <a:r>
              <a:rPr lang="en-IN" sz="1000">
                <a:latin typeface="Arial" panose="020B0604020202020204" pitchFamily="34" charset="0"/>
              </a:rPr>
              <a:t>: Luhn (ISO/IEC 7812), Verhoeff (Aadhaar), IBAN mod-97 (ISO 13616)</a:t>
            </a:r>
          </a:p>
          <a:p>
            <a:pPr marL="127000" indent="-127000">
              <a:spcAft>
                <a:spcPts val="500"/>
              </a:spcAft>
              <a:buSzPct val="100000"/>
              <a:buFont typeface="Arial" panose="020B0604020202020204" pitchFamily="34" charset="0"/>
              <a:buChar char="•"/>
            </a:pPr>
            <a:r>
              <a:rPr lang="en-IN" sz="1000" b="1">
                <a:latin typeface="Arial" panose="020B0604020202020204" pitchFamily="34" charset="0"/>
              </a:rPr>
              <a:t>P2Shield prototype</a:t>
            </a:r>
            <a:r>
              <a:rPr lang="en-IN" sz="1000">
                <a:latin typeface="Arial" panose="020B0604020202020204" pitchFamily="34" charset="0"/>
              </a:rPr>
              <a:t> – source code, tests and demo page</a:t>
            </a:r>
            <a:br>
              <a:rPr lang="en-IN" sz="1000">
                <a:latin typeface="Arial" panose="020B0604020202020204" pitchFamily="34" charset="0"/>
              </a:rPr>
            </a:br>
            <a:r>
              <a:rPr lang="en-IN" sz="850">
                <a:solidFill>
                  <a:srgbClr val="1D3FA0"/>
                </a:solidFill>
                <a:latin typeface="Arial" panose="020B0604020202020204" pitchFamily="34" charset="0"/>
                <a:hlinkClick r:id="rId1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github.com/Rohittiger99/Guardrail_hackathon</a:t>
            </a:r>
            <a:endParaRPr lang="en-IN" sz="850">
              <a:solidFill>
                <a:srgbClr val="1D3FA0"/>
              </a:solidFill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1665</Words>
  <Application>Microsoft Office PowerPoint</Application>
  <PresentationFormat>Widescreen</PresentationFormat>
  <Paragraphs>248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5" baseType="lpstr">
      <vt:lpstr>Consolas</vt:lpstr>
      <vt:lpstr>Garamond</vt:lpstr>
      <vt:lpstr>Arial Black</vt:lpstr>
      <vt:lpstr>Calibri</vt:lpstr>
      <vt:lpstr>Segoe UI Symbol</vt:lpstr>
      <vt:lpstr>Times New Roman</vt:lpstr>
      <vt:lpstr>Arial</vt:lpstr>
      <vt:lpstr>Oswald</vt:lpstr>
      <vt:lpstr>Office Theme</vt:lpstr>
      <vt:lpstr>BITSHIFT 2026</vt:lpstr>
      <vt:lpstr>P2SHIELD</vt:lpstr>
      <vt:lpstr>TECHNICAL APPROACH</vt:lpstr>
      <vt:lpstr>FEASIBILITY AND VIABILITY</vt:lpstr>
      <vt:lpstr>IMPACT AND BENEFITS</vt:lpstr>
      <vt:lpstr>RESEARCH AND REFERENCES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Crowdfunder</dc:creator>
  <cp:lastModifiedBy>Rohit Tiger</cp:lastModifiedBy>
  <cp:revision>1</cp:revision>
  <dcterms:created xsi:type="dcterms:W3CDTF">2013-12-12T18:46:50Z</dcterms:created>
  <dcterms:modified xsi:type="dcterms:W3CDTF">2026-10-05T17:29:57Z</dcterms:modified>
</cp:coreProperties>
</file>