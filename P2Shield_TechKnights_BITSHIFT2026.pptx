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Garamond" panose="02020404030301010803" pitchFamily="18" charset="0"/>
      <p:regular r:id="rId14"/>
      <p:bold r:id="rId15"/>
      <p:italic r:id="rId16"/>
    </p:embeddedFont>
    <p:embeddedFont>
      <p:font typeface="Oswald" panose="00000500000000000000" pitchFamily="2" charset="0"/>
      <p:regular r:id="rId17"/>
    </p:embeddedFont>
    <p:embeddedFont>
      <p:font typeface="Segoe UI Symbol" panose="020B0502040204020203" pitchFamily="3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h2le2S78G+d43hnL7hqE1scH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2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5" Type="http://schemas.openxmlformats.org/officeDocument/2006/relationships/image" Target="../media/image9.svg"/><Relationship Id="rId10" Type="http://schemas.openxmlformats.org/officeDocument/2006/relationships/image" Target="../media/image15.svg"/><Relationship Id="rId4" Type="http://schemas.openxmlformats.org/officeDocument/2006/relationships/image" Target="../media/image4.svg"/><Relationship Id="rId9" Type="http://schemas.openxmlformats.org/officeDocument/2006/relationships/image" Target="../media/image14.sv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3" Type="http://schemas.openxmlformats.org/officeDocument/2006/relationships/image" Target="../media/image1.pn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techcrunch.com/2023/05/02/samsung-bans-use-of-generative-ai-tools-like-chatgpt-after-april-internal-data-leak/" TargetMode="External"/><Relationship Id="rId13" Type="http://schemas.openxmlformats.org/officeDocument/2006/relationships/image" Target="../media/image41.svg"/><Relationship Id="rId3" Type="http://schemas.openxmlformats.org/officeDocument/2006/relationships/image" Target="../media/image1.png"/><Relationship Id="rId7" Type="http://schemas.openxmlformats.org/officeDocument/2006/relationships/hyperlink" Target="https://in.newsroom.ibm.com/India-Records-its-Highest-Average-Cost-of-a-Data-Breach-2026" TargetMode="External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yberhaven.com/press-releases/cyberhaven-2026-ai-adoption-risk-report" TargetMode="External"/><Relationship Id="rId11" Type="http://schemas.openxmlformats.org/officeDocument/2006/relationships/image" Target="../media/image39.svg"/><Relationship Id="rId5" Type="http://schemas.openxmlformats.org/officeDocument/2006/relationships/hyperlink" Target="https://go.layerxsecurity.com/the-layerx-enterprise-ai-saas-data-security-report-2025" TargetMode="External"/><Relationship Id="rId10" Type="http://schemas.openxmlformats.org/officeDocument/2006/relationships/hyperlink" Target="https://www.grandviewresearch.com/industry-analysis/data-loss-prevention-market" TargetMode="External"/><Relationship Id="rId4" Type="http://schemas.openxmlformats.org/officeDocument/2006/relationships/image" Target="../media/image37.svg"/><Relationship Id="rId9" Type="http://schemas.openxmlformats.org/officeDocument/2006/relationships/image" Target="../media/image38.svg"/><Relationship Id="rId14" Type="http://schemas.openxmlformats.org/officeDocument/2006/relationships/hyperlink" Target="https://www.meity.gov.in/data-protection-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BITSHIFT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9438825" y="212100"/>
            <a:ext cx="2380700" cy="16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EFC2EF7-2FE1-2365-C451-731DA6FA3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2F3D3-F1A0-8C1B-8444-7D4F61BBFC39}"/>
              </a:ext>
            </a:extLst>
          </p:cNvPr>
          <p:cNvSpPr txBox="1"/>
          <p:nvPr/>
        </p:nvSpPr>
        <p:spPr>
          <a:xfrm>
            <a:off x="508000" y="1346200"/>
            <a:ext cx="6096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4800">
                <a:solidFill>
                  <a:srgbClr val="1F497D"/>
                </a:solidFill>
                <a:latin typeface="Arial Black" panose="020B0A04020102020204" pitchFamily="34" charset="0"/>
              </a:rPr>
              <a:t>P2</a:t>
            </a:r>
            <a:r>
              <a:rPr lang="en-IN" sz="4800">
                <a:solidFill>
                  <a:srgbClr val="0070C0"/>
                </a:solidFill>
                <a:latin typeface="Arial Black" panose="020B0A04020102020204" pitchFamily="34" charset="0"/>
              </a:rPr>
              <a:t>Shield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5B3C0-64BD-5E03-DB33-2311E268A937}"/>
              </a:ext>
            </a:extLst>
          </p:cNvPr>
          <p:cNvSpPr txBox="1"/>
          <p:nvPr/>
        </p:nvSpPr>
        <p:spPr>
          <a:xfrm>
            <a:off x="533400" y="2184400"/>
            <a:ext cx="5969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IN" sz="1500">
                <a:solidFill>
                  <a:srgbClr val="404040"/>
                </a:solidFill>
                <a:latin typeface="Arial" panose="020B0604020202020204" pitchFamily="34" charset="0"/>
              </a:rPr>
              <a:t>A pre-LLM privacy firewall that cleans every prompt on your own device, before any chatbot sees 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A89F0-E551-A0E0-69B7-F94E2CD641D3}"/>
              </a:ext>
            </a:extLst>
          </p:cNvPr>
          <p:cNvSpPr/>
          <p:nvPr/>
        </p:nvSpPr>
        <p:spPr>
          <a:xfrm>
            <a:off x="533400" y="2844800"/>
            <a:ext cx="914400" cy="508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D28D9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49598-8FCC-14E0-0EF4-62DDD4E42A5D}"/>
              </a:ext>
            </a:extLst>
          </p:cNvPr>
          <p:cNvSpPr txBox="1"/>
          <p:nvPr/>
        </p:nvSpPr>
        <p:spPr>
          <a:xfrm>
            <a:off x="508000" y="3124200"/>
            <a:ext cx="5969000" cy="317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28600" indent="-2286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900" b="1">
                <a:latin typeface="Arial" panose="020B0604020202020204" pitchFamily="34" charset="0"/>
              </a:rPr>
              <a:t>Problem Statement ID – </a:t>
            </a:r>
            <a:r>
              <a:rPr lang="en-IN" sz="1900" b="1">
                <a:solidFill>
                  <a:srgbClr val="1F497D"/>
                </a:solidFill>
                <a:latin typeface="Arial" panose="020B0604020202020204" pitchFamily="34" charset="0"/>
              </a:rPr>
              <a:t>10</a:t>
            </a:r>
          </a:p>
          <a:p>
            <a:pPr marL="228600" indent="-2286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900" b="1">
                <a:latin typeface="Arial" panose="020B0604020202020204" pitchFamily="34" charset="0"/>
              </a:rPr>
              <a:t>Problem Statement Title – </a:t>
            </a:r>
            <a:r>
              <a:rPr lang="en-IN" sz="1900" b="1">
                <a:solidFill>
                  <a:srgbClr val="1F497D"/>
                </a:solidFill>
                <a:latin typeface="Arial" panose="020B0604020202020204" pitchFamily="34" charset="0"/>
              </a:rPr>
              <a:t>Pre-LLM Privacy Firewall for Sensitive Data Protection</a:t>
            </a:r>
          </a:p>
          <a:p>
            <a:pPr marL="228600" indent="-2286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900" b="1">
                <a:latin typeface="Arial" panose="020B0604020202020204" pitchFamily="34" charset="0"/>
              </a:rPr>
              <a:t>Theme – </a:t>
            </a:r>
            <a:r>
              <a:rPr lang="en-IN" sz="1900" b="1">
                <a:solidFill>
                  <a:srgbClr val="1F497D"/>
                </a:solidFill>
                <a:latin typeface="Arial" panose="020B0604020202020204" pitchFamily="34" charset="0"/>
              </a:rPr>
              <a:t>AI / Web3</a:t>
            </a:r>
          </a:p>
          <a:p>
            <a:pPr marL="228600" indent="-2286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900" b="1">
                <a:latin typeface="Arial" panose="020B0604020202020204" pitchFamily="34" charset="0"/>
              </a:rPr>
              <a:t>PS Category – </a:t>
            </a:r>
            <a:r>
              <a:rPr lang="en-IN" sz="1900" b="1">
                <a:solidFill>
                  <a:srgbClr val="1F497D"/>
                </a:solidFill>
                <a:latin typeface="Arial" panose="020B0604020202020204" pitchFamily="34" charset="0"/>
              </a:rPr>
              <a:t>Software</a:t>
            </a:r>
          </a:p>
          <a:p>
            <a:pPr marL="228600" indent="-228600">
              <a:spcAft>
                <a:spcPts val="1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900" b="1">
                <a:latin typeface="Arial" panose="020B0604020202020204" pitchFamily="34" charset="0"/>
              </a:rPr>
              <a:t>Team Name – </a:t>
            </a:r>
            <a:r>
              <a:rPr lang="en-IN" sz="1900" b="1">
                <a:solidFill>
                  <a:srgbClr val="1F497D"/>
                </a:solidFill>
                <a:latin typeface="Arial" panose="020B0604020202020204" pitchFamily="34" charset="0"/>
              </a:rPr>
              <a:t>TechKnights</a:t>
            </a:r>
          </a:p>
        </p:txBody>
      </p:sp>
      <p:pic>
        <p:nvPicPr>
          <p:cNvPr id="9" name="Picture 8" descr="P2Shield logo: a shield protecting a chat message with masked text">
            <a:extLst>
              <a:ext uri="{FF2B5EF4-FFF2-40B4-BE49-F238E27FC236}">
                <a16:creationId xmlns:a16="http://schemas.microsoft.com/office/drawing/2014/main" id="{A6FDB0E5-0781-7617-54E7-7F30D8F3ADA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0" y="2260600"/>
            <a:ext cx="2311400" cy="26543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92C670-3E1C-3E7E-5C88-420591300ACE}"/>
              </a:ext>
            </a:extLst>
          </p:cNvPr>
          <p:cNvSpPr/>
          <p:nvPr/>
        </p:nvSpPr>
        <p:spPr>
          <a:xfrm>
            <a:off x="6350000" y="2489200"/>
            <a:ext cx="9271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F4FB0"/>
            </a:solidFill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050" b="1">
                <a:solidFill>
                  <a:srgbClr val="6F4FB0"/>
                </a:solidFill>
                <a:latin typeface="Consolas" panose="020B0609020204030204" pitchFamily="49" charset="0"/>
              </a:rPr>
              <a:t>[PERSON_1]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8ADAB4-6F96-1148-F52E-CEF7489599F2}"/>
              </a:ext>
            </a:extLst>
          </p:cNvPr>
          <p:cNvSpPr/>
          <p:nvPr/>
        </p:nvSpPr>
        <p:spPr>
          <a:xfrm>
            <a:off x="9042400" y="2997200"/>
            <a:ext cx="100838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6FB2"/>
            </a:solidFill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050" b="1">
                <a:solidFill>
                  <a:srgbClr val="1F6FB2"/>
                </a:solidFill>
                <a:latin typeface="Consolas" panose="020B0609020204030204" pitchFamily="49" charset="0"/>
              </a:rPr>
              <a:t>98*** ***10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B48779-477A-8B40-7D31-8A818B5143C4}"/>
              </a:ext>
            </a:extLst>
          </p:cNvPr>
          <p:cNvSpPr/>
          <p:nvPr/>
        </p:nvSpPr>
        <p:spPr>
          <a:xfrm>
            <a:off x="6070600" y="4368800"/>
            <a:ext cx="157734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473F"/>
            </a:solidFill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050" b="1">
                <a:solidFill>
                  <a:srgbClr val="D9473F"/>
                </a:solidFill>
                <a:latin typeface="Consolas" panose="020B0609020204030204" pitchFamily="49" charset="0"/>
              </a:rPr>
              <a:t>[REDACTED_AADHAAR]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AA47DE-497B-9EC6-5836-CFBC70DB0355}"/>
              </a:ext>
            </a:extLst>
          </p:cNvPr>
          <p:cNvSpPr/>
          <p:nvPr/>
        </p:nvSpPr>
        <p:spPr>
          <a:xfrm>
            <a:off x="8813800" y="4876800"/>
            <a:ext cx="141478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F2937"/>
            </a:solidFill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1050" b="1">
                <a:solidFill>
                  <a:srgbClr val="1F2937"/>
                </a:solidFill>
                <a:latin typeface="Consolas" panose="020B0609020204030204" pitchFamily="49" charset="0"/>
              </a:rPr>
              <a:t>[SECRET_REMOVED]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905000" y="508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US" sz="3400" b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  <a:sym typeface="Times New Roman"/>
              </a:rPr>
              <a:t>P2SHIELD</a:t>
            </a:r>
            <a:endParaRPr sz="3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IN" sz="1100">
                <a:solidFill>
                  <a:srgbClr val="FFFFFF"/>
                </a:solidFill>
                <a:latin typeface="Oswald" panose="00000500000000000000" pitchFamily="2" charset="0"/>
              </a:rPr>
              <a:t>@BITSHIFT Idea submission  ·  TechKnights  ·  P2Shield</a:t>
            </a:r>
            <a:endParaRPr sz="1100">
              <a:solidFill>
                <a:srgbClr val="FFFFFF"/>
              </a:solidFill>
              <a:latin typeface="Oswald" panose="00000500000000000000" pitchFamily="2" charset="0"/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253999" y="228600"/>
            <a:ext cx="1422400" cy="584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/>
            <a:r>
              <a:rPr lang="en-US" sz="1500" b="1">
                <a:solidFill>
                  <a:srgbClr val="4B2E83"/>
                </a:solidFill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TechKnights</a:t>
            </a:r>
            <a:endParaRPr sz="1500" b="1">
              <a:solidFill>
                <a:srgbClr val="4B2E83"/>
              </a:solidFill>
              <a:latin typeface="Calibri" panose="020F050202020403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10490200" y="76200"/>
            <a:ext cx="1498600" cy="10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4E7D3F-F919-4FCF-2360-A1E6B546CE29}"/>
              </a:ext>
            </a:extLst>
          </p:cNvPr>
          <p:cNvSpPr txBox="1"/>
          <p:nvPr/>
        </p:nvSpPr>
        <p:spPr>
          <a:xfrm>
            <a:off x="1905000" y="685800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b="1">
                <a:solidFill>
                  <a:srgbClr val="1F497D"/>
                </a:solidFill>
                <a:latin typeface="Arial" panose="020B0604020202020204" pitchFamily="34" charset="0"/>
              </a:rPr>
              <a:t>Clean every prompt on your own device, before the LLM ever sees it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2BCCA0-7ED6-6E23-2E28-F20CB588A477}"/>
              </a:ext>
            </a:extLst>
          </p:cNvPr>
          <p:cNvSpPr/>
          <p:nvPr/>
        </p:nvSpPr>
        <p:spPr>
          <a:xfrm>
            <a:off x="228600" y="1219200"/>
            <a:ext cx="3657600" cy="5029200"/>
          </a:xfrm>
          <a:prstGeom prst="roundRect">
            <a:avLst>
              <a:gd name="adj" fmla="val 6250"/>
            </a:avLst>
          </a:prstGeom>
          <a:gradFill flip="none" rotWithShape="1">
            <a:gsLst>
              <a:gs pos="0">
                <a:srgbClr val="E9E2F8"/>
              </a:gs>
              <a:gs pos="100000">
                <a:srgbClr val="DDEBFB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7CE84-CE04-C30E-AF0D-6DD48863A5F2}"/>
              </a:ext>
            </a:extLst>
          </p:cNvPr>
          <p:cNvSpPr txBox="1"/>
          <p:nvPr/>
        </p:nvSpPr>
        <p:spPr>
          <a:xfrm>
            <a:off x="431800" y="1320800"/>
            <a:ext cx="2794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2600" b="1">
                <a:solidFill>
                  <a:srgbClr val="7A5CC2"/>
                </a:solidFill>
                <a:latin typeface="Arial" panose="020B0604020202020204" pitchFamily="34" charset="0"/>
              </a:rPr>
              <a:t>PROBLEM</a:t>
            </a:r>
          </a:p>
        </p:txBody>
      </p:sp>
      <p:pic>
        <p:nvPicPr>
          <p:cNvPr id="6" name="Graphic 5" descr="Warning icon">
            <a:extLst>
              <a:ext uri="{FF2B5EF4-FFF2-40B4-BE49-F238E27FC236}">
                <a16:creationId xmlns:a16="http://schemas.microsoft.com/office/drawing/2014/main" id="{0295467B-2B71-AC62-9C2E-1F1199FFEFC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6600" y="1371600"/>
            <a:ext cx="355600" cy="3556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2CF096-46FA-2B23-47C1-24414C6F8168}"/>
              </a:ext>
            </a:extLst>
          </p:cNvPr>
          <p:cNvSpPr/>
          <p:nvPr/>
        </p:nvSpPr>
        <p:spPr>
          <a:xfrm>
            <a:off x="406400" y="1854200"/>
            <a:ext cx="3302000" cy="68580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6FAC3-1414-613D-F7B7-0180E78B4842}"/>
              </a:ext>
            </a:extLst>
          </p:cNvPr>
          <p:cNvSpPr txBox="1"/>
          <p:nvPr/>
        </p:nvSpPr>
        <p:spPr>
          <a:xfrm>
            <a:off x="482600" y="1854200"/>
            <a:ext cx="1244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100" b="1">
                <a:solidFill>
                  <a:srgbClr val="D9473F"/>
                </a:solidFill>
                <a:latin typeface="Arial" panose="020B0604020202020204" pitchFamily="34" charset="0"/>
              </a:rPr>
              <a:t>77%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90CA2-048D-43E5-F57D-7A3A3F0A6D85}"/>
              </a:ext>
            </a:extLst>
          </p:cNvPr>
          <p:cNvSpPr txBox="1"/>
          <p:nvPr/>
        </p:nvSpPr>
        <p:spPr>
          <a:xfrm>
            <a:off x="1752600" y="1892300"/>
            <a:ext cx="187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of GenAI users paste data into prompts </a:t>
            </a:r>
            <a:r>
              <a:rPr lang="en-IN" sz="1050">
                <a:solidFill>
                  <a:srgbClr val="6B7280"/>
                </a:solidFill>
                <a:latin typeface="Arial" panose="020B0604020202020204" pitchFamily="34" charset="0"/>
              </a:rPr>
              <a:t>(LayerX 2025)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064834-DE4F-D3A7-88BD-5AD70FBB0C2E}"/>
              </a:ext>
            </a:extLst>
          </p:cNvPr>
          <p:cNvSpPr/>
          <p:nvPr/>
        </p:nvSpPr>
        <p:spPr>
          <a:xfrm>
            <a:off x="406400" y="2641600"/>
            <a:ext cx="3302000" cy="68580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231E8A-9D63-A3E1-51F2-66134799726C}"/>
              </a:ext>
            </a:extLst>
          </p:cNvPr>
          <p:cNvSpPr txBox="1"/>
          <p:nvPr/>
        </p:nvSpPr>
        <p:spPr>
          <a:xfrm>
            <a:off x="482600" y="2641600"/>
            <a:ext cx="1244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100" b="1">
                <a:solidFill>
                  <a:srgbClr val="E07B00"/>
                </a:solidFill>
                <a:latin typeface="Arial" panose="020B0604020202020204" pitchFamily="34" charset="0"/>
              </a:rPr>
              <a:t>39.7%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AB319-9E38-F11C-0EE5-C337B8E81812}"/>
              </a:ext>
            </a:extLst>
          </p:cNvPr>
          <p:cNvSpPr txBox="1"/>
          <p:nvPr/>
        </p:nvSpPr>
        <p:spPr>
          <a:xfrm>
            <a:off x="1752600" y="2679700"/>
            <a:ext cx="187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of data shared with AI tools is sensitive </a:t>
            </a:r>
            <a:r>
              <a:rPr lang="en-IN" sz="1050">
                <a:solidFill>
                  <a:srgbClr val="6B7280"/>
                </a:solidFill>
                <a:latin typeface="Arial" panose="020B0604020202020204" pitchFamily="34" charset="0"/>
              </a:rPr>
              <a:t>(Cyberhaven 2026)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741950-50AD-C3EC-49E2-EFC1263B192C}"/>
              </a:ext>
            </a:extLst>
          </p:cNvPr>
          <p:cNvSpPr/>
          <p:nvPr/>
        </p:nvSpPr>
        <p:spPr>
          <a:xfrm>
            <a:off x="406400" y="3429000"/>
            <a:ext cx="3302000" cy="68580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C8F574-7F16-E888-F755-0CEAD8D17E34}"/>
              </a:ext>
            </a:extLst>
          </p:cNvPr>
          <p:cNvSpPr txBox="1"/>
          <p:nvPr/>
        </p:nvSpPr>
        <p:spPr>
          <a:xfrm>
            <a:off x="482600" y="3429000"/>
            <a:ext cx="1244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100" b="1">
                <a:solidFill>
                  <a:srgbClr val="6F4FB0"/>
                </a:solidFill>
                <a:latin typeface="Arial" panose="020B0604020202020204" pitchFamily="34" charset="0"/>
              </a:rPr>
              <a:t>₹250 Cr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AFCD82-21A1-81EC-3426-C898A43F6A1F}"/>
              </a:ext>
            </a:extLst>
          </p:cNvPr>
          <p:cNvSpPr txBox="1"/>
          <p:nvPr/>
        </p:nvSpPr>
        <p:spPr>
          <a:xfrm>
            <a:off x="1752600" y="3467100"/>
            <a:ext cx="187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max DPDP Act penalty for failing to protect personal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C3903-9612-20D7-A2C8-0012F9C54163}"/>
              </a:ext>
            </a:extLst>
          </p:cNvPr>
          <p:cNvSpPr txBox="1"/>
          <p:nvPr/>
        </p:nvSpPr>
        <p:spPr>
          <a:xfrm>
            <a:off x="431800" y="4292600"/>
            <a:ext cx="3327400" cy="187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lnSpc>
                <a:spcPct val="102000"/>
              </a:lnSpc>
              <a:spcAft>
                <a:spcPts val="7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150">
                <a:solidFill>
                  <a:srgbClr val="1A1A1A"/>
                </a:solidFill>
                <a:latin typeface="Arial" panose="020B0604020202020204" pitchFamily="34" charset="0"/>
              </a:rPr>
              <a:t>Names, Aadhaar, card numbers, API keys and health records are pasted straight into chatbots</a:t>
            </a:r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150">
                <a:solidFill>
                  <a:srgbClr val="1A1A1A"/>
                </a:solidFill>
                <a:latin typeface="Arial" panose="020B0604020202020204" pitchFamily="34" charset="0"/>
              </a:rPr>
              <a:t>Once sent, the data sits on third-party servers, outside the user's control</a:t>
            </a:r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150">
                <a:solidFill>
                  <a:srgbClr val="1A1A1A"/>
                </a:solidFill>
                <a:latin typeface="Arial" panose="020B0604020202020204" pitchFamily="34" charset="0"/>
              </a:rPr>
              <a:t>Today's options: ban AI outright, or route every prompt through a cloud DLP proxy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1BF13D-3D33-BA96-66EA-EECF48DC98B3}"/>
              </a:ext>
            </a:extLst>
          </p:cNvPr>
          <p:cNvSpPr/>
          <p:nvPr/>
        </p:nvSpPr>
        <p:spPr>
          <a:xfrm>
            <a:off x="4013200" y="1244600"/>
            <a:ext cx="1155700" cy="787400"/>
          </a:xfrm>
          <a:prstGeom prst="roundRect">
            <a:avLst>
              <a:gd name="adj" fmla="val 16129"/>
            </a:avLst>
          </a:prstGeom>
          <a:solidFill>
            <a:srgbClr val="1F6FB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Graphic 18" descr="message-square-text icon">
            <a:extLst>
              <a:ext uri="{FF2B5EF4-FFF2-40B4-BE49-F238E27FC236}">
                <a16:creationId xmlns:a16="http://schemas.microsoft.com/office/drawing/2014/main" id="{AF2F8A49-CC87-5190-9A16-95685584FF7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4050" y="1320800"/>
            <a:ext cx="254000" cy="254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3F82FE-3C43-B3E7-D7FB-A90B36FC8B9C}"/>
              </a:ext>
            </a:extLst>
          </p:cNvPr>
          <p:cNvSpPr txBox="1"/>
          <p:nvPr/>
        </p:nvSpPr>
        <p:spPr>
          <a:xfrm>
            <a:off x="4064000" y="1600200"/>
            <a:ext cx="10541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Your prompt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E06DBF2-0F56-6DA3-B7BF-906BBB06F145}"/>
              </a:ext>
            </a:extLst>
          </p:cNvPr>
          <p:cNvSpPr/>
          <p:nvPr/>
        </p:nvSpPr>
        <p:spPr>
          <a:xfrm rot="5400000">
            <a:off x="5200650" y="1568450"/>
            <a:ext cx="139700" cy="1397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ACDFBF-9EC7-91C4-1C5D-7FF1D8854876}"/>
              </a:ext>
            </a:extLst>
          </p:cNvPr>
          <p:cNvSpPr/>
          <p:nvPr/>
        </p:nvSpPr>
        <p:spPr>
          <a:xfrm>
            <a:off x="5372100" y="1244600"/>
            <a:ext cx="1155700" cy="787400"/>
          </a:xfrm>
          <a:prstGeom prst="roundRect">
            <a:avLst>
              <a:gd name="adj" fmla="val 16129"/>
            </a:avLst>
          </a:prstGeom>
          <a:solidFill>
            <a:srgbClr val="2B8C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Graphic 23" descr="scan-search icon">
            <a:extLst>
              <a:ext uri="{FF2B5EF4-FFF2-40B4-BE49-F238E27FC236}">
                <a16:creationId xmlns:a16="http://schemas.microsoft.com/office/drawing/2014/main" id="{EA2F0C3A-965B-C64F-B1D7-FD486747E06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2950" y="1320800"/>
            <a:ext cx="254000" cy="254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A0C8B52-6944-938F-C95F-622FC5D3B2A7}"/>
              </a:ext>
            </a:extLst>
          </p:cNvPr>
          <p:cNvSpPr txBox="1"/>
          <p:nvPr/>
        </p:nvSpPr>
        <p:spPr>
          <a:xfrm>
            <a:off x="5422900" y="1600200"/>
            <a:ext cx="10541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Detect 28 data types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DC4FCF41-14D4-62B1-B497-A4005B9B8598}"/>
              </a:ext>
            </a:extLst>
          </p:cNvPr>
          <p:cNvSpPr/>
          <p:nvPr/>
        </p:nvSpPr>
        <p:spPr>
          <a:xfrm rot="5400000">
            <a:off x="6559550" y="1568450"/>
            <a:ext cx="139700" cy="1397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984A50-ED5D-16AD-3BF9-CF1DAB3A344B}"/>
              </a:ext>
            </a:extLst>
          </p:cNvPr>
          <p:cNvSpPr/>
          <p:nvPr/>
        </p:nvSpPr>
        <p:spPr>
          <a:xfrm>
            <a:off x="6731000" y="1244600"/>
            <a:ext cx="1155700" cy="787400"/>
          </a:xfrm>
          <a:prstGeom prst="roundRect">
            <a:avLst>
              <a:gd name="adj" fmla="val 16129"/>
            </a:avLst>
          </a:prstGeom>
          <a:solidFill>
            <a:srgbClr val="6F4F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Graphic 28" descr="sliders-horizontal icon">
            <a:extLst>
              <a:ext uri="{FF2B5EF4-FFF2-40B4-BE49-F238E27FC236}">
                <a16:creationId xmlns:a16="http://schemas.microsoft.com/office/drawing/2014/main" id="{DE851DEF-3BEB-FB97-DE39-9A1143CEA05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1850" y="1320800"/>
            <a:ext cx="254000" cy="254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33DDE9-F35D-C2F2-2531-FC48EA46DFCB}"/>
              </a:ext>
            </a:extLst>
          </p:cNvPr>
          <p:cNvSpPr txBox="1"/>
          <p:nvPr/>
        </p:nvSpPr>
        <p:spPr>
          <a:xfrm>
            <a:off x="6781800" y="1600200"/>
            <a:ext cx="10541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Apply privacy policy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0681B73D-E16B-307C-561D-467B597A6B8B}"/>
              </a:ext>
            </a:extLst>
          </p:cNvPr>
          <p:cNvSpPr/>
          <p:nvPr/>
        </p:nvSpPr>
        <p:spPr>
          <a:xfrm rot="5400000">
            <a:off x="7918450" y="1568450"/>
            <a:ext cx="139700" cy="1397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17E00F-BA61-5025-E726-F51E315D78BE}"/>
              </a:ext>
            </a:extLst>
          </p:cNvPr>
          <p:cNvSpPr/>
          <p:nvPr/>
        </p:nvSpPr>
        <p:spPr>
          <a:xfrm>
            <a:off x="8089900" y="1244600"/>
            <a:ext cx="1155700" cy="787400"/>
          </a:xfrm>
          <a:prstGeom prst="roundRect">
            <a:avLst>
              <a:gd name="adj" fmla="val 16129"/>
            </a:avLst>
          </a:prstGeom>
          <a:solidFill>
            <a:srgbClr val="E07B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Graphic 33" descr="gauge icon">
            <a:extLst>
              <a:ext uri="{FF2B5EF4-FFF2-40B4-BE49-F238E27FC236}">
                <a16:creationId xmlns:a16="http://schemas.microsoft.com/office/drawing/2014/main" id="{066D2D65-5709-370D-CFAF-41F641A11DB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0750" y="1320800"/>
            <a:ext cx="254000" cy="254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8085697-C3DA-E5E4-0FAC-97C9B08B67ED}"/>
              </a:ext>
            </a:extLst>
          </p:cNvPr>
          <p:cNvSpPr txBox="1"/>
          <p:nvPr/>
        </p:nvSpPr>
        <p:spPr>
          <a:xfrm>
            <a:off x="8140700" y="1600200"/>
            <a:ext cx="10541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Score risk 0–100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E1E696B-8379-98F9-84A1-DBAD54FD0FFD}"/>
              </a:ext>
            </a:extLst>
          </p:cNvPr>
          <p:cNvSpPr/>
          <p:nvPr/>
        </p:nvSpPr>
        <p:spPr>
          <a:xfrm rot="5400000">
            <a:off x="9277350" y="1568450"/>
            <a:ext cx="139700" cy="1397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90CEEBD-3A94-4C97-F32A-4A6555A8AAA9}"/>
              </a:ext>
            </a:extLst>
          </p:cNvPr>
          <p:cNvSpPr/>
          <p:nvPr/>
        </p:nvSpPr>
        <p:spPr>
          <a:xfrm>
            <a:off x="9448800" y="1244600"/>
            <a:ext cx="1155700" cy="787400"/>
          </a:xfrm>
          <a:prstGeom prst="roundRect">
            <a:avLst>
              <a:gd name="adj" fmla="val 16129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9" name="Graphic 38" descr="circle-check icon">
            <a:extLst>
              <a:ext uri="{FF2B5EF4-FFF2-40B4-BE49-F238E27FC236}">
                <a16:creationId xmlns:a16="http://schemas.microsoft.com/office/drawing/2014/main" id="{E376538F-9478-0311-FFC1-6A1E21749D9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9650" y="1320800"/>
            <a:ext cx="254000" cy="254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16C0727-4948-0A70-444E-DE9E22FA5A4A}"/>
              </a:ext>
            </a:extLst>
          </p:cNvPr>
          <p:cNvSpPr txBox="1"/>
          <p:nvPr/>
        </p:nvSpPr>
        <p:spPr>
          <a:xfrm>
            <a:off x="9499600" y="1600200"/>
            <a:ext cx="10541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Safe prompt in the box</a:t>
            </a: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C9661EA-08E6-8CDF-F7CF-4236C31DA119}"/>
              </a:ext>
            </a:extLst>
          </p:cNvPr>
          <p:cNvSpPr/>
          <p:nvPr/>
        </p:nvSpPr>
        <p:spPr>
          <a:xfrm rot="5400000">
            <a:off x="10636250" y="1568450"/>
            <a:ext cx="139700" cy="1397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44BFA9D-1A99-0A19-B19B-2DADCBBD7A87}"/>
              </a:ext>
            </a:extLst>
          </p:cNvPr>
          <p:cNvSpPr/>
          <p:nvPr/>
        </p:nvSpPr>
        <p:spPr>
          <a:xfrm>
            <a:off x="10807700" y="1244600"/>
            <a:ext cx="1155700" cy="787400"/>
          </a:xfrm>
          <a:prstGeom prst="roundRect">
            <a:avLst>
              <a:gd name="adj" fmla="val 16129"/>
            </a:avLst>
          </a:prstGeom>
          <a:solidFill>
            <a:srgbClr val="1F29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Graphic 43" descr="bot icon">
            <a:extLst>
              <a:ext uri="{FF2B5EF4-FFF2-40B4-BE49-F238E27FC236}">
                <a16:creationId xmlns:a16="http://schemas.microsoft.com/office/drawing/2014/main" id="{6929BD79-44B4-9DDA-A1C2-BFA7D54AA64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58550" y="1320800"/>
            <a:ext cx="254000" cy="254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2C64758-3AE5-8ED4-175B-5DB17C536308}"/>
              </a:ext>
            </a:extLst>
          </p:cNvPr>
          <p:cNvSpPr txBox="1"/>
          <p:nvPr/>
        </p:nvSpPr>
        <p:spPr>
          <a:xfrm>
            <a:off x="10858500" y="1600200"/>
            <a:ext cx="10541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Send to any LLM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9BBDA02-2F9D-53D8-9055-A5ACEC14BE39}"/>
              </a:ext>
            </a:extLst>
          </p:cNvPr>
          <p:cNvSpPr/>
          <p:nvPr/>
        </p:nvSpPr>
        <p:spPr>
          <a:xfrm>
            <a:off x="4013200" y="2159000"/>
            <a:ext cx="39116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5A5773-526B-A21B-C04D-91B411F3D899}"/>
              </a:ext>
            </a:extLst>
          </p:cNvPr>
          <p:cNvSpPr txBox="1"/>
          <p:nvPr/>
        </p:nvSpPr>
        <p:spPr>
          <a:xfrm>
            <a:off x="4140200" y="2222500"/>
            <a:ext cx="3657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45AFCC-EF95-1370-58EB-A2D878B6B7C9}"/>
              </a:ext>
            </a:extLst>
          </p:cNvPr>
          <p:cNvSpPr txBox="1"/>
          <p:nvPr/>
        </p:nvSpPr>
        <p:spPr>
          <a:xfrm>
            <a:off x="4191000" y="2590800"/>
            <a:ext cx="36068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A </a:t>
            </a: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Chrome extension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: a shield appears on every AI chat box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One click finds </a:t>
            </a: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28 types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 of sensitive data and rewrites the prompt in place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Mask, tokenize, redact, generalize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; secrets are always removed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Risk score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 before → after, with Undo and per-item review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4 policy profiles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: Personal, Healthcare, Finance, Enterprise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48C7E0A-2663-A4ED-5B56-76BE56467E5D}"/>
              </a:ext>
            </a:extLst>
          </p:cNvPr>
          <p:cNvSpPr/>
          <p:nvPr/>
        </p:nvSpPr>
        <p:spPr>
          <a:xfrm>
            <a:off x="8051800" y="2159000"/>
            <a:ext cx="3911600" cy="241300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50A905-EDB5-97C4-7D82-CC05A988BA94}"/>
              </a:ext>
            </a:extLst>
          </p:cNvPr>
          <p:cNvSpPr txBox="1"/>
          <p:nvPr/>
        </p:nvSpPr>
        <p:spPr>
          <a:xfrm>
            <a:off x="8178800" y="2222500"/>
            <a:ext cx="3657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latin typeface="Arial" panose="020B0604020202020204" pitchFamily="34" charset="0"/>
              </a:rPr>
              <a:t>Innovation &amp; Uniqueness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23B1FF-C453-34BB-BA52-DE7035F7E095}"/>
              </a:ext>
            </a:extLst>
          </p:cNvPr>
          <p:cNvSpPr txBox="1"/>
          <p:nvPr/>
        </p:nvSpPr>
        <p:spPr>
          <a:xfrm>
            <a:off x="8229600" y="2590800"/>
            <a:ext cx="36068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100% on-device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: no server, no account, zero network calls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Reads </a:t>
            </a: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structure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: JSON, .env, headers, tables, code and prose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Checksums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 cut false alarms (Luhn, Verhoeff, IBAN mod-97)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Optional </a:t>
            </a: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on-device AI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 (Gemini Nano) keeps only what the task needs</a:t>
            </a:r>
          </a:p>
          <a:p>
            <a:pPr marL="139700" indent="-139700">
              <a:spcAft>
                <a:spcPts val="45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The AI only labels; the </a:t>
            </a:r>
            <a:r>
              <a:rPr lang="en-IN" sz="1100" b="1">
                <a:solidFill>
                  <a:srgbClr val="1A1A1A"/>
                </a:solidFill>
                <a:latin typeface="Arial" panose="020B0604020202020204" pitchFamily="34" charset="0"/>
              </a:rPr>
              <a:t>policy decides</a:t>
            </a:r>
            <a:r>
              <a:rPr lang="en-IN" sz="1100">
                <a:solidFill>
                  <a:srgbClr val="1A1A1A"/>
                </a:solidFill>
                <a:latin typeface="Arial" panose="020B0604020202020204" pitchFamily="34" charset="0"/>
              </a:rPr>
              <a:t> every replacement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836BFB-A6FF-20FC-409B-54BCE4C51B7A}"/>
              </a:ext>
            </a:extLst>
          </p:cNvPr>
          <p:cNvSpPr txBox="1"/>
          <p:nvPr/>
        </p:nvSpPr>
        <p:spPr>
          <a:xfrm>
            <a:off x="4013200" y="4648200"/>
            <a:ext cx="7950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150" b="1">
                <a:solidFill>
                  <a:srgbClr val="1F497D"/>
                </a:solidFill>
                <a:latin typeface="Arial" panose="020B0604020202020204" pitchFamily="34" charset="0"/>
              </a:rPr>
              <a:t>How it addresses the problem – real output, Healthcare profile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8E00237-A6F6-40D0-31B1-0A65DDBEB701}"/>
              </a:ext>
            </a:extLst>
          </p:cNvPr>
          <p:cNvSpPr/>
          <p:nvPr/>
        </p:nvSpPr>
        <p:spPr>
          <a:xfrm>
            <a:off x="4013200" y="4902200"/>
            <a:ext cx="3352800" cy="1346200"/>
          </a:xfrm>
          <a:prstGeom prst="roundRect">
            <a:avLst>
              <a:gd name="adj" fmla="val 9434"/>
            </a:avLst>
          </a:prstGeom>
          <a:solidFill>
            <a:srgbClr val="FDEDEC"/>
          </a:solidFill>
          <a:ln w="12700">
            <a:solidFill>
              <a:srgbClr val="F1B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997ED2-BC10-F4F8-2C88-5CFEBFC2A564}"/>
              </a:ext>
            </a:extLst>
          </p:cNvPr>
          <p:cNvSpPr txBox="1"/>
          <p:nvPr/>
        </p:nvSpPr>
        <p:spPr>
          <a:xfrm>
            <a:off x="4140200" y="49657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900" b="1">
                <a:solidFill>
                  <a:srgbClr val="D9473F"/>
                </a:solidFill>
                <a:latin typeface="Arial" panose="020B0604020202020204" pitchFamily="34" charset="0"/>
              </a:rPr>
              <a:t>BEFORE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3EE4FC5-CFB0-C6E6-42FD-B0ABA135A82D}"/>
              </a:ext>
            </a:extLst>
          </p:cNvPr>
          <p:cNvSpPr/>
          <p:nvPr/>
        </p:nvSpPr>
        <p:spPr>
          <a:xfrm>
            <a:off x="6019800" y="4953000"/>
            <a:ext cx="1244600" cy="203200"/>
          </a:xfrm>
          <a:prstGeom prst="roundRect">
            <a:avLst>
              <a:gd name="adj" fmla="val 50000"/>
            </a:avLst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Risk 97 · Critical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2A55F4-C9AD-801C-297E-5DAB239ED0AA}"/>
              </a:ext>
            </a:extLst>
          </p:cNvPr>
          <p:cNvSpPr txBox="1"/>
          <p:nvPr/>
        </p:nvSpPr>
        <p:spPr>
          <a:xfrm>
            <a:off x="4140200" y="5207000"/>
            <a:ext cx="31242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My name is </a:t>
            </a:r>
            <a:r>
              <a:rPr lang="en-IN" sz="1050" b="1">
                <a:solidFill>
                  <a:srgbClr val="D9473F"/>
                </a:solidFill>
                <a:latin typeface="Arial" panose="020B0604020202020204" pitchFamily="34" charset="0"/>
              </a:rPr>
              <a:t>Rahul Sharma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I'm </a:t>
            </a:r>
            <a:r>
              <a:rPr lang="en-IN" sz="1050" b="1">
                <a:solidFill>
                  <a:srgbClr val="D9473F"/>
                </a:solidFill>
                <a:latin typeface="Arial" panose="020B0604020202020204" pitchFamily="34" charset="0"/>
              </a:rPr>
              <a:t>27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. Phone </a:t>
            </a:r>
            <a:r>
              <a:rPr lang="en-IN" sz="1050" b="1">
                <a:solidFill>
                  <a:srgbClr val="D9473F"/>
                </a:solidFill>
                <a:latin typeface="Arial" panose="020B0604020202020204" pitchFamily="34" charset="0"/>
              </a:rPr>
              <a:t>98765 43210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Aadhaar </a:t>
            </a:r>
            <a:r>
              <a:rPr lang="en-IN" sz="1050" b="1">
                <a:solidFill>
                  <a:srgbClr val="D9473F"/>
                </a:solidFill>
                <a:latin typeface="Arial" panose="020B0604020202020204" pitchFamily="34" charset="0"/>
              </a:rPr>
              <a:t>2345 6789 0124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email </a:t>
            </a:r>
            <a:r>
              <a:rPr lang="en-IN" sz="1050" b="1">
                <a:solidFill>
                  <a:srgbClr val="D9473F"/>
                </a:solidFill>
                <a:latin typeface="Arial" panose="020B0604020202020204" pitchFamily="34" charset="0"/>
              </a:rPr>
              <a:t>rahul.sharma@gmail.com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. I have Type 2 diabetes. What should I ask my doctor?</a:t>
            </a:r>
          </a:p>
        </p:txBody>
      </p:sp>
      <p:pic>
        <p:nvPicPr>
          <p:cNvPr id="58" name="Picture 57" descr="P2Shield">
            <a:extLst>
              <a:ext uri="{FF2B5EF4-FFF2-40B4-BE49-F238E27FC236}">
                <a16:creationId xmlns:a16="http://schemas.microsoft.com/office/drawing/2014/main" id="{ACCD472F-675D-39B5-3685-8B69293DFDA1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7505700" y="5054600"/>
            <a:ext cx="482600" cy="558800"/>
          </a:xfrm>
          <a:prstGeom prst="rect">
            <a:avLst/>
          </a:prstGeom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A69E2F50-0C91-EEC7-D8A0-B588AC029D6A}"/>
              </a:ext>
            </a:extLst>
          </p:cNvPr>
          <p:cNvSpPr/>
          <p:nvPr/>
        </p:nvSpPr>
        <p:spPr>
          <a:xfrm>
            <a:off x="7442200" y="5689600"/>
            <a:ext cx="609600" cy="228600"/>
          </a:xfrm>
          <a:prstGeom prst="rightArrow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0C4ED42-94A4-E4F1-52A1-3E6A5278E88B}"/>
              </a:ext>
            </a:extLst>
          </p:cNvPr>
          <p:cNvSpPr/>
          <p:nvPr/>
        </p:nvSpPr>
        <p:spPr>
          <a:xfrm>
            <a:off x="8153400" y="4902200"/>
            <a:ext cx="3810000" cy="1346200"/>
          </a:xfrm>
          <a:prstGeom prst="roundRect">
            <a:avLst>
              <a:gd name="adj" fmla="val 9434"/>
            </a:avLst>
          </a:prstGeom>
          <a:solidFill>
            <a:srgbClr val="E7F6EC"/>
          </a:solidFill>
          <a:ln w="12700">
            <a:solidFill>
              <a:srgbClr val="9FD6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5A7327-DB2E-6C61-5CD4-32C7DF0DFE34}"/>
              </a:ext>
            </a:extLst>
          </p:cNvPr>
          <p:cNvSpPr txBox="1"/>
          <p:nvPr/>
        </p:nvSpPr>
        <p:spPr>
          <a:xfrm>
            <a:off x="8280400" y="4965700"/>
            <a:ext cx="1016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900" b="1">
                <a:solidFill>
                  <a:srgbClr val="2E9E5B"/>
                </a:solidFill>
                <a:latin typeface="Arial" panose="020B0604020202020204" pitchFamily="34" charset="0"/>
              </a:rPr>
              <a:t>AFTER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CF9E677-2C90-B012-C00C-DF58DA25ADFB}"/>
              </a:ext>
            </a:extLst>
          </p:cNvPr>
          <p:cNvSpPr/>
          <p:nvPr/>
        </p:nvSpPr>
        <p:spPr>
          <a:xfrm>
            <a:off x="10744200" y="4953000"/>
            <a:ext cx="1117600" cy="2032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Risk 23 · Low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251889-7023-AF18-F929-8747678E742C}"/>
              </a:ext>
            </a:extLst>
          </p:cNvPr>
          <p:cNvSpPr txBox="1"/>
          <p:nvPr/>
        </p:nvSpPr>
        <p:spPr>
          <a:xfrm>
            <a:off x="8280400" y="5207000"/>
            <a:ext cx="3581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My name is </a:t>
            </a:r>
            <a:r>
              <a:rPr lang="en-IN" sz="1050" b="1">
                <a:solidFill>
                  <a:srgbClr val="2E9E5B"/>
                </a:solidFill>
                <a:latin typeface="Arial" panose="020B0604020202020204" pitchFamily="34" charset="0"/>
              </a:rPr>
              <a:t>[PERSON_1]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I'm </a:t>
            </a:r>
            <a:r>
              <a:rPr lang="en-IN" sz="1050" b="1">
                <a:solidFill>
                  <a:srgbClr val="2E9E5B"/>
                </a:solidFill>
                <a:latin typeface="Arial" panose="020B0604020202020204" pitchFamily="34" charset="0"/>
              </a:rPr>
              <a:t>20-30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. Phone </a:t>
            </a:r>
            <a:r>
              <a:rPr lang="en-IN" sz="1050" b="1">
                <a:solidFill>
                  <a:srgbClr val="2E9E5B"/>
                </a:solidFill>
                <a:latin typeface="Arial" panose="020B0604020202020204" pitchFamily="34" charset="0"/>
              </a:rPr>
              <a:t>[REDACTED_PHONE]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Aadhaar </a:t>
            </a:r>
            <a:r>
              <a:rPr lang="en-IN" sz="1050" b="1">
                <a:solidFill>
                  <a:srgbClr val="2E9E5B"/>
                </a:solidFill>
                <a:latin typeface="Arial" panose="020B0604020202020204" pitchFamily="34" charset="0"/>
              </a:rPr>
              <a:t>[REDACTED_AADHAAR]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email </a:t>
            </a:r>
            <a:r>
              <a:rPr lang="en-IN" sz="1050" b="1">
                <a:solidFill>
                  <a:srgbClr val="2E9E5B"/>
                </a:solidFill>
                <a:latin typeface="Arial" panose="020B0604020202020204" pitchFamily="34" charset="0"/>
              </a:rPr>
              <a:t>[REDACTED_EMAIL]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. I have </a:t>
            </a:r>
            <a:r>
              <a:rPr lang="en-IN" sz="1050" b="1">
                <a:solidFill>
                  <a:srgbClr val="1F497D"/>
                </a:solidFill>
                <a:latin typeface="Arial" panose="020B0604020202020204" pitchFamily="34" charset="0"/>
              </a:rPr>
              <a:t>Type 2 diabetes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. What should I ask my doctor?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7AF8C6-A7EF-B8CC-12BF-68207D813D49}"/>
              </a:ext>
            </a:extLst>
          </p:cNvPr>
          <p:cNvSpPr txBox="1"/>
          <p:nvPr/>
        </p:nvSpPr>
        <p:spPr>
          <a:xfrm>
            <a:off x="8280400" y="6019800"/>
            <a:ext cx="3581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900" i="1">
                <a:solidFill>
                  <a:srgbClr val="2E6B47"/>
                </a:solidFill>
                <a:latin typeface="Arial" panose="020B0604020202020204" pitchFamily="34" charset="0"/>
              </a:rPr>
              <a:t>Diagnosis kept: the answer needs it. Identity removed.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905000" y="508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US" sz="3400" b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  <a:sym typeface="Times New Roman"/>
              </a:rPr>
              <a:t>TECHNICAL APPROACH</a:t>
            </a:r>
            <a:endParaRPr sz="3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IN" sz="1100">
                <a:solidFill>
                  <a:srgbClr val="FFFFFF"/>
                </a:solidFill>
                <a:latin typeface="Oswald" panose="00000500000000000000" pitchFamily="2" charset="0"/>
              </a:rPr>
              <a:t>@BITSHIFT Idea submission  ·  TechKnights  ·  P2Shield</a:t>
            </a:r>
            <a:endParaRPr sz="1100">
              <a:solidFill>
                <a:srgbClr val="FFFFFF"/>
              </a:solidFill>
              <a:latin typeface="Oswald" panose="00000500000000000000" pitchFamily="2" charset="0"/>
            </a:endParaRPr>
          </a:p>
        </p:txBody>
      </p:sp>
      <p:sp>
        <p:nvSpPr>
          <p:cNvPr id="116" name="Google Shape;116;p3" descr="Your startup LOGO"/>
          <p:cNvSpPr/>
          <p:nvPr/>
        </p:nvSpPr>
        <p:spPr>
          <a:xfrm>
            <a:off x="253999" y="228600"/>
            <a:ext cx="1422400" cy="584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/>
            <a:r>
              <a:rPr lang="en-US" sz="1500" b="1">
                <a:solidFill>
                  <a:srgbClr val="4B2E83"/>
                </a:solidFill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TechKnights</a:t>
            </a:r>
            <a:endParaRPr sz="1500" b="1">
              <a:solidFill>
                <a:srgbClr val="4B2E83"/>
              </a:solidFill>
              <a:latin typeface="Calibri" panose="020F050202020403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10490200" y="76200"/>
            <a:ext cx="1498600" cy="10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7CBF0E-ACCE-DD0F-2A5C-E27177A2BA64}"/>
              </a:ext>
            </a:extLst>
          </p:cNvPr>
          <p:cNvSpPr txBox="1"/>
          <p:nvPr/>
        </p:nvSpPr>
        <p:spPr>
          <a:xfrm>
            <a:off x="1905000" y="685800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b="1">
                <a:solidFill>
                  <a:srgbClr val="1F497D"/>
                </a:solidFill>
                <a:latin typeface="Arial" panose="020B0604020202020204" pitchFamily="34" charset="0"/>
              </a:rPr>
              <a:t>A pure TypeScript engine inside a Chrome extension. Nothing leaves the browser.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C1FEE0-324E-882C-798A-6CA074A85638}"/>
              </a:ext>
            </a:extLst>
          </p:cNvPr>
          <p:cNvSpPr/>
          <p:nvPr/>
        </p:nvSpPr>
        <p:spPr>
          <a:xfrm>
            <a:off x="228600" y="1219200"/>
            <a:ext cx="11734800" cy="2463800"/>
          </a:xfrm>
          <a:prstGeom prst="roundRect">
            <a:avLst>
              <a:gd name="adj" fmla="val 6186"/>
            </a:avLst>
          </a:prstGeom>
          <a:solidFill>
            <a:srgbClr val="F5F7FB"/>
          </a:solidFill>
          <a:ln w="12700">
            <a:solidFill>
              <a:srgbClr val="D5DC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E72F0-EE3B-DE36-A660-7D5DF88AED27}"/>
              </a:ext>
            </a:extLst>
          </p:cNvPr>
          <p:cNvSpPr/>
          <p:nvPr/>
        </p:nvSpPr>
        <p:spPr>
          <a:xfrm>
            <a:off x="381000" y="1308100"/>
            <a:ext cx="2870200" cy="228600"/>
          </a:xfrm>
          <a:prstGeom prst="rect">
            <a:avLst/>
          </a:prstGeom>
          <a:solidFill>
            <a:srgbClr val="FFE45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645A4-4A48-6EA4-5822-DCC1BB3F7804}"/>
              </a:ext>
            </a:extLst>
          </p:cNvPr>
          <p:cNvSpPr txBox="1"/>
          <p:nvPr/>
        </p:nvSpPr>
        <p:spPr>
          <a:xfrm>
            <a:off x="431800" y="1308100"/>
            <a:ext cx="2819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150" b="1">
                <a:latin typeface="Arial" panose="020B0604020202020204" pitchFamily="34" charset="0"/>
              </a:rPr>
              <a:t>System Architecture &amp; Process Flow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0A3DF3-9CB7-C9F6-98C3-1FA42BD3518B}"/>
              </a:ext>
            </a:extLst>
          </p:cNvPr>
          <p:cNvSpPr/>
          <p:nvPr/>
        </p:nvSpPr>
        <p:spPr>
          <a:xfrm>
            <a:off x="381000" y="2019300"/>
            <a:ext cx="1066800" cy="1168400"/>
          </a:xfrm>
          <a:prstGeom prst="roundRect">
            <a:avLst>
              <a:gd name="adj" fmla="val 10714"/>
            </a:avLst>
          </a:prstGeom>
          <a:solidFill>
            <a:srgbClr val="1F6FB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message-square-text icon">
            <a:extLst>
              <a:ext uri="{FF2B5EF4-FFF2-40B4-BE49-F238E27FC236}">
                <a16:creationId xmlns:a16="http://schemas.microsoft.com/office/drawing/2014/main" id="{B9D05227-79F1-EB4D-4C1D-96A68FB5594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2108200"/>
            <a:ext cx="228600" cy="228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800571-3DE1-7D59-255A-9A42E78DDA98}"/>
              </a:ext>
            </a:extLst>
          </p:cNvPr>
          <p:cNvSpPr txBox="1"/>
          <p:nvPr/>
        </p:nvSpPr>
        <p:spPr>
          <a:xfrm>
            <a:off x="431800" y="2374900"/>
            <a:ext cx="9652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AI chat box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AF69F-D606-B94A-144D-57B8985FE26D}"/>
              </a:ext>
            </a:extLst>
          </p:cNvPr>
          <p:cNvSpPr txBox="1"/>
          <p:nvPr/>
        </p:nvSpPr>
        <p:spPr>
          <a:xfrm>
            <a:off x="431800" y="2565400"/>
            <a:ext cx="965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ChatGPT, Claude, Gemini or any site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EF3CD6D-6507-ECF9-2642-67746660AE4B}"/>
              </a:ext>
            </a:extLst>
          </p:cNvPr>
          <p:cNvSpPr/>
          <p:nvPr/>
        </p:nvSpPr>
        <p:spPr>
          <a:xfrm rot="5400000">
            <a:off x="1479550" y="2546350"/>
            <a:ext cx="114300" cy="1143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AC3BB0-A939-0485-69EB-253CAC161854}"/>
              </a:ext>
            </a:extLst>
          </p:cNvPr>
          <p:cNvSpPr/>
          <p:nvPr/>
        </p:nvSpPr>
        <p:spPr>
          <a:xfrm>
            <a:off x="1625600" y="2019300"/>
            <a:ext cx="1143000" cy="1168400"/>
          </a:xfrm>
          <a:prstGeom prst="roundRect">
            <a:avLst>
              <a:gd name="adj" fmla="val 10000"/>
            </a:avLst>
          </a:prstGeom>
          <a:solidFill>
            <a:srgbClr val="2B8C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Graphic 13" descr="shield-check icon">
            <a:extLst>
              <a:ext uri="{FF2B5EF4-FFF2-40B4-BE49-F238E27FC236}">
                <a16:creationId xmlns:a16="http://schemas.microsoft.com/office/drawing/2014/main" id="{55ED8C7D-455E-80AB-3E73-2D81C8F5EE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82800" y="2108200"/>
            <a:ext cx="228600" cy="228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648D2C-1BBC-1C30-1A19-533D9BD69822}"/>
              </a:ext>
            </a:extLst>
          </p:cNvPr>
          <p:cNvSpPr txBox="1"/>
          <p:nvPr/>
        </p:nvSpPr>
        <p:spPr>
          <a:xfrm>
            <a:off x="1676400" y="2374900"/>
            <a:ext cx="1041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Shield UI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36AFC6-BDD1-3427-082E-AF9A289A062C}"/>
              </a:ext>
            </a:extLst>
          </p:cNvPr>
          <p:cNvSpPr txBox="1"/>
          <p:nvPr/>
        </p:nvSpPr>
        <p:spPr>
          <a:xfrm>
            <a:off x="1676400" y="2565400"/>
            <a:ext cx="10414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content script, closed Shadow DOM, Alt+Shift+S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5895C03-6C65-668A-5322-846806AD054B}"/>
              </a:ext>
            </a:extLst>
          </p:cNvPr>
          <p:cNvSpPr/>
          <p:nvPr/>
        </p:nvSpPr>
        <p:spPr>
          <a:xfrm rot="5400000">
            <a:off x="2800350" y="2546350"/>
            <a:ext cx="114300" cy="1143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8643BB9-01DC-C10F-C30E-F2B647088202}"/>
              </a:ext>
            </a:extLst>
          </p:cNvPr>
          <p:cNvSpPr/>
          <p:nvPr/>
        </p:nvSpPr>
        <p:spPr>
          <a:xfrm>
            <a:off x="2946400" y="1625600"/>
            <a:ext cx="6807200" cy="195580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5875">
            <a:solidFill>
              <a:srgbClr val="6F4FB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CDFEF-7AB4-4329-C99C-91664099E3CE}"/>
              </a:ext>
            </a:extLst>
          </p:cNvPr>
          <p:cNvSpPr txBox="1"/>
          <p:nvPr/>
        </p:nvSpPr>
        <p:spPr>
          <a:xfrm>
            <a:off x="3073400" y="1663700"/>
            <a:ext cx="660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6F4FB0"/>
                </a:solidFill>
                <a:latin typeface="Arial" panose="020B0604020202020204" pitchFamily="34" charset="0"/>
              </a:rPr>
              <a:t>CORE ENGINE  ·  on-device, pure TypeScript, no DOM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F122E0-8CE2-53AE-B8D3-A47EDC7E0BCD}"/>
              </a:ext>
            </a:extLst>
          </p:cNvPr>
          <p:cNvSpPr/>
          <p:nvPr/>
        </p:nvSpPr>
        <p:spPr>
          <a:xfrm>
            <a:off x="3073400" y="1879600"/>
            <a:ext cx="1981200" cy="381000"/>
          </a:xfrm>
          <a:prstGeom prst="roundRect">
            <a:avLst>
              <a:gd name="adj" fmla="val 20000"/>
            </a:avLst>
          </a:prstGeom>
          <a:solidFill>
            <a:srgbClr val="EEF3FB"/>
          </a:solidFill>
          <a:ln w="9525">
            <a:solidFill>
              <a:srgbClr val="C9D6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Graphic 21" descr="binary icon">
            <a:extLst>
              <a:ext uri="{FF2B5EF4-FFF2-40B4-BE49-F238E27FC236}">
                <a16:creationId xmlns:a16="http://schemas.microsoft.com/office/drawing/2014/main" id="{36413CEA-43B0-1A06-3C25-9390A182754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6900" y="1968500"/>
            <a:ext cx="203200" cy="203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3E85DF4-9FDF-E653-4D42-286066B14FD6}"/>
              </a:ext>
            </a:extLst>
          </p:cNvPr>
          <p:cNvSpPr txBox="1"/>
          <p:nvPr/>
        </p:nvSpPr>
        <p:spPr>
          <a:xfrm>
            <a:off x="3403600" y="1905000"/>
            <a:ext cx="1625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1F497D"/>
                </a:solidFill>
                <a:latin typeface="Arial" panose="020B0604020202020204" pitchFamily="34" charset="0"/>
              </a:rPr>
              <a:t>Rule detectors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62B12A-D8CA-F41C-A034-800446C1C3A8}"/>
              </a:ext>
            </a:extLst>
          </p:cNvPr>
          <p:cNvSpPr txBox="1"/>
          <p:nvPr/>
        </p:nvSpPr>
        <p:spPr>
          <a:xfrm>
            <a:off x="3403600" y="2070100"/>
            <a:ext cx="162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regex, checksums, 40+ secrets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D328459-2F5B-9D58-553D-D7760C3D3296}"/>
              </a:ext>
            </a:extLst>
          </p:cNvPr>
          <p:cNvSpPr/>
          <p:nvPr/>
        </p:nvSpPr>
        <p:spPr>
          <a:xfrm>
            <a:off x="3073400" y="2298700"/>
            <a:ext cx="1981200" cy="381000"/>
          </a:xfrm>
          <a:prstGeom prst="roundRect">
            <a:avLst>
              <a:gd name="adj" fmla="val 20000"/>
            </a:avLst>
          </a:prstGeom>
          <a:solidFill>
            <a:srgbClr val="EEF3FB"/>
          </a:solidFill>
          <a:ln w="9525">
            <a:solidFill>
              <a:srgbClr val="C9D6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Graphic 26" descr="braces icon">
            <a:extLst>
              <a:ext uri="{FF2B5EF4-FFF2-40B4-BE49-F238E27FC236}">
                <a16:creationId xmlns:a16="http://schemas.microsoft.com/office/drawing/2014/main" id="{D0205D78-2857-2BAF-36F5-096C1D4BD1F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900" y="2387600"/>
            <a:ext cx="203200" cy="2032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94FB34E-A121-790C-C063-C0FF3F20BD90}"/>
              </a:ext>
            </a:extLst>
          </p:cNvPr>
          <p:cNvSpPr txBox="1"/>
          <p:nvPr/>
        </p:nvSpPr>
        <p:spPr>
          <a:xfrm>
            <a:off x="3403600" y="2324100"/>
            <a:ext cx="1625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1F497D"/>
                </a:solidFill>
                <a:latin typeface="Arial" panose="020B0604020202020204" pitchFamily="34" charset="0"/>
              </a:rPr>
              <a:t>Field detector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814077-A8B5-0DAE-39F1-FE8E478CD633}"/>
              </a:ext>
            </a:extLst>
          </p:cNvPr>
          <p:cNvSpPr txBox="1"/>
          <p:nvPr/>
        </p:nvSpPr>
        <p:spPr>
          <a:xfrm>
            <a:off x="3403600" y="2489200"/>
            <a:ext cx="162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JSON, YAML, .env, headers, tables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79EAA6C-FD62-3523-0ED9-0DF6399D38C3}"/>
              </a:ext>
            </a:extLst>
          </p:cNvPr>
          <p:cNvSpPr/>
          <p:nvPr/>
        </p:nvSpPr>
        <p:spPr>
          <a:xfrm>
            <a:off x="3073400" y="2717800"/>
            <a:ext cx="1981200" cy="381000"/>
          </a:xfrm>
          <a:prstGeom prst="roundRect">
            <a:avLst>
              <a:gd name="adj" fmla="val 20000"/>
            </a:avLst>
          </a:prstGeom>
          <a:solidFill>
            <a:srgbClr val="EEF3FB"/>
          </a:solidFill>
          <a:ln w="9525">
            <a:solidFill>
              <a:srgbClr val="C9D6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Graphic 31" descr="file-search icon">
            <a:extLst>
              <a:ext uri="{FF2B5EF4-FFF2-40B4-BE49-F238E27FC236}">
                <a16:creationId xmlns:a16="http://schemas.microsoft.com/office/drawing/2014/main" id="{C845219D-B520-3F30-38DB-59A94C5C626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6900" y="2806700"/>
            <a:ext cx="203200" cy="203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048752E-A8C0-8D6D-6C82-14C4F977A975}"/>
              </a:ext>
            </a:extLst>
          </p:cNvPr>
          <p:cNvSpPr txBox="1"/>
          <p:nvPr/>
        </p:nvSpPr>
        <p:spPr>
          <a:xfrm>
            <a:off x="3403600" y="2743200"/>
            <a:ext cx="1625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1F497D"/>
                </a:solidFill>
                <a:latin typeface="Arial" panose="020B0604020202020204" pitchFamily="34" charset="0"/>
              </a:rPr>
              <a:t>Heuristics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EE655E-3DFF-BB61-7313-75CB01197706}"/>
              </a:ext>
            </a:extLst>
          </p:cNvPr>
          <p:cNvSpPr txBox="1"/>
          <p:nvPr/>
        </p:nvSpPr>
        <p:spPr>
          <a:xfrm>
            <a:off x="3403600" y="2908300"/>
            <a:ext cx="162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names, medical, amounts, hosts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EE1B260-86C3-A4E0-2144-8A4AF42520FA}"/>
              </a:ext>
            </a:extLst>
          </p:cNvPr>
          <p:cNvSpPr/>
          <p:nvPr/>
        </p:nvSpPr>
        <p:spPr>
          <a:xfrm>
            <a:off x="3073400" y="3136900"/>
            <a:ext cx="1981200" cy="381000"/>
          </a:xfrm>
          <a:prstGeom prst="roundRect">
            <a:avLst>
              <a:gd name="adj" fmla="val 20000"/>
            </a:avLst>
          </a:prstGeom>
          <a:solidFill>
            <a:srgbClr val="EEF3FB"/>
          </a:solidFill>
          <a:ln w="9525">
            <a:solidFill>
              <a:srgbClr val="C9D6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7" name="Graphic 36" descr="sparkles icon">
            <a:extLst>
              <a:ext uri="{FF2B5EF4-FFF2-40B4-BE49-F238E27FC236}">
                <a16:creationId xmlns:a16="http://schemas.microsoft.com/office/drawing/2014/main" id="{F3B44EA6-FED5-CA3C-FBD3-83710E59E22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36900" y="3225800"/>
            <a:ext cx="203200" cy="203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B3EB206-DF7B-C74C-620C-8BBCF51AB28A}"/>
              </a:ext>
            </a:extLst>
          </p:cNvPr>
          <p:cNvSpPr txBox="1"/>
          <p:nvPr/>
        </p:nvSpPr>
        <p:spPr>
          <a:xfrm>
            <a:off x="3403600" y="3162300"/>
            <a:ext cx="1625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 b="1">
                <a:solidFill>
                  <a:srgbClr val="1F497D"/>
                </a:solidFill>
                <a:latin typeface="Arial" panose="020B0604020202020204" pitchFamily="34" charset="0"/>
              </a:rPr>
              <a:t>Smart labels (optional)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B1022B-15F7-7265-7476-106F230EB712}"/>
              </a:ext>
            </a:extLst>
          </p:cNvPr>
          <p:cNvSpPr txBox="1"/>
          <p:nvPr/>
        </p:nvSpPr>
        <p:spPr>
          <a:xfrm>
            <a:off x="3403600" y="3327400"/>
            <a:ext cx="1625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it-IT" sz="750">
                <a:solidFill>
                  <a:srgbClr val="55606E"/>
                </a:solidFill>
                <a:latin typeface="Arial" panose="020B0604020202020204" pitchFamily="34" charset="0"/>
              </a:rPr>
              <a:t>Gemini Nano via Prompt API</a:t>
            </a:r>
            <a:endParaRPr lang="en-IN" sz="750">
              <a:solidFill>
                <a:srgbClr val="55606E"/>
              </a:solidFill>
              <a:latin typeface="Arial" panose="020B0604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18552A-951C-4B91-D079-923EAAD952BC}"/>
              </a:ext>
            </a:extLst>
          </p:cNvPr>
          <p:cNvCxnSpPr/>
          <p:nvPr/>
        </p:nvCxnSpPr>
        <p:spPr>
          <a:xfrm>
            <a:off x="5105400" y="1930400"/>
            <a:ext cx="0" cy="1549400"/>
          </a:xfrm>
          <a:prstGeom prst="straightConnector1">
            <a:avLst/>
          </a:prstGeom>
          <a:ln w="15875">
            <a:solidFill>
              <a:srgbClr val="1F49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1DBEE47A-890E-896A-4FFD-0F231E19A88D}"/>
              </a:ext>
            </a:extLst>
          </p:cNvPr>
          <p:cNvSpPr/>
          <p:nvPr/>
        </p:nvSpPr>
        <p:spPr>
          <a:xfrm rot="5400000">
            <a:off x="5137150" y="2546350"/>
            <a:ext cx="114300" cy="1143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60A77A9-82D1-3C8C-2635-B95739945D00}"/>
              </a:ext>
            </a:extLst>
          </p:cNvPr>
          <p:cNvSpPr/>
          <p:nvPr/>
        </p:nvSpPr>
        <p:spPr>
          <a:xfrm>
            <a:off x="5283200" y="1993900"/>
            <a:ext cx="990600" cy="1219200"/>
          </a:xfrm>
          <a:prstGeom prst="roundRect">
            <a:avLst>
              <a:gd name="adj" fmla="val 11538"/>
            </a:avLst>
          </a:prstGeom>
          <a:solidFill>
            <a:srgbClr val="6F4F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Graphic 43" descr="git-merge icon">
            <a:extLst>
              <a:ext uri="{FF2B5EF4-FFF2-40B4-BE49-F238E27FC236}">
                <a16:creationId xmlns:a16="http://schemas.microsoft.com/office/drawing/2014/main" id="{212D7B08-268A-50E6-0933-ADF773ABEB2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64200" y="2082800"/>
            <a:ext cx="228600" cy="2286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71FB89A-BFF6-76B8-46A8-B9E9606142EC}"/>
              </a:ext>
            </a:extLst>
          </p:cNvPr>
          <p:cNvSpPr txBox="1"/>
          <p:nvPr/>
        </p:nvSpPr>
        <p:spPr>
          <a:xfrm>
            <a:off x="5334000" y="2349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Resolver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AA3811-BFBA-4EEB-DA18-B8E6C5AD5660}"/>
              </a:ext>
            </a:extLst>
          </p:cNvPr>
          <p:cNvSpPr txBox="1"/>
          <p:nvPr/>
        </p:nvSpPr>
        <p:spPr>
          <a:xfrm>
            <a:off x="5334000" y="2540000"/>
            <a:ext cx="8890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merge overlaps, keep the most specific</a:t>
            </a: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6F79E460-125A-57D8-9FF1-152A97D03EE3}"/>
              </a:ext>
            </a:extLst>
          </p:cNvPr>
          <p:cNvSpPr/>
          <p:nvPr/>
        </p:nvSpPr>
        <p:spPr>
          <a:xfrm rot="5400000">
            <a:off x="6286500" y="2552700"/>
            <a:ext cx="101600" cy="1016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7F607C8-1B8B-DED7-A02F-A370220F4B0F}"/>
              </a:ext>
            </a:extLst>
          </p:cNvPr>
          <p:cNvSpPr/>
          <p:nvPr/>
        </p:nvSpPr>
        <p:spPr>
          <a:xfrm>
            <a:off x="6400800" y="1993900"/>
            <a:ext cx="990600" cy="1219200"/>
          </a:xfrm>
          <a:prstGeom prst="roundRect">
            <a:avLst>
              <a:gd name="adj" fmla="val 11538"/>
            </a:avLst>
          </a:prstGeom>
          <a:solidFill>
            <a:srgbClr val="6F4F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0" name="Graphic 49" descr="sliders-horizontal icon">
            <a:extLst>
              <a:ext uri="{FF2B5EF4-FFF2-40B4-BE49-F238E27FC236}">
                <a16:creationId xmlns:a16="http://schemas.microsoft.com/office/drawing/2014/main" id="{90C320E8-CA0E-899A-5869-2DB8483D40B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81800" y="2082800"/>
            <a:ext cx="228600" cy="2286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89E65FB-D875-32AE-42CD-AA2B9F917613}"/>
              </a:ext>
            </a:extLst>
          </p:cNvPr>
          <p:cNvSpPr txBox="1"/>
          <p:nvPr/>
        </p:nvSpPr>
        <p:spPr>
          <a:xfrm>
            <a:off x="6451600" y="2349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Policy engine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350639-F2D5-30EF-2668-178189E6E1AF}"/>
              </a:ext>
            </a:extLst>
          </p:cNvPr>
          <p:cNvSpPr txBox="1"/>
          <p:nvPr/>
        </p:nvSpPr>
        <p:spPr>
          <a:xfrm>
            <a:off x="6451600" y="2540000"/>
            <a:ext cx="8890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action per data type and profile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800D61B-6537-DDA0-1433-DAEDFF6E634A}"/>
              </a:ext>
            </a:extLst>
          </p:cNvPr>
          <p:cNvSpPr/>
          <p:nvPr/>
        </p:nvSpPr>
        <p:spPr>
          <a:xfrm rot="5400000">
            <a:off x="7404100" y="2552700"/>
            <a:ext cx="101600" cy="1016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33BFED2-6D32-2F94-C4DA-D70270AD7614}"/>
              </a:ext>
            </a:extLst>
          </p:cNvPr>
          <p:cNvSpPr/>
          <p:nvPr/>
        </p:nvSpPr>
        <p:spPr>
          <a:xfrm>
            <a:off x="7518400" y="1993900"/>
            <a:ext cx="990600" cy="1219200"/>
          </a:xfrm>
          <a:prstGeom prst="roundRect">
            <a:avLst>
              <a:gd name="adj" fmla="val 11538"/>
            </a:avLst>
          </a:prstGeom>
          <a:solidFill>
            <a:srgbClr val="E07B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6" name="Graphic 55" descr="gauge icon">
            <a:extLst>
              <a:ext uri="{FF2B5EF4-FFF2-40B4-BE49-F238E27FC236}">
                <a16:creationId xmlns:a16="http://schemas.microsoft.com/office/drawing/2014/main" id="{589B0A5F-4CCB-2E6E-6365-C51027F42F5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99400" y="2082800"/>
            <a:ext cx="228600" cy="2286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45D3EC8-384E-F2B6-9229-C5518610B12E}"/>
              </a:ext>
            </a:extLst>
          </p:cNvPr>
          <p:cNvSpPr txBox="1"/>
          <p:nvPr/>
        </p:nvSpPr>
        <p:spPr>
          <a:xfrm>
            <a:off x="7569200" y="2349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Risk scorer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CCC0A5-00FC-A6E1-9795-BC5A9475B01C}"/>
              </a:ext>
            </a:extLst>
          </p:cNvPr>
          <p:cNvSpPr txBox="1"/>
          <p:nvPr/>
        </p:nvSpPr>
        <p:spPr>
          <a:xfrm>
            <a:off x="7569200" y="2540000"/>
            <a:ext cx="8890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0–100, before and after</a:t>
            </a: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FE2A593B-3D69-776F-6E3E-BBD6F8644275}"/>
              </a:ext>
            </a:extLst>
          </p:cNvPr>
          <p:cNvSpPr/>
          <p:nvPr/>
        </p:nvSpPr>
        <p:spPr>
          <a:xfrm rot="5400000">
            <a:off x="8521700" y="2552700"/>
            <a:ext cx="101600" cy="1016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51D241D-CC53-1293-5AC3-A0E7EC25F4D0}"/>
              </a:ext>
            </a:extLst>
          </p:cNvPr>
          <p:cNvSpPr/>
          <p:nvPr/>
        </p:nvSpPr>
        <p:spPr>
          <a:xfrm>
            <a:off x="8636000" y="1993900"/>
            <a:ext cx="990600" cy="1219200"/>
          </a:xfrm>
          <a:prstGeom prst="roundRect">
            <a:avLst>
              <a:gd name="adj" fmla="val 11538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2" name="Graphic 61" descr="eraser icon">
            <a:extLst>
              <a:ext uri="{FF2B5EF4-FFF2-40B4-BE49-F238E27FC236}">
                <a16:creationId xmlns:a16="http://schemas.microsoft.com/office/drawing/2014/main" id="{9A261FC2-C57B-BF06-9D52-95522ACAE29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17000" y="2082800"/>
            <a:ext cx="228600" cy="2286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8A106EC-61E4-A8F1-2F20-8CEEEADF3E2D}"/>
              </a:ext>
            </a:extLst>
          </p:cNvPr>
          <p:cNvSpPr txBox="1"/>
          <p:nvPr/>
        </p:nvSpPr>
        <p:spPr>
          <a:xfrm>
            <a:off x="8686800" y="2349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Sanitizer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DB9A82-7929-D5D0-A605-219EFA4AC004}"/>
              </a:ext>
            </a:extLst>
          </p:cNvPr>
          <p:cNvSpPr txBox="1"/>
          <p:nvPr/>
        </p:nvSpPr>
        <p:spPr>
          <a:xfrm>
            <a:off x="8686800" y="2540000"/>
            <a:ext cx="8890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mask, tokenize, redact, generalize</a:t>
            </a:r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01BDB4B-25F3-3B5B-86F5-04C51467212B}"/>
              </a:ext>
            </a:extLst>
          </p:cNvPr>
          <p:cNvSpPr/>
          <p:nvPr/>
        </p:nvSpPr>
        <p:spPr>
          <a:xfrm rot="5400000">
            <a:off x="9785350" y="2546350"/>
            <a:ext cx="114300" cy="1143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7C2341F-7BF1-E444-2B84-E8995760B3C2}"/>
              </a:ext>
            </a:extLst>
          </p:cNvPr>
          <p:cNvSpPr/>
          <p:nvPr/>
        </p:nvSpPr>
        <p:spPr>
          <a:xfrm>
            <a:off x="9931400" y="2019300"/>
            <a:ext cx="965200" cy="1168400"/>
          </a:xfrm>
          <a:prstGeom prst="roundRect">
            <a:avLst>
              <a:gd name="adj" fmla="val 11842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8" name="Graphic 67" descr="undo-2 icon">
            <a:extLst>
              <a:ext uri="{FF2B5EF4-FFF2-40B4-BE49-F238E27FC236}">
                <a16:creationId xmlns:a16="http://schemas.microsoft.com/office/drawing/2014/main" id="{6D9E15EF-9EF6-BCE0-CD87-4D3CBA5EE3E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99700" y="2108200"/>
            <a:ext cx="228600" cy="2286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886098E-4BAB-EEAB-850B-400EBAED6685}"/>
              </a:ext>
            </a:extLst>
          </p:cNvPr>
          <p:cNvSpPr txBox="1"/>
          <p:nvPr/>
        </p:nvSpPr>
        <p:spPr>
          <a:xfrm>
            <a:off x="9982200" y="2374900"/>
            <a:ext cx="863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Write back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0C44C4-7099-0C46-D10E-D2EF13F4CBD7}"/>
              </a:ext>
            </a:extLst>
          </p:cNvPr>
          <p:cNvSpPr txBox="1"/>
          <p:nvPr/>
        </p:nvSpPr>
        <p:spPr>
          <a:xfrm>
            <a:off x="9982200" y="2565400"/>
            <a:ext cx="863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safe text into the box, verified, with Undo</a:t>
            </a:r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319F2A83-73AA-2E62-8D4D-320C5350BA47}"/>
              </a:ext>
            </a:extLst>
          </p:cNvPr>
          <p:cNvSpPr/>
          <p:nvPr/>
        </p:nvSpPr>
        <p:spPr>
          <a:xfrm rot="5400000">
            <a:off x="10928350" y="2546350"/>
            <a:ext cx="114300" cy="114300"/>
          </a:xfrm>
          <a:prstGeom prst="triangl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099EC01-FC9D-6238-23F2-B80E2D8356A3}"/>
              </a:ext>
            </a:extLst>
          </p:cNvPr>
          <p:cNvSpPr/>
          <p:nvPr/>
        </p:nvSpPr>
        <p:spPr>
          <a:xfrm>
            <a:off x="11074400" y="2019300"/>
            <a:ext cx="787400" cy="1168400"/>
          </a:xfrm>
          <a:prstGeom prst="roundRect">
            <a:avLst>
              <a:gd name="adj" fmla="val 14516"/>
            </a:avLst>
          </a:prstGeom>
          <a:solidFill>
            <a:srgbClr val="1F29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4" name="Graphic 73" descr="bot icon">
            <a:extLst>
              <a:ext uri="{FF2B5EF4-FFF2-40B4-BE49-F238E27FC236}">
                <a16:creationId xmlns:a16="http://schemas.microsoft.com/office/drawing/2014/main" id="{1657D261-8861-7C65-1A1C-65D9E835919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353800" y="2108200"/>
            <a:ext cx="228600" cy="2286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8397C179-3A3D-EB92-A4C6-66190FFF7764}"/>
              </a:ext>
            </a:extLst>
          </p:cNvPr>
          <p:cNvSpPr txBox="1"/>
          <p:nvPr/>
        </p:nvSpPr>
        <p:spPr>
          <a:xfrm>
            <a:off x="11125200" y="2374900"/>
            <a:ext cx="685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LLM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5A4382-17F5-470C-39FD-46DD3A8A01D6}"/>
              </a:ext>
            </a:extLst>
          </p:cNvPr>
          <p:cNvSpPr txBox="1"/>
          <p:nvPr/>
        </p:nvSpPr>
        <p:spPr>
          <a:xfrm>
            <a:off x="11125200" y="2565400"/>
            <a:ext cx="685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IN" sz="800">
                <a:solidFill>
                  <a:srgbClr val="FFFFFF"/>
                </a:solidFill>
                <a:latin typeface="Arial" panose="020B0604020202020204" pitchFamily="34" charset="0"/>
              </a:rPr>
              <a:t>gets only the safe prompt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D786E21-84B3-3CA3-5179-C73FD1F6A6F3}"/>
              </a:ext>
            </a:extLst>
          </p:cNvPr>
          <p:cNvSpPr/>
          <p:nvPr/>
        </p:nvSpPr>
        <p:spPr>
          <a:xfrm>
            <a:off x="228600" y="3810000"/>
            <a:ext cx="3429000" cy="2438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44450">
            <a:solidFill>
              <a:srgbClr val="C9C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A98D96C-D27F-0EDD-9445-545FA24CCD3D}"/>
              </a:ext>
            </a:extLst>
          </p:cNvPr>
          <p:cNvSpPr txBox="1"/>
          <p:nvPr/>
        </p:nvSpPr>
        <p:spPr>
          <a:xfrm>
            <a:off x="228600" y="3886200"/>
            <a:ext cx="342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Tech Stack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1170AAB-1AAD-93DD-A106-62E155E220F2}"/>
              </a:ext>
            </a:extLst>
          </p:cNvPr>
          <p:cNvSpPr/>
          <p:nvPr/>
        </p:nvSpPr>
        <p:spPr>
          <a:xfrm>
            <a:off x="381000" y="42672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30E5E1-7477-1310-F30C-4F7F83B69B38}"/>
              </a:ext>
            </a:extLst>
          </p:cNvPr>
          <p:cNvSpPr txBox="1"/>
          <p:nvPr/>
        </p:nvSpPr>
        <p:spPr>
          <a:xfrm>
            <a:off x="482600" y="43053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TypeScript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3D2D07-E6C9-239D-B1CF-DA082E700013}"/>
              </a:ext>
            </a:extLst>
          </p:cNvPr>
          <p:cNvSpPr txBox="1"/>
          <p:nvPr/>
        </p:nvSpPr>
        <p:spPr>
          <a:xfrm>
            <a:off x="482600" y="4483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engine + UI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3B60019-408C-46A8-7FB8-7DA31A8DCBB7}"/>
              </a:ext>
            </a:extLst>
          </p:cNvPr>
          <p:cNvSpPr/>
          <p:nvPr/>
        </p:nvSpPr>
        <p:spPr>
          <a:xfrm>
            <a:off x="1981200" y="42672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08A08B-518E-A40B-826E-DCF3D8EE75C8}"/>
              </a:ext>
            </a:extLst>
          </p:cNvPr>
          <p:cNvSpPr txBox="1"/>
          <p:nvPr/>
        </p:nvSpPr>
        <p:spPr>
          <a:xfrm>
            <a:off x="2082800" y="43053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Chrome MV3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9AD283-BE32-DC50-32BB-5C829BBBB156}"/>
              </a:ext>
            </a:extLst>
          </p:cNvPr>
          <p:cNvSpPr txBox="1"/>
          <p:nvPr/>
        </p:nvSpPr>
        <p:spPr>
          <a:xfrm>
            <a:off x="2082800" y="4483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extension platform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48E7C1D-670A-972A-9D13-FC78B4CAC3FD}"/>
              </a:ext>
            </a:extLst>
          </p:cNvPr>
          <p:cNvSpPr/>
          <p:nvPr/>
        </p:nvSpPr>
        <p:spPr>
          <a:xfrm>
            <a:off x="381000" y="47371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BDFB06D-2C14-D636-4F3C-ADC8219187AD}"/>
              </a:ext>
            </a:extLst>
          </p:cNvPr>
          <p:cNvSpPr txBox="1"/>
          <p:nvPr/>
        </p:nvSpPr>
        <p:spPr>
          <a:xfrm>
            <a:off x="482600" y="47752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Shadow DOM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D3E164D-64BE-4380-0234-7A47ACCFBF0F}"/>
              </a:ext>
            </a:extLst>
          </p:cNvPr>
          <p:cNvSpPr txBox="1"/>
          <p:nvPr/>
        </p:nvSpPr>
        <p:spPr>
          <a:xfrm>
            <a:off x="482600" y="49530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isolated shield UI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88F5736-0049-ABCB-11DD-5CBB4810D9E4}"/>
              </a:ext>
            </a:extLst>
          </p:cNvPr>
          <p:cNvSpPr/>
          <p:nvPr/>
        </p:nvSpPr>
        <p:spPr>
          <a:xfrm>
            <a:off x="1981200" y="47371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DE6E4B0-89B3-E1B3-24D5-07A170E8524A}"/>
              </a:ext>
            </a:extLst>
          </p:cNvPr>
          <p:cNvSpPr txBox="1"/>
          <p:nvPr/>
        </p:nvSpPr>
        <p:spPr>
          <a:xfrm>
            <a:off x="2082800" y="47752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Prompt API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B909FA-A268-2F12-2B61-EF6E1E05A5C2}"/>
              </a:ext>
            </a:extLst>
          </p:cNvPr>
          <p:cNvSpPr txBox="1"/>
          <p:nvPr/>
        </p:nvSpPr>
        <p:spPr>
          <a:xfrm>
            <a:off x="2082800" y="49530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Gemini Nano, on-device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AEC04B6-045E-8A1A-E6CD-373BB1A6C368}"/>
              </a:ext>
            </a:extLst>
          </p:cNvPr>
          <p:cNvSpPr/>
          <p:nvPr/>
        </p:nvSpPr>
        <p:spPr>
          <a:xfrm>
            <a:off x="381000" y="52070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A1EEE7-1693-21C9-97B4-06FCF7AA9C3C}"/>
              </a:ext>
            </a:extLst>
          </p:cNvPr>
          <p:cNvSpPr txBox="1"/>
          <p:nvPr/>
        </p:nvSpPr>
        <p:spPr>
          <a:xfrm>
            <a:off x="482600" y="52451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chrome.storage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534E62B-3586-0B72-65ED-10B161C79DD8}"/>
              </a:ext>
            </a:extLst>
          </p:cNvPr>
          <p:cNvSpPr txBox="1"/>
          <p:nvPr/>
        </p:nvSpPr>
        <p:spPr>
          <a:xfrm>
            <a:off x="482600" y="5422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settings, org policy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4BD98DF-EDA7-1407-1F8B-5247B456881A}"/>
              </a:ext>
            </a:extLst>
          </p:cNvPr>
          <p:cNvSpPr/>
          <p:nvPr/>
        </p:nvSpPr>
        <p:spPr>
          <a:xfrm>
            <a:off x="1981200" y="52070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DD26100-3047-DE51-EB72-1CE43F41128D}"/>
              </a:ext>
            </a:extLst>
          </p:cNvPr>
          <p:cNvSpPr txBox="1"/>
          <p:nvPr/>
        </p:nvSpPr>
        <p:spPr>
          <a:xfrm>
            <a:off x="2082800" y="52451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esbuild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B66DC3C-F7F4-1655-23E5-B68E5413BC9A}"/>
              </a:ext>
            </a:extLst>
          </p:cNvPr>
          <p:cNvSpPr txBox="1"/>
          <p:nvPr/>
        </p:nvSpPr>
        <p:spPr>
          <a:xfrm>
            <a:off x="2082800" y="5422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bundler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58A25DF-E82B-69E1-F2D9-F1A838677FE9}"/>
              </a:ext>
            </a:extLst>
          </p:cNvPr>
          <p:cNvSpPr/>
          <p:nvPr/>
        </p:nvSpPr>
        <p:spPr>
          <a:xfrm>
            <a:off x="381000" y="56769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B84DC0A-EA68-1B3F-D554-22267A68FBAA}"/>
              </a:ext>
            </a:extLst>
          </p:cNvPr>
          <p:cNvSpPr txBox="1"/>
          <p:nvPr/>
        </p:nvSpPr>
        <p:spPr>
          <a:xfrm>
            <a:off x="482600" y="57150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Vitest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5218876-8164-B53B-0C97-5FF048EBA216}"/>
              </a:ext>
            </a:extLst>
          </p:cNvPr>
          <p:cNvSpPr txBox="1"/>
          <p:nvPr/>
        </p:nvSpPr>
        <p:spPr>
          <a:xfrm>
            <a:off x="482600" y="58928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169 unit tests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0903576-3134-A3B4-172B-0EE1796BD2D1}"/>
              </a:ext>
            </a:extLst>
          </p:cNvPr>
          <p:cNvSpPr/>
          <p:nvPr/>
        </p:nvSpPr>
        <p:spPr>
          <a:xfrm>
            <a:off x="1981200" y="5676900"/>
            <a:ext cx="1524000" cy="406400"/>
          </a:xfrm>
          <a:prstGeom prst="roundRect">
            <a:avLst>
              <a:gd name="adj" fmla="val 21875"/>
            </a:avLst>
          </a:prstGeom>
          <a:solidFill>
            <a:srgbClr val="EEF2F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AC78604-6975-BDD7-B0E0-FC389DF17B6C}"/>
              </a:ext>
            </a:extLst>
          </p:cNvPr>
          <p:cNvSpPr txBox="1"/>
          <p:nvPr/>
        </p:nvSpPr>
        <p:spPr>
          <a:xfrm>
            <a:off x="2082800" y="5715000"/>
            <a:ext cx="1371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Playwright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9B0F8C-716C-68BF-A513-7AF67AFAD34C}"/>
              </a:ext>
            </a:extLst>
          </p:cNvPr>
          <p:cNvSpPr txBox="1"/>
          <p:nvPr/>
        </p:nvSpPr>
        <p:spPr>
          <a:xfrm>
            <a:off x="2082800" y="58928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30 end-to-end checks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F5747D7-1ED0-1845-7D5B-A76740CEF095}"/>
              </a:ext>
            </a:extLst>
          </p:cNvPr>
          <p:cNvSpPr/>
          <p:nvPr/>
        </p:nvSpPr>
        <p:spPr>
          <a:xfrm>
            <a:off x="3784600" y="3810000"/>
            <a:ext cx="3810000" cy="2438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44450">
            <a:solidFill>
              <a:srgbClr val="C9C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888CC99-1CEA-56C4-D4AF-40930EDEDBBD}"/>
              </a:ext>
            </a:extLst>
          </p:cNvPr>
          <p:cNvSpPr txBox="1"/>
          <p:nvPr/>
        </p:nvSpPr>
        <p:spPr>
          <a:xfrm>
            <a:off x="3784600" y="3886200"/>
            <a:ext cx="381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Privacy Actions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50532D2-1F98-D788-3B8D-37F4E9DECB49}"/>
              </a:ext>
            </a:extLst>
          </p:cNvPr>
          <p:cNvSpPr/>
          <p:nvPr/>
        </p:nvSpPr>
        <p:spPr>
          <a:xfrm>
            <a:off x="3937000" y="426720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Mask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32266DF-D627-7A6A-1811-FFA3496A5121}"/>
              </a:ext>
            </a:extLst>
          </p:cNvPr>
          <p:cNvSpPr txBox="1"/>
          <p:nvPr/>
        </p:nvSpPr>
        <p:spPr>
          <a:xfrm>
            <a:off x="4953000" y="4267200"/>
            <a:ext cx="2590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>
                <a:solidFill>
                  <a:srgbClr val="1A1A1A"/>
                </a:solidFill>
                <a:latin typeface="Consolas" panose="020B0609020204030204" pitchFamily="49" charset="0"/>
              </a:rPr>
              <a:t>98765 43210 → 98*** ***10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7C2FF51-4F4B-1CF0-F25A-6F1F90BBC4C9}"/>
              </a:ext>
            </a:extLst>
          </p:cNvPr>
          <p:cNvSpPr/>
          <p:nvPr/>
        </p:nvSpPr>
        <p:spPr>
          <a:xfrm>
            <a:off x="3937000" y="457200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6F4F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Tokenize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EC65B50-3083-DABA-3A09-DFD3EE904CC9}"/>
              </a:ext>
            </a:extLst>
          </p:cNvPr>
          <p:cNvSpPr txBox="1"/>
          <p:nvPr/>
        </p:nvSpPr>
        <p:spPr>
          <a:xfrm>
            <a:off x="4953000" y="4572000"/>
            <a:ext cx="2590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>
                <a:solidFill>
                  <a:srgbClr val="1A1A1A"/>
                </a:solidFill>
                <a:latin typeface="Consolas" panose="020B0609020204030204" pitchFamily="49" charset="0"/>
              </a:rPr>
              <a:t>Rahul Sharma → [PERSON_1]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C5DFFC93-9EAC-0E29-2475-37A9DBCEA2FF}"/>
              </a:ext>
            </a:extLst>
          </p:cNvPr>
          <p:cNvSpPr/>
          <p:nvPr/>
        </p:nvSpPr>
        <p:spPr>
          <a:xfrm>
            <a:off x="3937000" y="487680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Redact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807B426-09B3-247B-CC5B-07E2350CED11}"/>
              </a:ext>
            </a:extLst>
          </p:cNvPr>
          <p:cNvSpPr txBox="1"/>
          <p:nvPr/>
        </p:nvSpPr>
        <p:spPr>
          <a:xfrm>
            <a:off x="4953000" y="4876800"/>
            <a:ext cx="2590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nl-NL" sz="850">
                <a:solidFill>
                  <a:srgbClr val="1A1A1A"/>
                </a:solidFill>
                <a:latin typeface="Consolas" panose="020B0609020204030204" pitchFamily="49" charset="0"/>
              </a:rPr>
              <a:t>2345 6789 0124 → [REDACTED_AADHAAR]</a:t>
            </a:r>
            <a:endParaRPr lang="en-IN" sz="850">
              <a:solidFill>
                <a:srgbClr val="1A1A1A"/>
              </a:solidFill>
              <a:latin typeface="Consolas" panose="020B0609020204030204" pitchFamily="49" charset="0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2D912919-EBD7-1569-C248-A782C93726EF}"/>
              </a:ext>
            </a:extLst>
          </p:cNvPr>
          <p:cNvSpPr/>
          <p:nvPr/>
        </p:nvSpPr>
        <p:spPr>
          <a:xfrm>
            <a:off x="3937000" y="518160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Generalize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5475B5-442F-DD28-0A77-FFA908905C0B}"/>
              </a:ext>
            </a:extLst>
          </p:cNvPr>
          <p:cNvSpPr txBox="1"/>
          <p:nvPr/>
        </p:nvSpPr>
        <p:spPr>
          <a:xfrm>
            <a:off x="4953000" y="5181600"/>
            <a:ext cx="2590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>
                <a:solidFill>
                  <a:srgbClr val="1A1A1A"/>
                </a:solidFill>
                <a:latin typeface="Consolas" panose="020B0609020204030204" pitchFamily="49" charset="0"/>
              </a:rPr>
              <a:t>27 → 20-30  ·  Jamshedpur → Jharkhand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612D266-70E6-7E07-F374-5F04DB8FBCF2}"/>
              </a:ext>
            </a:extLst>
          </p:cNvPr>
          <p:cNvSpPr/>
          <p:nvPr/>
        </p:nvSpPr>
        <p:spPr>
          <a:xfrm>
            <a:off x="3937000" y="548640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Remove secret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5EFC90B-5381-55A6-9867-A6FFF5E6E37E}"/>
              </a:ext>
            </a:extLst>
          </p:cNvPr>
          <p:cNvSpPr txBox="1"/>
          <p:nvPr/>
        </p:nvSpPr>
        <p:spPr>
          <a:xfrm>
            <a:off x="4953000" y="5486400"/>
            <a:ext cx="2590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>
                <a:solidFill>
                  <a:srgbClr val="1A1A1A"/>
                </a:solidFill>
                <a:latin typeface="Consolas" panose="020B0609020204030204" pitchFamily="49" charset="0"/>
              </a:rPr>
              <a:t>sk-proj-Ab3d… → [SECRET_REMOVED]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29CFAC7-C594-604F-0C0C-051C84494E52}"/>
              </a:ext>
            </a:extLst>
          </p:cNvPr>
          <p:cNvSpPr/>
          <p:nvPr/>
        </p:nvSpPr>
        <p:spPr>
          <a:xfrm>
            <a:off x="3937000" y="5791200"/>
            <a:ext cx="939800" cy="2540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850" b="1">
                <a:solidFill>
                  <a:srgbClr val="FFFFFF"/>
                </a:solidFill>
                <a:latin typeface="Arial" panose="020B0604020202020204" pitchFamily="34" charset="0"/>
              </a:rPr>
              <a:t>Keep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1C0C72A-CACE-C778-E8CF-520489351561}"/>
              </a:ext>
            </a:extLst>
          </p:cNvPr>
          <p:cNvSpPr txBox="1"/>
          <p:nvPr/>
        </p:nvSpPr>
        <p:spPr>
          <a:xfrm>
            <a:off x="4953000" y="5791200"/>
            <a:ext cx="25908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50">
                <a:solidFill>
                  <a:srgbClr val="1A1A1A"/>
                </a:solidFill>
                <a:latin typeface="Consolas" panose="020B0609020204030204" pitchFamily="49" charset="0"/>
              </a:rPr>
              <a:t>Type 2 diabetes (needed for the task)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B3114EA-398A-8891-7983-FD5FA71CD6C4}"/>
              </a:ext>
            </a:extLst>
          </p:cNvPr>
          <p:cNvSpPr txBox="1"/>
          <p:nvPr/>
        </p:nvSpPr>
        <p:spPr>
          <a:xfrm>
            <a:off x="3937000" y="6045200"/>
            <a:ext cx="36068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 i="1">
                <a:solidFill>
                  <a:srgbClr val="55606E"/>
                </a:solidFill>
                <a:latin typeface="Arial" panose="020B0604020202020204" pitchFamily="34" charset="0"/>
              </a:rPr>
              <a:t>Secrets are removed in every profile and cannot be overridden.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26D1D5CE-F809-89A6-7F0A-3B90B3C1B8C3}"/>
              </a:ext>
            </a:extLst>
          </p:cNvPr>
          <p:cNvSpPr/>
          <p:nvPr/>
        </p:nvSpPr>
        <p:spPr>
          <a:xfrm>
            <a:off x="7721600" y="3810000"/>
            <a:ext cx="4241800" cy="2438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44450">
            <a:solidFill>
              <a:srgbClr val="C9C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C57271D-8563-5A25-95CC-929AA086EFA8}"/>
              </a:ext>
            </a:extLst>
          </p:cNvPr>
          <p:cNvSpPr txBox="1"/>
          <p:nvPr/>
        </p:nvSpPr>
        <p:spPr>
          <a:xfrm>
            <a:off x="7721600" y="3886200"/>
            <a:ext cx="4241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Working Prototype</a:t>
            </a:r>
          </a:p>
        </p:txBody>
      </p:sp>
      <p:pic>
        <p:nvPicPr>
          <p:cNvPr id="128" name="Picture 127" descr="Screenshot of the P2Shield playground: a developer prompt with API keys and a password scores risk 100 (Critical) before and 4 (Low) after; the safe version shows SECRET_REMOVED placeholders.">
            <a:extLst>
              <a:ext uri="{FF2B5EF4-FFF2-40B4-BE49-F238E27FC236}">
                <a16:creationId xmlns:a16="http://schemas.microsoft.com/office/drawing/2014/main" id="{54B317FD-F7DA-26AC-FDAB-B7480711F327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7874000" y="4241800"/>
            <a:ext cx="2489200" cy="190500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CCC37DF9-E443-AF03-B29A-DC5D1228F4E8}"/>
              </a:ext>
            </a:extLst>
          </p:cNvPr>
          <p:cNvSpPr txBox="1"/>
          <p:nvPr/>
        </p:nvSpPr>
        <p:spPr>
          <a:xfrm>
            <a:off x="10464800" y="4292600"/>
            <a:ext cx="1422400" cy="187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39700" indent="-1397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900" b="1">
                <a:solidFill>
                  <a:srgbClr val="1A1A1A"/>
                </a:solidFill>
                <a:latin typeface="Arial" panose="020B0604020202020204" pitchFamily="34" charset="0"/>
              </a:rPr>
              <a:t>Shield</a:t>
            </a:r>
            <a:r>
              <a:rPr lang="en-IN" sz="900">
                <a:solidFill>
                  <a:srgbClr val="1A1A1A"/>
                </a:solidFill>
                <a:latin typeface="Arial" panose="020B0604020202020204" pitchFamily="34" charset="0"/>
              </a:rPr>
              <a:t> on every chat box</a:t>
            </a:r>
          </a:p>
          <a:p>
            <a:pPr marL="139700" indent="-1397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900" b="1">
                <a:solidFill>
                  <a:srgbClr val="1A1A1A"/>
                </a:solidFill>
                <a:latin typeface="Arial" panose="020B0604020202020204" pitchFamily="34" charset="0"/>
              </a:rPr>
              <a:t>Alt+Shift+S</a:t>
            </a:r>
            <a:r>
              <a:rPr lang="en-IN" sz="900">
                <a:solidFill>
                  <a:srgbClr val="1A1A1A"/>
                </a:solidFill>
                <a:latin typeface="Arial" panose="020B0604020202020204" pitchFamily="34" charset="0"/>
              </a:rPr>
              <a:t> and right-click</a:t>
            </a:r>
          </a:p>
          <a:p>
            <a:pPr marL="139700" indent="-1397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900" b="1">
                <a:solidFill>
                  <a:srgbClr val="1A1A1A"/>
                </a:solidFill>
                <a:latin typeface="Arial" panose="020B0604020202020204" pitchFamily="34" charset="0"/>
              </a:rPr>
              <a:t>Undo</a:t>
            </a:r>
            <a:r>
              <a:rPr lang="en-IN" sz="900">
                <a:solidFill>
                  <a:srgbClr val="1A1A1A"/>
                </a:solidFill>
                <a:latin typeface="Arial" panose="020B0604020202020204" pitchFamily="34" charset="0"/>
              </a:rPr>
              <a:t> + per-item review</a:t>
            </a:r>
          </a:p>
          <a:p>
            <a:pPr marL="139700" indent="-1397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900" b="1">
                <a:solidFill>
                  <a:srgbClr val="1A1A1A"/>
                </a:solidFill>
                <a:latin typeface="Arial" panose="020B0604020202020204" pitchFamily="34" charset="0"/>
              </a:rPr>
              <a:t>Playground</a:t>
            </a:r>
            <a:r>
              <a:rPr lang="en-IN" sz="900">
                <a:solidFill>
                  <a:srgbClr val="1A1A1A"/>
                </a:solidFill>
                <a:latin typeface="Arial" panose="020B0604020202020204" pitchFamily="34" charset="0"/>
              </a:rPr>
              <a:t> for .txt .csv .json .log</a:t>
            </a:r>
          </a:p>
          <a:p>
            <a:pPr marL="139700" indent="-1397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900" b="1">
                <a:solidFill>
                  <a:srgbClr val="1A1A1A"/>
                </a:solidFill>
                <a:latin typeface="Arial" panose="020B0604020202020204" pitchFamily="34" charset="0"/>
              </a:rPr>
              <a:t>Org policy</a:t>
            </a:r>
            <a:r>
              <a:rPr lang="en-IN" sz="900">
                <a:solidFill>
                  <a:srgbClr val="1A1A1A"/>
                </a:solidFill>
                <a:latin typeface="Arial" panose="020B0604020202020204" pitchFamily="34" charset="0"/>
              </a:rPr>
              <a:t> via managed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1905000" y="508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US" sz="3400" b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6" name="Google Shape;12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rtl="0">
              <a:buClr>
                <a:srgbClr val="FFFFFF"/>
              </a:buClr>
              <a:buSzPts val="1200"/>
            </a:pPr>
            <a:r>
              <a:rPr lang="en-IN" sz="1100" u="none" strike="noStrike" cap="none">
                <a:solidFill>
                  <a:srgbClr val="FFFFFF"/>
                </a:solidFill>
                <a:latin typeface="Oswald" panose="00000500000000000000" pitchFamily="2" charset="0"/>
                <a:ea typeface="Oswald"/>
                <a:cs typeface="Oswald"/>
                <a:sym typeface="Oswald"/>
              </a:rPr>
              <a:t>@BITSHIFT Idea submission  ·  TechKnights  ·  P2Shield</a:t>
            </a:r>
            <a:endParaRPr sz="1100" u="none" strike="noStrike" cap="none">
              <a:solidFill>
                <a:srgbClr val="FFFFFF"/>
              </a:solidFill>
              <a:latin typeface="Oswald" panose="00000500000000000000" pitchFamily="2" charset="0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 descr="Your startup LOGO"/>
          <p:cNvSpPr/>
          <p:nvPr/>
        </p:nvSpPr>
        <p:spPr>
          <a:xfrm>
            <a:off x="253999" y="228600"/>
            <a:ext cx="1422400" cy="584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/>
            <a:r>
              <a:rPr lang="en-US" sz="1500" b="1">
                <a:solidFill>
                  <a:srgbClr val="4B2E83"/>
                </a:solidFill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TechKnights</a:t>
            </a:r>
            <a:endParaRPr sz="1500" b="1">
              <a:solidFill>
                <a:srgbClr val="4B2E83"/>
              </a:solidFill>
              <a:latin typeface="Calibri" panose="020F050202020403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10490200" y="76200"/>
            <a:ext cx="1498600" cy="10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5C45F0-1167-08EB-8C08-9A13D75E31E8}"/>
              </a:ext>
            </a:extLst>
          </p:cNvPr>
          <p:cNvSpPr txBox="1"/>
          <p:nvPr/>
        </p:nvSpPr>
        <p:spPr>
          <a:xfrm>
            <a:off x="1905000" y="685800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b="1">
                <a:solidFill>
                  <a:srgbClr val="1F497D"/>
                </a:solidFill>
                <a:latin typeface="Arial" panose="020B0604020202020204" pitchFamily="34" charset="0"/>
              </a:rPr>
              <a:t>Already built, tested and fast. No servers to run.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742919-BC51-BCE6-D334-4B2B783A7C85}"/>
              </a:ext>
            </a:extLst>
          </p:cNvPr>
          <p:cNvSpPr/>
          <p:nvPr/>
        </p:nvSpPr>
        <p:spPr>
          <a:xfrm>
            <a:off x="228600" y="1219200"/>
            <a:ext cx="7569200" cy="2895600"/>
          </a:xfrm>
          <a:prstGeom prst="roundRect">
            <a:avLst>
              <a:gd name="adj" fmla="val 7018"/>
            </a:avLst>
          </a:prstGeom>
          <a:gradFill flip="none" rotWithShape="1">
            <a:gsLst>
              <a:gs pos="0">
                <a:srgbClr val="DCEAFB"/>
              </a:gs>
              <a:gs pos="100000">
                <a:srgbClr val="EEF4FC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E816F-2885-276C-17C6-E67A674B6A99}"/>
              </a:ext>
            </a:extLst>
          </p:cNvPr>
          <p:cNvSpPr txBox="1"/>
          <p:nvPr/>
        </p:nvSpPr>
        <p:spPr>
          <a:xfrm>
            <a:off x="406400" y="1282700"/>
            <a:ext cx="508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700" b="1">
                <a:latin typeface="Arial" panose="020B0604020202020204" pitchFamily="34" charset="0"/>
              </a:rPr>
              <a:t>Risks &amp; Mitigation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2BEC99-730D-9DC9-EDD0-76A220D6719B}"/>
              </a:ext>
            </a:extLst>
          </p:cNvPr>
          <p:cNvSpPr/>
          <p:nvPr/>
        </p:nvSpPr>
        <p:spPr>
          <a:xfrm>
            <a:off x="406400" y="1676400"/>
            <a:ext cx="2717800" cy="533400"/>
          </a:xfrm>
          <a:prstGeom prst="roundRect">
            <a:avLst>
              <a:gd name="adj" fmla="val 19048"/>
            </a:avLst>
          </a:prstGeom>
          <a:solidFill>
            <a:srgbClr val="2E75B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app-window icon">
            <a:extLst>
              <a:ext uri="{FF2B5EF4-FFF2-40B4-BE49-F238E27FC236}">
                <a16:creationId xmlns:a16="http://schemas.microsoft.com/office/drawing/2014/main" id="{3BCA78D1-6AB4-9812-CD34-EF1391D69B6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" y="1816100"/>
            <a:ext cx="254000" cy="25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A6B893-3F80-5C9C-DACF-E80830548189}"/>
              </a:ext>
            </a:extLst>
          </p:cNvPr>
          <p:cNvSpPr txBox="1"/>
          <p:nvPr/>
        </p:nvSpPr>
        <p:spPr>
          <a:xfrm>
            <a:off x="863600" y="1676400"/>
            <a:ext cx="2184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Chat sites keep changing their editors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B58907E-45D5-BF2B-AADF-F60E7C403A56}"/>
              </a:ext>
            </a:extLst>
          </p:cNvPr>
          <p:cNvSpPr/>
          <p:nvPr/>
        </p:nvSpPr>
        <p:spPr>
          <a:xfrm>
            <a:off x="3200400" y="1841500"/>
            <a:ext cx="304800" cy="203200"/>
          </a:xfrm>
          <a:prstGeom prst="rightArrow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C1BD5A-C59E-E4F5-39FB-7C5E18F312C7}"/>
              </a:ext>
            </a:extLst>
          </p:cNvPr>
          <p:cNvSpPr/>
          <p:nvPr/>
        </p:nvSpPr>
        <p:spPr>
          <a:xfrm>
            <a:off x="3581400" y="1676400"/>
            <a:ext cx="4064000" cy="533400"/>
          </a:xfrm>
          <a:prstGeom prst="roundRect">
            <a:avLst>
              <a:gd name="adj" fmla="val 19048"/>
            </a:avLst>
          </a:prstGeom>
          <a:solidFill>
            <a:srgbClr val="E2F4E8"/>
          </a:solidFill>
          <a:ln w="9525">
            <a:solidFill>
              <a:srgbClr val="B9E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EFC362-B6B4-C0CC-6854-8793693263E8}"/>
              </a:ext>
            </a:extLst>
          </p:cNvPr>
          <p:cNvSpPr txBox="1"/>
          <p:nvPr/>
        </p:nvSpPr>
        <p:spPr>
          <a:xfrm>
            <a:off x="3708400" y="1676400"/>
            <a:ext cx="3860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950">
                <a:solidFill>
                  <a:srgbClr val="1A1A1A"/>
                </a:solidFill>
                <a:latin typeface="Arial" panose="020B0604020202020204" pitchFamily="34" charset="0"/>
              </a:rPr>
              <a:t>Simulated paste + read-back check; clipboard fallback; shortcut and right-click always work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085F5A-3231-81BC-0C29-D896DEA154EA}"/>
              </a:ext>
            </a:extLst>
          </p:cNvPr>
          <p:cNvSpPr/>
          <p:nvPr/>
        </p:nvSpPr>
        <p:spPr>
          <a:xfrm>
            <a:off x="406400" y="2273300"/>
            <a:ext cx="2717800" cy="533400"/>
          </a:xfrm>
          <a:prstGeom prst="roundRect">
            <a:avLst>
              <a:gd name="adj" fmla="val 19048"/>
            </a:avLst>
          </a:prstGeom>
          <a:solidFill>
            <a:srgbClr val="2E75B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Graphic 13" descr="triangle-alert icon">
            <a:extLst>
              <a:ext uri="{FF2B5EF4-FFF2-40B4-BE49-F238E27FC236}">
                <a16:creationId xmlns:a16="http://schemas.microsoft.com/office/drawing/2014/main" id="{74EFCF8D-4357-CB1A-B030-51A4FD6D3A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2413000"/>
            <a:ext cx="254000" cy="25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4A120B-FD73-DC82-C369-1AE2EED360F8}"/>
              </a:ext>
            </a:extLst>
          </p:cNvPr>
          <p:cNvSpPr txBox="1"/>
          <p:nvPr/>
        </p:nvSpPr>
        <p:spPr>
          <a:xfrm>
            <a:off x="863600" y="2273300"/>
            <a:ext cx="2184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False positives could break normal prompts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606831-B231-0903-482C-3BAA1EFB9773}"/>
              </a:ext>
            </a:extLst>
          </p:cNvPr>
          <p:cNvSpPr/>
          <p:nvPr/>
        </p:nvSpPr>
        <p:spPr>
          <a:xfrm>
            <a:off x="3200400" y="2438400"/>
            <a:ext cx="304800" cy="203200"/>
          </a:xfrm>
          <a:prstGeom prst="rightArrow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FF0CA6-4EBD-3553-C872-CABCAFE7A149}"/>
              </a:ext>
            </a:extLst>
          </p:cNvPr>
          <p:cNvSpPr/>
          <p:nvPr/>
        </p:nvSpPr>
        <p:spPr>
          <a:xfrm>
            <a:off x="3581400" y="2273300"/>
            <a:ext cx="4064000" cy="533400"/>
          </a:xfrm>
          <a:prstGeom prst="roundRect">
            <a:avLst>
              <a:gd name="adj" fmla="val 19048"/>
            </a:avLst>
          </a:prstGeom>
          <a:solidFill>
            <a:srgbClr val="E2F4E8"/>
          </a:solidFill>
          <a:ln w="9525">
            <a:solidFill>
              <a:srgbClr val="B9E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45BF69-A82B-605E-F5CF-CD4895BA10BD}"/>
              </a:ext>
            </a:extLst>
          </p:cNvPr>
          <p:cNvSpPr txBox="1"/>
          <p:nvPr/>
        </p:nvSpPr>
        <p:spPr>
          <a:xfrm>
            <a:off x="3708400" y="2273300"/>
            <a:ext cx="3860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950">
                <a:solidFill>
                  <a:srgbClr val="1A1A1A"/>
                </a:solidFill>
                <a:latin typeface="Arial" panose="020B0604020202020204" pitchFamily="34" charset="0"/>
              </a:rPr>
              <a:t>Checksums + field-name context; clean prompts are tested to stay unchanged; per-item Undo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6B7188-20D5-4386-64D7-906A89935196}"/>
              </a:ext>
            </a:extLst>
          </p:cNvPr>
          <p:cNvSpPr/>
          <p:nvPr/>
        </p:nvSpPr>
        <p:spPr>
          <a:xfrm>
            <a:off x="406400" y="2870200"/>
            <a:ext cx="2717800" cy="533400"/>
          </a:xfrm>
          <a:prstGeom prst="roundRect">
            <a:avLst>
              <a:gd name="adj" fmla="val 19048"/>
            </a:avLst>
          </a:prstGeom>
          <a:solidFill>
            <a:srgbClr val="2E75B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Graphic 20" descr="bot icon">
            <a:extLst>
              <a:ext uri="{FF2B5EF4-FFF2-40B4-BE49-F238E27FC236}">
                <a16:creationId xmlns:a16="http://schemas.microsoft.com/office/drawing/2014/main" id="{D6891C7A-BBE8-C7AF-622E-E961C80C3FF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" y="3009900"/>
            <a:ext cx="254000" cy="254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F83237-C88D-17D6-3A66-47C24490F2A7}"/>
              </a:ext>
            </a:extLst>
          </p:cNvPr>
          <p:cNvSpPr txBox="1"/>
          <p:nvPr/>
        </p:nvSpPr>
        <p:spPr>
          <a:xfrm>
            <a:off x="863600" y="2870200"/>
            <a:ext cx="2184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AI model may hallucinate or be prompt-injected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0891D97-5C61-ABE4-718F-F17E3CD404B7}"/>
              </a:ext>
            </a:extLst>
          </p:cNvPr>
          <p:cNvSpPr/>
          <p:nvPr/>
        </p:nvSpPr>
        <p:spPr>
          <a:xfrm>
            <a:off x="3200400" y="3035300"/>
            <a:ext cx="304800" cy="203200"/>
          </a:xfrm>
          <a:prstGeom prst="rightArrow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D3CBD4-D18B-0869-0EB5-0A253F092E8A}"/>
              </a:ext>
            </a:extLst>
          </p:cNvPr>
          <p:cNvSpPr/>
          <p:nvPr/>
        </p:nvSpPr>
        <p:spPr>
          <a:xfrm>
            <a:off x="3581400" y="2870200"/>
            <a:ext cx="4064000" cy="533400"/>
          </a:xfrm>
          <a:prstGeom prst="roundRect">
            <a:avLst>
              <a:gd name="adj" fmla="val 19048"/>
            </a:avLst>
          </a:prstGeom>
          <a:solidFill>
            <a:srgbClr val="E2F4E8"/>
          </a:solidFill>
          <a:ln w="9525">
            <a:solidFill>
              <a:srgbClr val="B9E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FF7F1A-BA1B-9B46-A79B-A86A4946EBDB}"/>
              </a:ext>
            </a:extLst>
          </p:cNvPr>
          <p:cNvSpPr txBox="1"/>
          <p:nvPr/>
        </p:nvSpPr>
        <p:spPr>
          <a:xfrm>
            <a:off x="3708400" y="2870200"/>
            <a:ext cx="3860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950">
                <a:solidFill>
                  <a:srgbClr val="1A1A1A"/>
                </a:solidFill>
                <a:latin typeface="Arial" panose="020B0604020202020204" pitchFamily="34" charset="0"/>
              </a:rPr>
              <a:t>Model only labels; every label must appear verbatim; policy decides; secrets are never "needed"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F320AC-BDE1-175A-9657-0E0F38238EDB}"/>
              </a:ext>
            </a:extLst>
          </p:cNvPr>
          <p:cNvSpPr/>
          <p:nvPr/>
        </p:nvSpPr>
        <p:spPr>
          <a:xfrm>
            <a:off x="406400" y="3467100"/>
            <a:ext cx="2717800" cy="533400"/>
          </a:xfrm>
          <a:prstGeom prst="roundRect">
            <a:avLst>
              <a:gd name="adj" fmla="val 19048"/>
            </a:avLst>
          </a:prstGeom>
          <a:solidFill>
            <a:srgbClr val="2E75B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Graphic 27" descr="cpu icon">
            <a:extLst>
              <a:ext uri="{FF2B5EF4-FFF2-40B4-BE49-F238E27FC236}">
                <a16:creationId xmlns:a16="http://schemas.microsoft.com/office/drawing/2014/main" id="{22ECA510-1E9C-0656-58BA-516F48C17F9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" y="3606800"/>
            <a:ext cx="254000" cy="254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E6C2BBA-BF8A-9E47-13DD-95A3AA179126}"/>
              </a:ext>
            </a:extLst>
          </p:cNvPr>
          <p:cNvSpPr txBox="1"/>
          <p:nvPr/>
        </p:nvSpPr>
        <p:spPr>
          <a:xfrm>
            <a:off x="863600" y="3467100"/>
            <a:ext cx="2184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1000" b="1">
                <a:solidFill>
                  <a:srgbClr val="FFFFFF"/>
                </a:solidFill>
                <a:latin typeface="Arial" panose="020B0604020202020204" pitchFamily="34" charset="0"/>
              </a:rPr>
              <a:t>Devices without on-device AI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4AF2696-A0A5-7690-5E91-BFD63692F99C}"/>
              </a:ext>
            </a:extLst>
          </p:cNvPr>
          <p:cNvSpPr/>
          <p:nvPr/>
        </p:nvSpPr>
        <p:spPr>
          <a:xfrm>
            <a:off x="3200400" y="3632200"/>
            <a:ext cx="304800" cy="203200"/>
          </a:xfrm>
          <a:prstGeom prst="rightArrow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1730093-356C-0874-F458-7BF19473B05F}"/>
              </a:ext>
            </a:extLst>
          </p:cNvPr>
          <p:cNvSpPr/>
          <p:nvPr/>
        </p:nvSpPr>
        <p:spPr>
          <a:xfrm>
            <a:off x="3581400" y="3467100"/>
            <a:ext cx="4064000" cy="533400"/>
          </a:xfrm>
          <a:prstGeom prst="roundRect">
            <a:avLst>
              <a:gd name="adj" fmla="val 19048"/>
            </a:avLst>
          </a:prstGeom>
          <a:solidFill>
            <a:srgbClr val="E2F4E8"/>
          </a:solidFill>
          <a:ln w="9525">
            <a:solidFill>
              <a:srgbClr val="B9E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E27E3F-3790-97C7-497D-D0EF9544D75B}"/>
              </a:ext>
            </a:extLst>
          </p:cNvPr>
          <p:cNvSpPr txBox="1"/>
          <p:nvPr/>
        </p:nvSpPr>
        <p:spPr>
          <a:xfrm>
            <a:off x="3708400" y="3467100"/>
            <a:ext cx="3860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8000"/>
              </a:lnSpc>
            </a:pPr>
            <a:r>
              <a:rPr lang="en-IN" sz="950">
                <a:solidFill>
                  <a:srgbClr val="1A1A1A"/>
                </a:solidFill>
                <a:latin typeface="Arial" panose="020B0604020202020204" pitchFamily="34" charset="0"/>
              </a:rPr>
              <a:t>Basic mode works in every Chromium browser; Smart mode is optional and falls back after 0.7 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21EC0A-3134-151E-4988-CF6C3A159C52}"/>
              </a:ext>
            </a:extLst>
          </p:cNvPr>
          <p:cNvSpPr/>
          <p:nvPr/>
        </p:nvSpPr>
        <p:spPr>
          <a:xfrm>
            <a:off x="7924800" y="1219200"/>
            <a:ext cx="4038600" cy="2895600"/>
          </a:xfrm>
          <a:prstGeom prst="roundRect">
            <a:avLst>
              <a:gd name="adj" fmla="val 7895"/>
            </a:avLst>
          </a:prstGeom>
          <a:gradFill flip="none" rotWithShape="1">
            <a:gsLst>
              <a:gs pos="0">
                <a:srgbClr val="E1D9F4"/>
              </a:gs>
              <a:gs pos="100000">
                <a:srgbClr val="EFEAF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BD0AF9-0EA1-CE9B-71C2-292AEBC617DA}"/>
              </a:ext>
            </a:extLst>
          </p:cNvPr>
          <p:cNvSpPr txBox="1"/>
          <p:nvPr/>
        </p:nvSpPr>
        <p:spPr>
          <a:xfrm>
            <a:off x="7924800" y="1282700"/>
            <a:ext cx="40386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700" b="1">
                <a:latin typeface="Arial" panose="020B0604020202020204" pitchFamily="34" charset="0"/>
              </a:rPr>
              <a:t>Technical Feasibility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247E91-2DAA-5FFE-6919-7C01780D27B1}"/>
              </a:ext>
            </a:extLst>
          </p:cNvPr>
          <p:cNvSpPr txBox="1"/>
          <p:nvPr/>
        </p:nvSpPr>
        <p:spPr>
          <a:xfrm>
            <a:off x="8128000" y="1676400"/>
            <a:ext cx="3683000" cy="172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Working </a:t>
            </a:r>
            <a:r>
              <a:rPr lang="en-IN" sz="1050" b="1">
                <a:solidFill>
                  <a:srgbClr val="1A1A1A"/>
                </a:solidFill>
                <a:latin typeface="Arial" panose="020B0604020202020204" pitchFamily="34" charset="0"/>
              </a:rPr>
              <a:t>Chrome extension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, demo chat page and playground</a:t>
            </a:r>
          </a:p>
          <a:p>
            <a:pPr marL="177800" indent="-1778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1050" b="1">
                <a:solidFill>
                  <a:srgbClr val="1A1A1A"/>
                </a:solidFill>
                <a:latin typeface="Arial" panose="020B0604020202020204" pitchFamily="34" charset="0"/>
              </a:rPr>
              <a:t>169 unit tests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 + </a:t>
            </a:r>
            <a:r>
              <a:rPr lang="en-IN" sz="1050" b="1">
                <a:solidFill>
                  <a:srgbClr val="1A1A1A"/>
                </a:solidFill>
                <a:latin typeface="Arial" panose="020B0604020202020204" pitchFamily="34" charset="0"/>
              </a:rPr>
              <a:t>30 end-to-end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 checks, all passing</a:t>
            </a:r>
          </a:p>
          <a:p>
            <a:pPr marL="177800" indent="-1778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Works on </a:t>
            </a:r>
            <a:r>
              <a:rPr lang="en-IN" sz="1050" b="1">
                <a:solidFill>
                  <a:srgbClr val="1A1A1A"/>
                </a:solidFill>
                <a:latin typeface="Arial" panose="020B0604020202020204" pitchFamily="34" charset="0"/>
              </a:rPr>
              <a:t>ChatGPT, Claude, Gemini, Copilot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 and more</a:t>
            </a:r>
          </a:p>
          <a:p>
            <a:pPr marL="177800" indent="-1778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1050" b="1">
                <a:solidFill>
                  <a:srgbClr val="1A1A1A"/>
                </a:solidFill>
                <a:latin typeface="Arial" panose="020B0604020202020204" pitchFamily="34" charset="0"/>
              </a:rPr>
              <a:t>No backend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: nothing to host, scale or breach</a:t>
            </a:r>
          </a:p>
          <a:p>
            <a:pPr marL="177800" indent="-177800">
              <a:spcAft>
                <a:spcPts val="600"/>
              </a:spcAft>
              <a:buClr>
                <a:srgbClr val="2E9E5B"/>
              </a:buClr>
              <a:buSzPct val="100000"/>
              <a:buFont typeface="Segoe UI Symbol" panose="020B0502040204020203" pitchFamily="34" charset="0"/>
              <a:buChar char="✓"/>
            </a:pPr>
            <a:r>
              <a:rPr lang="en-IN" sz="1050" b="1">
                <a:solidFill>
                  <a:srgbClr val="1A1A1A"/>
                </a:solidFill>
                <a:latin typeface="Arial" panose="020B0604020202020204" pitchFamily="34" charset="0"/>
              </a:rPr>
              <a:t>Org-wide policy</a:t>
            </a: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 via Chrome managed storage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3D71E18-DB9C-162F-BAD2-D574CC3F181C}"/>
              </a:ext>
            </a:extLst>
          </p:cNvPr>
          <p:cNvSpPr/>
          <p:nvPr/>
        </p:nvSpPr>
        <p:spPr>
          <a:xfrm>
            <a:off x="8077200" y="3454400"/>
            <a:ext cx="889000" cy="53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3E6AFA-FABA-9E36-826C-D93F250622C3}"/>
              </a:ext>
            </a:extLst>
          </p:cNvPr>
          <p:cNvSpPr txBox="1"/>
          <p:nvPr/>
        </p:nvSpPr>
        <p:spPr>
          <a:xfrm>
            <a:off x="8077200" y="3479800"/>
            <a:ext cx="88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006D5D-3903-A806-B950-2C55BCFC4448}"/>
              </a:ext>
            </a:extLst>
          </p:cNvPr>
          <p:cNvSpPr txBox="1"/>
          <p:nvPr/>
        </p:nvSpPr>
        <p:spPr>
          <a:xfrm>
            <a:off x="8077200" y="3746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50">
                <a:solidFill>
                  <a:srgbClr val="55606E"/>
                </a:solidFill>
                <a:latin typeface="Arial" panose="020B0604020202020204" pitchFamily="34" charset="0"/>
              </a:rPr>
              <a:t>data types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1DAD8EF-8994-1D56-7AEF-3DC2FA84A429}"/>
              </a:ext>
            </a:extLst>
          </p:cNvPr>
          <p:cNvSpPr/>
          <p:nvPr/>
        </p:nvSpPr>
        <p:spPr>
          <a:xfrm>
            <a:off x="9017000" y="3454400"/>
            <a:ext cx="889000" cy="53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ABB0C2-14F6-C27C-094F-20D370378DF6}"/>
              </a:ext>
            </a:extLst>
          </p:cNvPr>
          <p:cNvSpPr txBox="1"/>
          <p:nvPr/>
        </p:nvSpPr>
        <p:spPr>
          <a:xfrm>
            <a:off x="9017000" y="3479800"/>
            <a:ext cx="88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E2103D-F586-6C83-407F-BE0F17F398C8}"/>
              </a:ext>
            </a:extLst>
          </p:cNvPr>
          <p:cNvSpPr txBox="1"/>
          <p:nvPr/>
        </p:nvSpPr>
        <p:spPr>
          <a:xfrm>
            <a:off x="9017000" y="3746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50">
                <a:solidFill>
                  <a:srgbClr val="55606E"/>
                </a:solidFill>
                <a:latin typeface="Arial" panose="020B0604020202020204" pitchFamily="34" charset="0"/>
              </a:rPr>
              <a:t>actions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ABB0D04-1369-5D92-FDA4-05A41C4525BC}"/>
              </a:ext>
            </a:extLst>
          </p:cNvPr>
          <p:cNvSpPr/>
          <p:nvPr/>
        </p:nvSpPr>
        <p:spPr>
          <a:xfrm>
            <a:off x="9956800" y="3454400"/>
            <a:ext cx="889000" cy="53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D400AF-A30A-1BEC-92EA-B80F04B1A65E}"/>
              </a:ext>
            </a:extLst>
          </p:cNvPr>
          <p:cNvSpPr txBox="1"/>
          <p:nvPr/>
        </p:nvSpPr>
        <p:spPr>
          <a:xfrm>
            <a:off x="9956800" y="3479800"/>
            <a:ext cx="88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4ED8AF-CD81-1E58-B661-CA85A304B2A5}"/>
              </a:ext>
            </a:extLst>
          </p:cNvPr>
          <p:cNvSpPr txBox="1"/>
          <p:nvPr/>
        </p:nvSpPr>
        <p:spPr>
          <a:xfrm>
            <a:off x="9956800" y="3746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50">
                <a:solidFill>
                  <a:srgbClr val="55606E"/>
                </a:solidFill>
                <a:latin typeface="Arial" panose="020B0604020202020204" pitchFamily="34" charset="0"/>
              </a:rPr>
              <a:t>profiles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F17D14A-512C-6F4D-7960-CE068D45699B}"/>
              </a:ext>
            </a:extLst>
          </p:cNvPr>
          <p:cNvSpPr/>
          <p:nvPr/>
        </p:nvSpPr>
        <p:spPr>
          <a:xfrm>
            <a:off x="10896600" y="3454400"/>
            <a:ext cx="889000" cy="53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06CEAC-4E39-4BDA-8F1F-62F5D4483010}"/>
              </a:ext>
            </a:extLst>
          </p:cNvPr>
          <p:cNvSpPr txBox="1"/>
          <p:nvPr/>
        </p:nvSpPr>
        <p:spPr>
          <a:xfrm>
            <a:off x="10896600" y="3479800"/>
            <a:ext cx="889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1600" b="1">
                <a:solidFill>
                  <a:srgbClr val="6F4FB0"/>
                </a:solidFill>
                <a:latin typeface="Arial" panose="020B0604020202020204" pitchFamily="34" charset="0"/>
              </a:rPr>
              <a:t>40+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26B8C7-B87A-05EA-CF93-538FCAD36053}"/>
              </a:ext>
            </a:extLst>
          </p:cNvPr>
          <p:cNvSpPr txBox="1"/>
          <p:nvPr/>
        </p:nvSpPr>
        <p:spPr>
          <a:xfrm>
            <a:off x="10896600" y="3746500"/>
            <a:ext cx="889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50">
                <a:solidFill>
                  <a:srgbClr val="55606E"/>
                </a:solidFill>
                <a:latin typeface="Arial" panose="020B0604020202020204" pitchFamily="34" charset="0"/>
              </a:rPr>
              <a:t>secret formats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E3A8CAE-F2A0-1FF0-4F1D-80C20F1CDBB3}"/>
              </a:ext>
            </a:extLst>
          </p:cNvPr>
          <p:cNvSpPr/>
          <p:nvPr/>
        </p:nvSpPr>
        <p:spPr>
          <a:xfrm>
            <a:off x="228600" y="4241800"/>
            <a:ext cx="4470400" cy="200660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C26588-A607-BCAE-DFD6-C52EDAD1DC52}"/>
              </a:ext>
            </a:extLst>
          </p:cNvPr>
          <p:cNvSpPr txBox="1"/>
          <p:nvPr/>
        </p:nvSpPr>
        <p:spPr>
          <a:xfrm>
            <a:off x="381000" y="4318000"/>
            <a:ext cx="304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150" b="1">
                <a:solidFill>
                  <a:srgbClr val="1F497D"/>
                </a:solidFill>
                <a:latin typeface="Arial" panose="020B0604020202020204" pitchFamily="34" charset="0"/>
              </a:rPr>
              <a:t>Risk score: before vs after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3D946B-76E9-117A-9116-AE2111A9BFAB}"/>
              </a:ext>
            </a:extLst>
          </p:cNvPr>
          <p:cNvSpPr txBox="1"/>
          <p:nvPr/>
        </p:nvSpPr>
        <p:spPr>
          <a:xfrm>
            <a:off x="381000" y="450850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real engine output on sample prompts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BB423A-DF4E-ADB3-2920-EA2CCED6D664}"/>
              </a:ext>
            </a:extLst>
          </p:cNvPr>
          <p:cNvSpPr/>
          <p:nvPr/>
        </p:nvSpPr>
        <p:spPr>
          <a:xfrm>
            <a:off x="3403600" y="4368800"/>
            <a:ext cx="101600" cy="101600"/>
          </a:xfrm>
          <a:prstGeom prst="rect">
            <a:avLst/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3580B7-9ECF-6026-7FE7-FB2F62DDE6F2}"/>
              </a:ext>
            </a:extLst>
          </p:cNvPr>
          <p:cNvSpPr txBox="1"/>
          <p:nvPr/>
        </p:nvSpPr>
        <p:spPr>
          <a:xfrm>
            <a:off x="3543300" y="43307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Before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B11C82-AA85-2B9E-5846-CC70BF505A96}"/>
              </a:ext>
            </a:extLst>
          </p:cNvPr>
          <p:cNvSpPr/>
          <p:nvPr/>
        </p:nvSpPr>
        <p:spPr>
          <a:xfrm>
            <a:off x="3987800" y="4368800"/>
            <a:ext cx="101600" cy="101600"/>
          </a:xfrm>
          <a:prstGeom prst="rect">
            <a:avLst/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D6517-D8EB-83F5-045B-9EDDE7EBD347}"/>
              </a:ext>
            </a:extLst>
          </p:cNvPr>
          <p:cNvSpPr txBox="1"/>
          <p:nvPr/>
        </p:nvSpPr>
        <p:spPr>
          <a:xfrm>
            <a:off x="4127500" y="4330700"/>
            <a:ext cx="50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After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3D283D-49C1-4B79-20BB-5CF854B97F7A}"/>
              </a:ext>
            </a:extLst>
          </p:cNvPr>
          <p:cNvCxnSpPr/>
          <p:nvPr/>
        </p:nvCxnSpPr>
        <p:spPr>
          <a:xfrm>
            <a:off x="381000" y="5918200"/>
            <a:ext cx="4191000" cy="0"/>
          </a:xfrm>
          <a:prstGeom prst="straightConnector1">
            <a:avLst/>
          </a:prstGeom>
          <a:ln w="9525">
            <a:solidFill>
              <a:srgbClr val="B8C2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B97C8D2-ECBC-AE7A-8CEB-935C7EFD752F}"/>
              </a:ext>
            </a:extLst>
          </p:cNvPr>
          <p:cNvSpPr/>
          <p:nvPr/>
        </p:nvSpPr>
        <p:spPr>
          <a:xfrm>
            <a:off x="482600" y="4887214"/>
            <a:ext cx="279400" cy="1030986"/>
          </a:xfrm>
          <a:prstGeom prst="rect">
            <a:avLst/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4FBBABE-85B0-A98F-ED86-3D20858E7A49}"/>
              </a:ext>
            </a:extLst>
          </p:cNvPr>
          <p:cNvSpPr/>
          <p:nvPr/>
        </p:nvSpPr>
        <p:spPr>
          <a:xfrm>
            <a:off x="800100" y="5491226"/>
            <a:ext cx="279400" cy="426974"/>
          </a:xfrm>
          <a:prstGeom prst="rect">
            <a:avLst/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BB94D1-13BA-A270-8A30-8F9905F08453}"/>
              </a:ext>
            </a:extLst>
          </p:cNvPr>
          <p:cNvSpPr txBox="1"/>
          <p:nvPr/>
        </p:nvSpPr>
        <p:spPr>
          <a:xfrm>
            <a:off x="431800" y="4722114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D9473F"/>
                </a:solidFill>
                <a:latin typeface="Arial" panose="020B0604020202020204" pitchFamily="34" charset="0"/>
              </a:rPr>
              <a:t>99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BA1FF6-6888-BDEF-FD86-FFA469C7121D}"/>
              </a:ext>
            </a:extLst>
          </p:cNvPr>
          <p:cNvSpPr txBox="1"/>
          <p:nvPr/>
        </p:nvSpPr>
        <p:spPr>
          <a:xfrm>
            <a:off x="749300" y="5326126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2E9E5B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420FF4-6ABC-46D8-587E-E6044D2F9485}"/>
              </a:ext>
            </a:extLst>
          </p:cNvPr>
          <p:cNvSpPr txBox="1"/>
          <p:nvPr/>
        </p:nvSpPr>
        <p:spPr>
          <a:xfrm>
            <a:off x="355600" y="5956300"/>
            <a:ext cx="88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Patient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4C2A13-3443-D688-24DD-782E933CDB86}"/>
              </a:ext>
            </a:extLst>
          </p:cNvPr>
          <p:cNvSpPr/>
          <p:nvPr/>
        </p:nvSpPr>
        <p:spPr>
          <a:xfrm>
            <a:off x="1295400" y="4876800"/>
            <a:ext cx="279400" cy="1041400"/>
          </a:xfrm>
          <a:prstGeom prst="rect">
            <a:avLst/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B1A188C-909D-C949-69A3-25A8AD81B79E}"/>
              </a:ext>
            </a:extLst>
          </p:cNvPr>
          <p:cNvSpPr/>
          <p:nvPr/>
        </p:nvSpPr>
        <p:spPr>
          <a:xfrm>
            <a:off x="1612900" y="5449570"/>
            <a:ext cx="279400" cy="468630"/>
          </a:xfrm>
          <a:prstGeom prst="rect">
            <a:avLst/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96F88B-36BF-CCF3-B697-F4B52CF76AF1}"/>
              </a:ext>
            </a:extLst>
          </p:cNvPr>
          <p:cNvSpPr txBox="1"/>
          <p:nvPr/>
        </p:nvSpPr>
        <p:spPr>
          <a:xfrm>
            <a:off x="1244600" y="47117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D9473F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0D671B-A09F-59AB-8DD2-0C068F35CD14}"/>
              </a:ext>
            </a:extLst>
          </p:cNvPr>
          <p:cNvSpPr txBox="1"/>
          <p:nvPr/>
        </p:nvSpPr>
        <p:spPr>
          <a:xfrm>
            <a:off x="1562100" y="528447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2E9E5B"/>
                </a:solidFill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15E1DD-03A9-E6B4-4C68-A0C68CAA1D59}"/>
              </a:ext>
            </a:extLst>
          </p:cNvPr>
          <p:cNvSpPr txBox="1"/>
          <p:nvPr/>
        </p:nvSpPr>
        <p:spPr>
          <a:xfrm>
            <a:off x="1168400" y="5956300"/>
            <a:ext cx="88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Banking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5E2FB-BB36-0478-22C6-DF2DC791768F}"/>
              </a:ext>
            </a:extLst>
          </p:cNvPr>
          <p:cNvSpPr/>
          <p:nvPr/>
        </p:nvSpPr>
        <p:spPr>
          <a:xfrm>
            <a:off x="2108200" y="4928870"/>
            <a:ext cx="279400" cy="989330"/>
          </a:xfrm>
          <a:prstGeom prst="rect">
            <a:avLst/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74B8E4B-F401-7774-E9A5-8FB6082A1D62}"/>
              </a:ext>
            </a:extLst>
          </p:cNvPr>
          <p:cNvSpPr/>
          <p:nvPr/>
        </p:nvSpPr>
        <p:spPr>
          <a:xfrm>
            <a:off x="2425700" y="5407914"/>
            <a:ext cx="279400" cy="510286"/>
          </a:xfrm>
          <a:prstGeom prst="rect">
            <a:avLst/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BAD886-B2FC-E8C9-BD08-83EA9684DA98}"/>
              </a:ext>
            </a:extLst>
          </p:cNvPr>
          <p:cNvSpPr txBox="1"/>
          <p:nvPr/>
        </p:nvSpPr>
        <p:spPr>
          <a:xfrm>
            <a:off x="2057400" y="476377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D9473F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3799D8-13EB-8B4D-9F8D-B86774CE2507}"/>
              </a:ext>
            </a:extLst>
          </p:cNvPr>
          <p:cNvSpPr txBox="1"/>
          <p:nvPr/>
        </p:nvSpPr>
        <p:spPr>
          <a:xfrm>
            <a:off x="2374900" y="5242814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2E9E5B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DBE9CB-60B4-3AA7-7DD4-127BC98B04A5}"/>
              </a:ext>
            </a:extLst>
          </p:cNvPr>
          <p:cNvSpPr txBox="1"/>
          <p:nvPr/>
        </p:nvSpPr>
        <p:spPr>
          <a:xfrm>
            <a:off x="1981200" y="5956300"/>
            <a:ext cx="88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Memo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4A14985-6B3B-7F22-4335-5BD8FD5B4501}"/>
              </a:ext>
            </a:extLst>
          </p:cNvPr>
          <p:cNvSpPr/>
          <p:nvPr/>
        </p:nvSpPr>
        <p:spPr>
          <a:xfrm>
            <a:off x="2921000" y="4876800"/>
            <a:ext cx="279400" cy="1041400"/>
          </a:xfrm>
          <a:prstGeom prst="rect">
            <a:avLst/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F37404-5023-4B87-FA7F-DDA04D8AD418}"/>
              </a:ext>
            </a:extLst>
          </p:cNvPr>
          <p:cNvSpPr/>
          <p:nvPr/>
        </p:nvSpPr>
        <p:spPr>
          <a:xfrm>
            <a:off x="3238500" y="5876544"/>
            <a:ext cx="279400" cy="41656"/>
          </a:xfrm>
          <a:prstGeom prst="rect">
            <a:avLst/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3B10C5-1A24-3D01-8A81-3D35622D611D}"/>
              </a:ext>
            </a:extLst>
          </p:cNvPr>
          <p:cNvSpPr txBox="1"/>
          <p:nvPr/>
        </p:nvSpPr>
        <p:spPr>
          <a:xfrm>
            <a:off x="2870200" y="47117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D9473F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10C413-D478-23B9-3001-B2C490859C4F}"/>
              </a:ext>
            </a:extLst>
          </p:cNvPr>
          <p:cNvSpPr txBox="1"/>
          <p:nvPr/>
        </p:nvSpPr>
        <p:spPr>
          <a:xfrm>
            <a:off x="3187700" y="5711444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2E9E5B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E3D978-1395-F6B0-7916-45015D3062E1}"/>
              </a:ext>
            </a:extLst>
          </p:cNvPr>
          <p:cNvSpPr txBox="1"/>
          <p:nvPr/>
        </p:nvSpPr>
        <p:spPr>
          <a:xfrm>
            <a:off x="2794000" y="5956300"/>
            <a:ext cx="88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Dev keys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BD7762-4001-DD26-9734-AE90FB704FF1}"/>
              </a:ext>
            </a:extLst>
          </p:cNvPr>
          <p:cNvSpPr/>
          <p:nvPr/>
        </p:nvSpPr>
        <p:spPr>
          <a:xfrm>
            <a:off x="3733800" y="4876800"/>
            <a:ext cx="279400" cy="1041400"/>
          </a:xfrm>
          <a:prstGeom prst="rect">
            <a:avLst/>
          </a:prstGeom>
          <a:solidFill>
            <a:srgbClr val="D9473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80127F-0FC6-3FCA-C0C8-97E61B5BDEDC}"/>
              </a:ext>
            </a:extLst>
          </p:cNvPr>
          <p:cNvSpPr/>
          <p:nvPr/>
        </p:nvSpPr>
        <p:spPr>
          <a:xfrm>
            <a:off x="4051300" y="5855716"/>
            <a:ext cx="279400" cy="62484"/>
          </a:xfrm>
          <a:prstGeom prst="rect">
            <a:avLst/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920965-E582-58CD-B31F-442C6A84E0E1}"/>
              </a:ext>
            </a:extLst>
          </p:cNvPr>
          <p:cNvSpPr txBox="1"/>
          <p:nvPr/>
        </p:nvSpPr>
        <p:spPr>
          <a:xfrm>
            <a:off x="3683000" y="47117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D9473F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FEC381-7949-B90D-408C-C455615884E8}"/>
              </a:ext>
            </a:extLst>
          </p:cNvPr>
          <p:cNvSpPr txBox="1"/>
          <p:nvPr/>
        </p:nvSpPr>
        <p:spPr>
          <a:xfrm>
            <a:off x="4000500" y="5690616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 b="1">
                <a:solidFill>
                  <a:srgbClr val="2E9E5B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157822-2601-A16C-E0F2-37419CE70D55}"/>
              </a:ext>
            </a:extLst>
          </p:cNvPr>
          <p:cNvSpPr txBox="1"/>
          <p:nvPr/>
        </p:nvSpPr>
        <p:spPr>
          <a:xfrm>
            <a:off x="3606800" y="5956300"/>
            <a:ext cx="889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800">
                <a:solidFill>
                  <a:srgbClr val="1A1A1A"/>
                </a:solidFill>
                <a:latin typeface="Arial" panose="020B0604020202020204" pitchFamily="34" charset="0"/>
              </a:rPr>
              <a:t>JSON config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8B121CF-56DF-7994-A251-82E291122C7A}"/>
              </a:ext>
            </a:extLst>
          </p:cNvPr>
          <p:cNvSpPr/>
          <p:nvPr/>
        </p:nvSpPr>
        <p:spPr>
          <a:xfrm>
            <a:off x="4826000" y="4241800"/>
            <a:ext cx="3505200" cy="200660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E9EA84-8CC9-7E0B-098C-52305C4544E7}"/>
              </a:ext>
            </a:extLst>
          </p:cNvPr>
          <p:cNvSpPr txBox="1"/>
          <p:nvPr/>
        </p:nvSpPr>
        <p:spPr>
          <a:xfrm>
            <a:off x="4978400" y="4318000"/>
            <a:ext cx="317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150" b="1">
                <a:solidFill>
                  <a:srgbClr val="1F497D"/>
                </a:solidFill>
                <a:latin typeface="Arial" panose="020B0604020202020204" pitchFamily="34" charset="0"/>
              </a:rPr>
              <a:t>Speed: analysis time vs prompt size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25CB34-3B32-6837-6021-6FF1D9F5EA36}"/>
              </a:ext>
            </a:extLst>
          </p:cNvPr>
          <p:cNvSpPr txBox="1"/>
          <p:nvPr/>
        </p:nvSpPr>
        <p:spPr>
          <a:xfrm>
            <a:off x="4978400" y="4508500"/>
            <a:ext cx="317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800">
                <a:solidFill>
                  <a:srgbClr val="55606E"/>
                </a:solidFill>
                <a:latin typeface="Arial" panose="020B0604020202020204" pitchFamily="34" charset="0"/>
              </a:rPr>
              <a:t>median of 9 runs, Basic mode, Enterprise profile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F7C4386-2AA5-6BCD-5D68-8FA4893008E0}"/>
              </a:ext>
            </a:extLst>
          </p:cNvPr>
          <p:cNvCxnSpPr/>
          <p:nvPr/>
        </p:nvCxnSpPr>
        <p:spPr>
          <a:xfrm>
            <a:off x="5257800" y="5918200"/>
            <a:ext cx="2870200" cy="0"/>
          </a:xfrm>
          <a:prstGeom prst="straightConnector1">
            <a:avLst/>
          </a:prstGeom>
          <a:ln w="9525">
            <a:solidFill>
              <a:srgbClr val="B8C2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4A3F1E4-521D-80DD-EC55-9C897F690722}"/>
              </a:ext>
            </a:extLst>
          </p:cNvPr>
          <p:cNvCxnSpPr/>
          <p:nvPr/>
        </p:nvCxnSpPr>
        <p:spPr>
          <a:xfrm>
            <a:off x="5257800" y="5554133"/>
            <a:ext cx="2870200" cy="0"/>
          </a:xfrm>
          <a:prstGeom prst="straightConnector1">
            <a:avLst/>
          </a:prstGeom>
          <a:ln w="6350">
            <a:solidFill>
              <a:srgbClr val="E5E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220B611-3825-BEE3-A877-E25040F07A54}"/>
              </a:ext>
            </a:extLst>
          </p:cNvPr>
          <p:cNvSpPr txBox="1"/>
          <p:nvPr/>
        </p:nvSpPr>
        <p:spPr>
          <a:xfrm>
            <a:off x="4927600" y="5477933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5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DA5530B-BBE5-EB9A-E620-AC688A940940}"/>
              </a:ext>
            </a:extLst>
          </p:cNvPr>
          <p:cNvCxnSpPr/>
          <p:nvPr/>
        </p:nvCxnSpPr>
        <p:spPr>
          <a:xfrm>
            <a:off x="5257800" y="5190067"/>
            <a:ext cx="2870200" cy="0"/>
          </a:xfrm>
          <a:prstGeom prst="straightConnector1">
            <a:avLst/>
          </a:prstGeom>
          <a:ln w="6350">
            <a:solidFill>
              <a:srgbClr val="E5E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BDA5A70-DC08-8A4A-62C1-284EB62AAB01}"/>
              </a:ext>
            </a:extLst>
          </p:cNvPr>
          <p:cNvSpPr txBox="1"/>
          <p:nvPr/>
        </p:nvSpPr>
        <p:spPr>
          <a:xfrm>
            <a:off x="4927600" y="5113867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10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5F0DE19-371F-217F-F300-9DC4891C80A7}"/>
              </a:ext>
            </a:extLst>
          </p:cNvPr>
          <p:cNvCxnSpPr/>
          <p:nvPr/>
        </p:nvCxnSpPr>
        <p:spPr>
          <a:xfrm>
            <a:off x="5257800" y="4826000"/>
            <a:ext cx="2870200" cy="0"/>
          </a:xfrm>
          <a:prstGeom prst="straightConnector1">
            <a:avLst/>
          </a:prstGeom>
          <a:ln w="6350">
            <a:solidFill>
              <a:srgbClr val="E5E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6DAEFFC-3CA6-C9B5-500E-8E9C401F2A80}"/>
              </a:ext>
            </a:extLst>
          </p:cNvPr>
          <p:cNvSpPr txBox="1"/>
          <p:nvPr/>
        </p:nvSpPr>
        <p:spPr>
          <a:xfrm>
            <a:off x="4927600" y="4749800"/>
            <a:ext cx="279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5FDB98-1ACB-807E-ED63-B5F4736DF983}"/>
              </a:ext>
            </a:extLst>
          </p:cNvPr>
          <p:cNvSpPr txBox="1"/>
          <p:nvPr/>
        </p:nvSpPr>
        <p:spPr>
          <a:xfrm>
            <a:off x="4876800" y="4622800"/>
            <a:ext cx="50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ms</a:t>
            </a: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249A439C-7C3F-8D3C-A1FE-780A92FBB4B9}"/>
              </a:ext>
            </a:extLst>
          </p:cNvPr>
          <p:cNvSpPr/>
          <p:nvPr/>
        </p:nvSpPr>
        <p:spPr>
          <a:xfrm>
            <a:off x="5359400" y="4913376"/>
            <a:ext cx="2667001" cy="1004825"/>
          </a:xfrm>
          <a:custGeom>
            <a:avLst/>
            <a:gdLst/>
            <a:ahLst/>
            <a:cxnLst/>
            <a:rect l="0" t="0" r="0" b="0"/>
            <a:pathLst>
              <a:path w="2667001" h="1004825">
                <a:moveTo>
                  <a:pt x="0" y="1004824"/>
                </a:moveTo>
                <a:lnTo>
                  <a:pt x="0" y="924729"/>
                </a:lnTo>
                <a:lnTo>
                  <a:pt x="533400" y="866479"/>
                </a:lnTo>
                <a:lnTo>
                  <a:pt x="1066800" y="815509"/>
                </a:lnTo>
                <a:lnTo>
                  <a:pt x="1600200" y="699008"/>
                </a:lnTo>
                <a:lnTo>
                  <a:pt x="2133600" y="444161"/>
                </a:lnTo>
                <a:lnTo>
                  <a:pt x="2667000" y="0"/>
                </a:lnTo>
                <a:lnTo>
                  <a:pt x="2667000" y="1004824"/>
                </a:lnTo>
                <a:close/>
              </a:path>
            </a:pathLst>
          </a:custGeom>
          <a:solidFill>
            <a:srgbClr val="CFE3F7">
              <a:alpha val="8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7E602FBC-29E0-4892-F30F-06EF29C7E68A}"/>
              </a:ext>
            </a:extLst>
          </p:cNvPr>
          <p:cNvSpPr/>
          <p:nvPr/>
        </p:nvSpPr>
        <p:spPr>
          <a:xfrm>
            <a:off x="5359400" y="4913376"/>
            <a:ext cx="2667001" cy="924730"/>
          </a:xfrm>
          <a:custGeom>
            <a:avLst/>
            <a:gdLst/>
            <a:ahLst/>
            <a:cxnLst/>
            <a:rect l="0" t="0" r="0" b="0"/>
            <a:pathLst>
              <a:path w="2667001" h="924730">
                <a:moveTo>
                  <a:pt x="0" y="924729"/>
                </a:moveTo>
                <a:lnTo>
                  <a:pt x="533400" y="866479"/>
                </a:lnTo>
                <a:lnTo>
                  <a:pt x="1066800" y="815509"/>
                </a:lnTo>
                <a:lnTo>
                  <a:pt x="1600200" y="699008"/>
                </a:lnTo>
                <a:lnTo>
                  <a:pt x="2133600" y="444161"/>
                </a:lnTo>
                <a:lnTo>
                  <a:pt x="2667000" y="0"/>
                </a:lnTo>
              </a:path>
            </a:pathLst>
          </a:custGeom>
          <a:ln w="28575">
            <a:solidFill>
              <a:srgbClr val="1F6F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8E17C1B-0272-E483-28ED-D49D725E3A1C}"/>
              </a:ext>
            </a:extLst>
          </p:cNvPr>
          <p:cNvSpPr/>
          <p:nvPr/>
        </p:nvSpPr>
        <p:spPr>
          <a:xfrm>
            <a:off x="5314950" y="5793655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EE2579A-95BA-DCD0-55B8-C01054004E9B}"/>
              </a:ext>
            </a:extLst>
          </p:cNvPr>
          <p:cNvSpPr txBox="1"/>
          <p:nvPr/>
        </p:nvSpPr>
        <p:spPr>
          <a:xfrm>
            <a:off x="5130800" y="59563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>
                <a:solidFill>
                  <a:srgbClr val="1A1A1A"/>
                </a:solidFill>
                <a:latin typeface="Arial" panose="020B0604020202020204" pitchFamily="34" charset="0"/>
              </a:rPr>
              <a:t>1k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34D9D8F-BF4B-7367-903E-1EF4B690C8E8}"/>
              </a:ext>
            </a:extLst>
          </p:cNvPr>
          <p:cNvSpPr/>
          <p:nvPr/>
        </p:nvSpPr>
        <p:spPr>
          <a:xfrm>
            <a:off x="5848350" y="5735405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6E03555-9080-CF5F-1232-7FAB267CD87E}"/>
              </a:ext>
            </a:extLst>
          </p:cNvPr>
          <p:cNvSpPr txBox="1"/>
          <p:nvPr/>
        </p:nvSpPr>
        <p:spPr>
          <a:xfrm>
            <a:off x="5664200" y="59563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>
                <a:solidFill>
                  <a:srgbClr val="1A1A1A"/>
                </a:solidFill>
                <a:latin typeface="Arial" panose="020B0604020202020204" pitchFamily="34" charset="0"/>
              </a:rPr>
              <a:t>2.5k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A70AF04-BE6C-6FF3-99D0-BFDBBADE1CD4}"/>
              </a:ext>
            </a:extLst>
          </p:cNvPr>
          <p:cNvSpPr/>
          <p:nvPr/>
        </p:nvSpPr>
        <p:spPr>
          <a:xfrm>
            <a:off x="6381750" y="5684435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15DD90B-DA7C-5565-5A1C-3C4D124ECBCF}"/>
              </a:ext>
            </a:extLst>
          </p:cNvPr>
          <p:cNvSpPr txBox="1"/>
          <p:nvPr/>
        </p:nvSpPr>
        <p:spPr>
          <a:xfrm>
            <a:off x="6197600" y="59563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>
                <a:solidFill>
                  <a:srgbClr val="1A1A1A"/>
                </a:solidFill>
                <a:latin typeface="Arial" panose="020B0604020202020204" pitchFamily="34" charset="0"/>
              </a:rPr>
              <a:t>5k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E27996B-E6F1-FD6A-09B3-6099DAFD2C22}"/>
              </a:ext>
            </a:extLst>
          </p:cNvPr>
          <p:cNvSpPr/>
          <p:nvPr/>
        </p:nvSpPr>
        <p:spPr>
          <a:xfrm>
            <a:off x="6915150" y="5567934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728DC4-A5D8-4E14-0768-112ACCCA449A}"/>
              </a:ext>
            </a:extLst>
          </p:cNvPr>
          <p:cNvSpPr txBox="1"/>
          <p:nvPr/>
        </p:nvSpPr>
        <p:spPr>
          <a:xfrm>
            <a:off x="6731000" y="59563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>
                <a:solidFill>
                  <a:srgbClr val="1A1A1A"/>
                </a:solidFill>
                <a:latin typeface="Arial" panose="020B0604020202020204" pitchFamily="34" charset="0"/>
              </a:rPr>
              <a:t>10k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68CEE3B-9848-04AE-1E50-2B277B7753AB}"/>
              </a:ext>
            </a:extLst>
          </p:cNvPr>
          <p:cNvSpPr/>
          <p:nvPr/>
        </p:nvSpPr>
        <p:spPr>
          <a:xfrm>
            <a:off x="7448550" y="5313087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76A413-763C-E5BE-7C84-F3BBD885D2F8}"/>
              </a:ext>
            </a:extLst>
          </p:cNvPr>
          <p:cNvSpPr txBox="1"/>
          <p:nvPr/>
        </p:nvSpPr>
        <p:spPr>
          <a:xfrm>
            <a:off x="7264400" y="59563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>
                <a:solidFill>
                  <a:srgbClr val="1A1A1A"/>
                </a:solidFill>
                <a:latin typeface="Arial" panose="020B0604020202020204" pitchFamily="34" charset="0"/>
              </a:rPr>
              <a:t>20k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CB69155-A1F1-8021-002C-3F84F0C6D3EF}"/>
              </a:ext>
            </a:extLst>
          </p:cNvPr>
          <p:cNvSpPr/>
          <p:nvPr/>
        </p:nvSpPr>
        <p:spPr>
          <a:xfrm>
            <a:off x="7981950" y="4868926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513A170-B7A0-3754-BE48-F46087C07305}"/>
              </a:ext>
            </a:extLst>
          </p:cNvPr>
          <p:cNvSpPr txBox="1"/>
          <p:nvPr/>
        </p:nvSpPr>
        <p:spPr>
          <a:xfrm>
            <a:off x="7797800" y="5956300"/>
            <a:ext cx="4572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750">
                <a:solidFill>
                  <a:srgbClr val="1A1A1A"/>
                </a:solidFill>
                <a:latin typeface="Arial" panose="020B0604020202020204" pitchFamily="34" charset="0"/>
              </a:rPr>
              <a:t>40k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1C9E21A-115D-5B30-A09B-D54C068F6A7E}"/>
              </a:ext>
            </a:extLst>
          </p:cNvPr>
          <p:cNvSpPr txBox="1"/>
          <p:nvPr/>
        </p:nvSpPr>
        <p:spPr>
          <a:xfrm>
            <a:off x="7239000" y="6083300"/>
            <a:ext cx="8890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IN" sz="750">
                <a:solidFill>
                  <a:srgbClr val="55606E"/>
                </a:solidFill>
                <a:latin typeface="Arial" panose="020B0604020202020204" pitchFamily="34" charset="0"/>
              </a:rPr>
              <a:t>characters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DEF0388B-05B0-045F-2BC0-54DFBD85EEBC}"/>
              </a:ext>
            </a:extLst>
          </p:cNvPr>
          <p:cNvSpPr/>
          <p:nvPr/>
        </p:nvSpPr>
        <p:spPr>
          <a:xfrm>
            <a:off x="5765800" y="4800600"/>
            <a:ext cx="1651000" cy="381000"/>
          </a:xfrm>
          <a:prstGeom prst="roundRect">
            <a:avLst>
              <a:gd name="adj" fmla="val 20000"/>
            </a:avLst>
          </a:prstGeom>
          <a:solidFill>
            <a:srgbClr val="FFF4E5"/>
          </a:solidFill>
          <a:ln w="9525">
            <a:solidFill>
              <a:srgbClr val="F5C9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IN" sz="900" b="1">
                <a:solidFill>
                  <a:srgbClr val="7A4300"/>
                </a:solidFill>
                <a:latin typeface="Arial" panose="020B0604020202020204" pitchFamily="34" charset="0"/>
              </a:rPr>
              <a:t>20,000 chars in under 8 ms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25B45D3-91A0-3433-395E-98AAF5C8134E}"/>
              </a:ext>
            </a:extLst>
          </p:cNvPr>
          <p:cNvCxnSpPr/>
          <p:nvPr/>
        </p:nvCxnSpPr>
        <p:spPr>
          <a:xfrm>
            <a:off x="7416800" y="4991100"/>
            <a:ext cx="25400" cy="328337"/>
          </a:xfrm>
          <a:prstGeom prst="straightConnector1">
            <a:avLst/>
          </a:prstGeom>
          <a:ln w="12700">
            <a:solidFill>
              <a:srgbClr val="E0A04A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E29163E-7C94-8E30-08FD-FE66E1CB28E5}"/>
              </a:ext>
            </a:extLst>
          </p:cNvPr>
          <p:cNvSpPr/>
          <p:nvPr/>
        </p:nvSpPr>
        <p:spPr>
          <a:xfrm>
            <a:off x="8458200" y="4241800"/>
            <a:ext cx="3505200" cy="2006600"/>
          </a:xfrm>
          <a:prstGeom prst="roundRect">
            <a:avLst>
              <a:gd name="adj" fmla="val 10127"/>
            </a:avLst>
          </a:prstGeom>
          <a:gradFill flip="none" rotWithShape="1">
            <a:gsLst>
              <a:gs pos="0">
                <a:srgbClr val="E1D9F4"/>
              </a:gs>
              <a:gs pos="100000">
                <a:srgbClr val="EFEAF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829F296-CEC4-8864-09D4-8DC0C1504CC6}"/>
              </a:ext>
            </a:extLst>
          </p:cNvPr>
          <p:cNvSpPr txBox="1"/>
          <p:nvPr/>
        </p:nvSpPr>
        <p:spPr>
          <a:xfrm>
            <a:off x="8458200" y="4318000"/>
            <a:ext cx="35052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b="1">
                <a:latin typeface="Arial" panose="020B0604020202020204" pitchFamily="34" charset="0"/>
              </a:rPr>
              <a:t>Economic Viability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840D0F5-4FC8-E75C-921B-6AF610640DE0}"/>
              </a:ext>
            </a:extLst>
          </p:cNvPr>
          <p:cNvSpPr txBox="1"/>
          <p:nvPr/>
        </p:nvSpPr>
        <p:spPr>
          <a:xfrm>
            <a:off x="8636000" y="4648200"/>
            <a:ext cx="32004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39700" indent="-139700">
              <a:spcAft>
                <a:spcPts val="4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1A1A1A"/>
                </a:solidFill>
                <a:latin typeface="Arial" panose="020B0604020202020204" pitchFamily="34" charset="0"/>
              </a:rPr>
              <a:t>Zero infrastructure</a:t>
            </a:r>
            <a:r>
              <a:rPr lang="en-IN" sz="1000">
                <a:solidFill>
                  <a:srgbClr val="1A1A1A"/>
                </a:solidFill>
                <a:latin typeface="Arial" panose="020B0604020202020204" pitchFamily="34" charset="0"/>
              </a:rPr>
              <a:t>: runs on the user's own device</a:t>
            </a:r>
          </a:p>
          <a:p>
            <a:pPr marL="139700" indent="-139700">
              <a:spcAft>
                <a:spcPts val="4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1A1A1A"/>
                </a:solidFill>
                <a:latin typeface="Arial" panose="020B0604020202020204" pitchFamily="34" charset="0"/>
              </a:rPr>
              <a:t>No per-token cost</a:t>
            </a:r>
            <a:r>
              <a:rPr lang="en-IN" sz="1000">
                <a:solidFill>
                  <a:srgbClr val="1A1A1A"/>
                </a:solidFill>
                <a:latin typeface="Arial" panose="020B0604020202020204" pitchFamily="34" charset="0"/>
              </a:rPr>
              <a:t>: the on-device AI is free</a:t>
            </a:r>
          </a:p>
          <a:p>
            <a:pPr marL="139700" indent="-139700">
              <a:spcAft>
                <a:spcPts val="4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1A1A1A"/>
                </a:solidFill>
                <a:latin typeface="Arial" panose="020B0604020202020204" pitchFamily="34" charset="0"/>
              </a:rPr>
              <a:t>Free</a:t>
            </a:r>
            <a:r>
              <a:rPr lang="en-IN" sz="1000">
                <a:solidFill>
                  <a:srgbClr val="1A1A1A"/>
                </a:solidFill>
                <a:latin typeface="Arial" panose="020B0604020202020204" pitchFamily="34" charset="0"/>
              </a:rPr>
              <a:t> for individuals; </a:t>
            </a:r>
            <a:r>
              <a:rPr lang="en-IN" sz="1000" b="1">
                <a:solidFill>
                  <a:srgbClr val="1A1A1A"/>
                </a:solidFill>
                <a:latin typeface="Arial" panose="020B0604020202020204" pitchFamily="34" charset="0"/>
              </a:rPr>
              <a:t>per-seat plan</a:t>
            </a:r>
            <a:r>
              <a:rPr lang="en-IN" sz="1000">
                <a:solidFill>
                  <a:srgbClr val="1A1A1A"/>
                </a:solidFill>
                <a:latin typeface="Arial" panose="020B0604020202020204" pitchFamily="34" charset="0"/>
              </a:rPr>
              <a:t> for organizations (managed policy, audit log)</a:t>
            </a:r>
          </a:p>
          <a:p>
            <a:pPr marL="139700" indent="-139700">
              <a:spcAft>
                <a:spcPts val="4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1A1A1A"/>
                </a:solidFill>
                <a:latin typeface="Arial" panose="020B0604020202020204" pitchFamily="34" charset="0"/>
              </a:rPr>
              <a:t>Free, open-source tooling</a:t>
            </a:r>
            <a:r>
              <a:rPr lang="en-IN" sz="1000">
                <a:solidFill>
                  <a:srgbClr val="1A1A1A"/>
                </a:solidFill>
                <a:latin typeface="Arial" panose="020B0604020202020204" pitchFamily="34" charset="0"/>
              </a:rPr>
              <a:t>: TypeScript, esbuild, Vitest, Playwright</a:t>
            </a:r>
          </a:p>
          <a:p>
            <a:pPr marL="139700" indent="-139700">
              <a:spcAft>
                <a:spcPts val="400"/>
              </a:spcAft>
              <a:buClr>
                <a:srgbClr val="6F4FB0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000">
                <a:solidFill>
                  <a:srgbClr val="1A1A1A"/>
                </a:solidFill>
                <a:latin typeface="Arial" panose="020B0604020202020204" pitchFamily="34" charset="0"/>
              </a:rPr>
              <a:t>DLP market: </a:t>
            </a:r>
            <a:r>
              <a:rPr lang="en-IN" sz="1000" b="1">
                <a:solidFill>
                  <a:srgbClr val="1A1A1A"/>
                </a:solidFill>
                <a:latin typeface="Arial" panose="020B0604020202020204" pitchFamily="34" charset="0"/>
              </a:rPr>
              <a:t>USD 3.4 B (2025) → 13.8 B (2033)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1905000" y="508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US" sz="3400" b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  <a:sym typeface="Times New Roman"/>
              </a:rPr>
              <a:t>IMPACT AND BENEFITS</a:t>
            </a:r>
            <a:endParaRPr sz="3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rtl="0">
              <a:buClr>
                <a:srgbClr val="FFFFFF"/>
              </a:buClr>
              <a:buSzPts val="1200"/>
            </a:pPr>
            <a:r>
              <a:rPr lang="en-IN" sz="1100" u="none" strike="noStrike" cap="none">
                <a:solidFill>
                  <a:srgbClr val="FFFFFF"/>
                </a:solidFill>
                <a:latin typeface="Oswald" panose="00000500000000000000" pitchFamily="2" charset="0"/>
                <a:ea typeface="Oswald"/>
                <a:cs typeface="Oswald"/>
                <a:sym typeface="Oswald"/>
              </a:rPr>
              <a:t>@BITSHIFT Idea submission  ·  TechKnights  ·  P2Shield</a:t>
            </a:r>
            <a:endParaRPr sz="1100" u="none" strike="noStrike" cap="none">
              <a:solidFill>
                <a:srgbClr val="FFFFFF"/>
              </a:solidFill>
              <a:latin typeface="Oswald" panose="00000500000000000000" pitchFamily="2" charset="0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 descr="Your startup LOGO"/>
          <p:cNvSpPr/>
          <p:nvPr/>
        </p:nvSpPr>
        <p:spPr>
          <a:xfrm>
            <a:off x="253999" y="228600"/>
            <a:ext cx="1422400" cy="584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/>
            <a:r>
              <a:rPr lang="en-US" sz="1500" b="1">
                <a:solidFill>
                  <a:srgbClr val="4B2E83"/>
                </a:solidFill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TechKnights</a:t>
            </a:r>
            <a:endParaRPr sz="1500" b="1">
              <a:solidFill>
                <a:srgbClr val="4B2E83"/>
              </a:solidFill>
              <a:latin typeface="Calibri" panose="020F050202020403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10490200" y="76200"/>
            <a:ext cx="1498600" cy="10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0DCC3C-DCB8-B87A-593D-AC1476EB7B99}"/>
              </a:ext>
            </a:extLst>
          </p:cNvPr>
          <p:cNvSpPr txBox="1"/>
          <p:nvPr/>
        </p:nvSpPr>
        <p:spPr>
          <a:xfrm>
            <a:off x="1905000" y="685800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b="1">
                <a:solidFill>
                  <a:srgbClr val="1F497D"/>
                </a:solidFill>
                <a:latin typeface="Arial" panose="020B0604020202020204" pitchFamily="34" charset="0"/>
              </a:rPr>
              <a:t>“USE AI FREELY. SHARE ONLY WHAT THE TASK NEEDS.”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60C00-AABE-0371-4287-A03C50A6F61E}"/>
              </a:ext>
            </a:extLst>
          </p:cNvPr>
          <p:cNvSpPr txBox="1"/>
          <p:nvPr/>
        </p:nvSpPr>
        <p:spPr>
          <a:xfrm>
            <a:off x="228600" y="1193800"/>
            <a:ext cx="381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700" b="1">
                <a:latin typeface="Arial" panose="020B0604020202020204" pitchFamily="34" charset="0"/>
              </a:rPr>
              <a:t>WHO BENEFITS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9C15A2-981C-96BB-49DC-B1388B965C46}"/>
              </a:ext>
            </a:extLst>
          </p:cNvPr>
          <p:cNvSpPr/>
          <p:nvPr/>
        </p:nvSpPr>
        <p:spPr>
          <a:xfrm>
            <a:off x="228600" y="1549400"/>
            <a:ext cx="2819400" cy="1066800"/>
          </a:xfrm>
          <a:prstGeom prst="roundRect">
            <a:avLst>
              <a:gd name="adj" fmla="val 19048"/>
            </a:avLst>
          </a:prstGeom>
          <a:solidFill>
            <a:srgbClr val="CFE2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user icon">
            <a:extLst>
              <a:ext uri="{FF2B5EF4-FFF2-40B4-BE49-F238E27FC236}">
                <a16:creationId xmlns:a16="http://schemas.microsoft.com/office/drawing/2014/main" id="{C6311E67-B0DC-1640-F9BF-C6CE3ECB8EB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6200" y="1676400"/>
            <a:ext cx="279400" cy="27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33303B-BD7E-BA21-304A-198A7AAE70F6}"/>
              </a:ext>
            </a:extLst>
          </p:cNvPr>
          <p:cNvSpPr txBox="1"/>
          <p:nvPr/>
        </p:nvSpPr>
        <p:spPr>
          <a:xfrm>
            <a:off x="406400" y="16764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latin typeface="Arial" panose="020B0604020202020204" pitchFamily="34" charset="0"/>
              </a:rPr>
              <a:t>Individuals &amp; Students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381B4-DE80-729E-496E-8C7850326E53}"/>
              </a:ext>
            </a:extLst>
          </p:cNvPr>
          <p:cNvSpPr txBox="1"/>
          <p:nvPr/>
        </p:nvSpPr>
        <p:spPr>
          <a:xfrm>
            <a:off x="406400" y="1955800"/>
            <a:ext cx="2489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Ask AI about health, money or studies without revealing who you are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A73AF1-CBF5-7EBA-1FF3-14E5D2E750E3}"/>
              </a:ext>
            </a:extLst>
          </p:cNvPr>
          <p:cNvSpPr/>
          <p:nvPr/>
        </p:nvSpPr>
        <p:spPr>
          <a:xfrm>
            <a:off x="3149600" y="1549400"/>
            <a:ext cx="2819400" cy="1066800"/>
          </a:xfrm>
          <a:prstGeom prst="roundRect">
            <a:avLst>
              <a:gd name="adj" fmla="val 19048"/>
            </a:avLst>
          </a:prstGeom>
          <a:solidFill>
            <a:srgbClr val="D3EED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hospital icon">
            <a:extLst>
              <a:ext uri="{FF2B5EF4-FFF2-40B4-BE49-F238E27FC236}">
                <a16:creationId xmlns:a16="http://schemas.microsoft.com/office/drawing/2014/main" id="{F490CC23-FE06-EE22-955C-E3851298D22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7200" y="1676400"/>
            <a:ext cx="279400" cy="279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BA5300-CED6-9285-8EC1-891AC6F7E2FB}"/>
              </a:ext>
            </a:extLst>
          </p:cNvPr>
          <p:cNvSpPr txBox="1"/>
          <p:nvPr/>
        </p:nvSpPr>
        <p:spPr>
          <a:xfrm>
            <a:off x="3327400" y="16764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latin typeface="Arial" panose="020B0604020202020204" pitchFamily="34" charset="0"/>
              </a:rPr>
              <a:t>Patients &amp; Hospitals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454A8-A3AD-E213-1D46-84AD52EE6852}"/>
              </a:ext>
            </a:extLst>
          </p:cNvPr>
          <p:cNvSpPr txBox="1"/>
          <p:nvPr/>
        </p:nvSpPr>
        <p:spPr>
          <a:xfrm>
            <a:off x="3327400" y="1955800"/>
            <a:ext cx="2489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Clinical facts stay, patient identity goes (Healthcare profile)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0D56042-486F-83C0-A7FE-1018969D9D76}"/>
              </a:ext>
            </a:extLst>
          </p:cNvPr>
          <p:cNvSpPr/>
          <p:nvPr/>
        </p:nvSpPr>
        <p:spPr>
          <a:xfrm>
            <a:off x="228600" y="2717800"/>
            <a:ext cx="2819400" cy="1066800"/>
          </a:xfrm>
          <a:prstGeom prst="roundRect">
            <a:avLst>
              <a:gd name="adj" fmla="val 19048"/>
            </a:avLst>
          </a:prstGeom>
          <a:solidFill>
            <a:srgbClr val="FBDCC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Graphic 15" descr="landmark icon">
            <a:extLst>
              <a:ext uri="{FF2B5EF4-FFF2-40B4-BE49-F238E27FC236}">
                <a16:creationId xmlns:a16="http://schemas.microsoft.com/office/drawing/2014/main" id="{331CCA02-6399-4E88-01C4-90373D04545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6200" y="2844800"/>
            <a:ext cx="279400" cy="279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5AC1AB-6FDC-D902-776C-2C17D4055AFC}"/>
              </a:ext>
            </a:extLst>
          </p:cNvPr>
          <p:cNvSpPr txBox="1"/>
          <p:nvPr/>
        </p:nvSpPr>
        <p:spPr>
          <a:xfrm>
            <a:off x="406400" y="28448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latin typeface="Arial" panose="020B0604020202020204" pitchFamily="34" charset="0"/>
              </a:rPr>
              <a:t>Banks &amp; Fintech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A9DB6-EA01-670C-80C3-A041954E93B1}"/>
              </a:ext>
            </a:extLst>
          </p:cNvPr>
          <p:cNvSpPr txBox="1"/>
          <p:nvPr/>
        </p:nvSpPr>
        <p:spPr>
          <a:xfrm>
            <a:off x="406400" y="3124200"/>
            <a:ext cx="2489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Cards, accounts and PAN masked; salaries and amounts rounded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0D2D8B-591B-69F9-A8D7-DFAD932EB1E3}"/>
              </a:ext>
            </a:extLst>
          </p:cNvPr>
          <p:cNvSpPr/>
          <p:nvPr/>
        </p:nvSpPr>
        <p:spPr>
          <a:xfrm>
            <a:off x="3149600" y="2717800"/>
            <a:ext cx="2819400" cy="1066800"/>
          </a:xfrm>
          <a:prstGeom prst="roundRect">
            <a:avLst>
              <a:gd name="adj" fmla="val 19048"/>
            </a:avLst>
          </a:prstGeom>
          <a:solidFill>
            <a:srgbClr val="E0D5F3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Graphic 20" descr="square-terminal icon">
            <a:extLst>
              <a:ext uri="{FF2B5EF4-FFF2-40B4-BE49-F238E27FC236}">
                <a16:creationId xmlns:a16="http://schemas.microsoft.com/office/drawing/2014/main" id="{FD227ABF-F69C-A5DD-7659-8D9EE29FA7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7200" y="2844800"/>
            <a:ext cx="279400" cy="279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8C2418-04FC-6B37-8158-E3D8FEB6BDCB}"/>
              </a:ext>
            </a:extLst>
          </p:cNvPr>
          <p:cNvSpPr txBox="1"/>
          <p:nvPr/>
        </p:nvSpPr>
        <p:spPr>
          <a:xfrm>
            <a:off x="3327400" y="2844800"/>
            <a:ext cx="215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latin typeface="Arial" panose="020B0604020202020204" pitchFamily="34" charset="0"/>
              </a:rPr>
              <a:t>Developers &amp; IT Teams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F6224-17B0-409C-9634-FA645BFA0571}"/>
              </a:ext>
            </a:extLst>
          </p:cNvPr>
          <p:cNvSpPr txBox="1"/>
          <p:nvPr/>
        </p:nvSpPr>
        <p:spPr>
          <a:xfrm>
            <a:off x="3327400" y="3124200"/>
            <a:ext cx="2489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API keys, passwords and tokens stripped before debugging with AI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99B0F45-49E6-5273-3722-04B0B16EA41F}"/>
              </a:ext>
            </a:extLst>
          </p:cNvPr>
          <p:cNvSpPr/>
          <p:nvPr/>
        </p:nvSpPr>
        <p:spPr>
          <a:xfrm>
            <a:off x="228600" y="3886200"/>
            <a:ext cx="5740400" cy="939800"/>
          </a:xfrm>
          <a:prstGeom prst="roundRect">
            <a:avLst>
              <a:gd name="adj" fmla="val 21622"/>
            </a:avLst>
          </a:prstGeom>
          <a:solidFill>
            <a:srgbClr val="FBEB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Graphic 25" descr="building-2 icon">
            <a:extLst>
              <a:ext uri="{FF2B5EF4-FFF2-40B4-BE49-F238E27FC236}">
                <a16:creationId xmlns:a16="http://schemas.microsoft.com/office/drawing/2014/main" id="{4E51EE57-EDE6-3FFA-4957-412929FC57F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7200" y="4013200"/>
            <a:ext cx="279400" cy="279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3DF2C98-8C45-7DBC-88DF-1857C09550F0}"/>
              </a:ext>
            </a:extLst>
          </p:cNvPr>
          <p:cNvSpPr txBox="1"/>
          <p:nvPr/>
        </p:nvSpPr>
        <p:spPr>
          <a:xfrm>
            <a:off x="406400" y="40132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latin typeface="Arial" panose="020B0604020202020204" pitchFamily="34" charset="0"/>
              </a:rPr>
              <a:t>Enterprises &amp; Government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004753-B9C9-4713-357C-12C5073DDB6F}"/>
              </a:ext>
            </a:extLst>
          </p:cNvPr>
          <p:cNvSpPr txBox="1"/>
          <p:nvPr/>
        </p:nvSpPr>
        <p:spPr>
          <a:xfrm>
            <a:off x="406400" y="4292600"/>
            <a:ext cx="5410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Adopt AI safely instead of banning it: one policy, pushed to every browser, with a metadata-only audit log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AC0A6E-6CDA-91F0-6B45-FE4096EF4632}"/>
              </a:ext>
            </a:extLst>
          </p:cNvPr>
          <p:cNvCxnSpPr/>
          <p:nvPr/>
        </p:nvCxnSpPr>
        <p:spPr>
          <a:xfrm>
            <a:off x="6096000" y="1270000"/>
            <a:ext cx="0" cy="3556000"/>
          </a:xfrm>
          <a:prstGeom prst="straightConnector1">
            <a:avLst/>
          </a:prstGeom>
          <a:ln w="22225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0B3FDDE-5B36-E0B0-43F7-6BD414242024}"/>
              </a:ext>
            </a:extLst>
          </p:cNvPr>
          <p:cNvSpPr txBox="1"/>
          <p:nvPr/>
        </p:nvSpPr>
        <p:spPr>
          <a:xfrm>
            <a:off x="6273800" y="1193800"/>
            <a:ext cx="381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700" b="1">
                <a:latin typeface="Arial" panose="020B0604020202020204" pitchFamily="34" charset="0"/>
              </a:rPr>
              <a:t>BENEFITS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7F2F67-BEEB-E8A3-2F37-4330FF6AE36C}"/>
              </a:ext>
            </a:extLst>
          </p:cNvPr>
          <p:cNvSpPr/>
          <p:nvPr/>
        </p:nvSpPr>
        <p:spPr>
          <a:xfrm>
            <a:off x="6273800" y="1549400"/>
            <a:ext cx="736600" cy="736600"/>
          </a:xfrm>
          <a:prstGeom prst="roundRect">
            <a:avLst>
              <a:gd name="adj" fmla="val 17241"/>
            </a:avLst>
          </a:prstGeom>
          <a:solidFill>
            <a:srgbClr val="E46A6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Graphic 32" descr="hand-heart icon">
            <a:extLst>
              <a:ext uri="{FF2B5EF4-FFF2-40B4-BE49-F238E27FC236}">
                <a16:creationId xmlns:a16="http://schemas.microsoft.com/office/drawing/2014/main" id="{4DDF2769-2FA5-D9D8-6903-D8A41592025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8900" y="1714500"/>
            <a:ext cx="406400" cy="406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C5E1E1F-9A83-17DE-1F60-47AF70B72241}"/>
              </a:ext>
            </a:extLst>
          </p:cNvPr>
          <p:cNvSpPr txBox="1"/>
          <p:nvPr/>
        </p:nvSpPr>
        <p:spPr>
          <a:xfrm>
            <a:off x="7137400" y="1549400"/>
            <a:ext cx="4826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Social</a:t>
            </a:r>
          </a:p>
          <a:p>
            <a:pPr>
              <a:spcAft>
                <a:spcPts val="200"/>
              </a:spcAft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Privacy by default for every AI user, so more people can use AI with confidence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FAF000-DE22-0BD5-EEA5-FBF580E405CD}"/>
              </a:ext>
            </a:extLst>
          </p:cNvPr>
          <p:cNvSpPr/>
          <p:nvPr/>
        </p:nvSpPr>
        <p:spPr>
          <a:xfrm>
            <a:off x="6273800" y="2387600"/>
            <a:ext cx="736600" cy="736600"/>
          </a:xfrm>
          <a:prstGeom prst="roundRect">
            <a:avLst>
              <a:gd name="adj" fmla="val 17241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7" name="Graphic 36" descr="indian-rupee icon">
            <a:extLst>
              <a:ext uri="{FF2B5EF4-FFF2-40B4-BE49-F238E27FC236}">
                <a16:creationId xmlns:a16="http://schemas.microsoft.com/office/drawing/2014/main" id="{2FDE7956-A0D6-FC76-10D8-AC2FD0B061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8900" y="2552700"/>
            <a:ext cx="406400" cy="406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740947A-A655-8708-FA3C-6FCEFFE21F4D}"/>
              </a:ext>
            </a:extLst>
          </p:cNvPr>
          <p:cNvSpPr txBox="1"/>
          <p:nvPr/>
        </p:nvSpPr>
        <p:spPr>
          <a:xfrm>
            <a:off x="7137400" y="2387600"/>
            <a:ext cx="4826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Economic</a:t>
            </a:r>
          </a:p>
          <a:p>
            <a:pPr>
              <a:spcAft>
                <a:spcPts val="200"/>
              </a:spcAft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Avoids breach costs (₹25.5 Cr average in India, IBM 2026) and DPDP penalties up to ₹250 Cr, with zero server spend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CFEAEC7-A1DB-E306-76E9-EC1C780D0D6D}"/>
              </a:ext>
            </a:extLst>
          </p:cNvPr>
          <p:cNvSpPr/>
          <p:nvPr/>
        </p:nvSpPr>
        <p:spPr>
          <a:xfrm>
            <a:off x="6273800" y="3225800"/>
            <a:ext cx="736600" cy="736600"/>
          </a:xfrm>
          <a:prstGeom prst="roundRect">
            <a:avLst>
              <a:gd name="adj" fmla="val 17241"/>
            </a:avLst>
          </a:prstGeom>
          <a:solidFill>
            <a:srgbClr val="6F4F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Graphic 40" descr="scale icon">
            <a:extLst>
              <a:ext uri="{FF2B5EF4-FFF2-40B4-BE49-F238E27FC236}">
                <a16:creationId xmlns:a16="http://schemas.microsoft.com/office/drawing/2014/main" id="{1BEF9222-994A-2544-3EE0-81EB1B91DF3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8900" y="3390900"/>
            <a:ext cx="406400" cy="406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CABD902-FDC8-9BA4-88E3-9C350AD8DE91}"/>
              </a:ext>
            </a:extLst>
          </p:cNvPr>
          <p:cNvSpPr txBox="1"/>
          <p:nvPr/>
        </p:nvSpPr>
        <p:spPr>
          <a:xfrm>
            <a:off x="7137400" y="3225800"/>
            <a:ext cx="4826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Compliance</a:t>
            </a:r>
          </a:p>
          <a:p>
            <a:pPr>
              <a:spcAft>
                <a:spcPts val="200"/>
              </a:spcAft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Data minimisation by design (DPDP Act 2023, GDPR); the audit log stores counts, never text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54CB49D-44DA-2D52-9115-E10AF537DD5A}"/>
              </a:ext>
            </a:extLst>
          </p:cNvPr>
          <p:cNvSpPr/>
          <p:nvPr/>
        </p:nvSpPr>
        <p:spPr>
          <a:xfrm>
            <a:off x="6273800" y="4064000"/>
            <a:ext cx="736600" cy="736600"/>
          </a:xfrm>
          <a:prstGeom prst="roundRect">
            <a:avLst>
              <a:gd name="adj" fmla="val 17241"/>
            </a:avLst>
          </a:prstGeom>
          <a:solidFill>
            <a:srgbClr val="1BA37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5" name="Graphic 44" descr="leaf icon">
            <a:extLst>
              <a:ext uri="{FF2B5EF4-FFF2-40B4-BE49-F238E27FC236}">
                <a16:creationId xmlns:a16="http://schemas.microsoft.com/office/drawing/2014/main" id="{19E82C48-2E22-777F-A00C-16260C779DD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8900" y="4229100"/>
            <a:ext cx="406400" cy="406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79C0741-91EC-4062-101A-8EA72325255A}"/>
              </a:ext>
            </a:extLst>
          </p:cNvPr>
          <p:cNvSpPr txBox="1"/>
          <p:nvPr/>
        </p:nvSpPr>
        <p:spPr>
          <a:xfrm>
            <a:off x="7137400" y="4064000"/>
            <a:ext cx="48260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2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Environmental</a:t>
            </a:r>
          </a:p>
          <a:p>
            <a:pPr>
              <a:spcAft>
                <a:spcPts val="200"/>
              </a:spcAft>
            </a:pPr>
            <a:r>
              <a:rPr lang="en-IN" sz="1050">
                <a:solidFill>
                  <a:srgbClr val="1A1A1A"/>
                </a:solidFill>
                <a:latin typeface="Arial" panose="020B0604020202020204" pitchFamily="34" charset="0"/>
              </a:rPr>
              <a:t>No proxy servers or extra data-centre hops; runs on devices people already have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B4F1838-F679-1146-C5E4-004802A5E437}"/>
              </a:ext>
            </a:extLst>
          </p:cNvPr>
          <p:cNvSpPr/>
          <p:nvPr/>
        </p:nvSpPr>
        <p:spPr>
          <a:xfrm>
            <a:off x="228600" y="4953000"/>
            <a:ext cx="11734800" cy="1295400"/>
          </a:xfrm>
          <a:prstGeom prst="roundRect">
            <a:avLst>
              <a:gd name="adj" fmla="val 13725"/>
            </a:avLst>
          </a:prstGeom>
          <a:gradFill flip="none" rotWithShape="1">
            <a:gsLst>
              <a:gs pos="0">
                <a:srgbClr val="E9E2F8"/>
              </a:gs>
              <a:gs pos="100000">
                <a:srgbClr val="DDEBFB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CC1011-BBB2-4EB9-BEFF-5174884475D0}"/>
              </a:ext>
            </a:extLst>
          </p:cNvPr>
          <p:cNvSpPr txBox="1"/>
          <p:nvPr/>
        </p:nvSpPr>
        <p:spPr>
          <a:xfrm>
            <a:off x="381000" y="5003800"/>
            <a:ext cx="381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b="1">
                <a:latin typeface="Arial" panose="020B0604020202020204" pitchFamily="34" charset="0"/>
              </a:rPr>
              <a:t>FUTURE SCOPE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326BF87-6294-940F-E3D5-122A56A832C7}"/>
              </a:ext>
            </a:extLst>
          </p:cNvPr>
          <p:cNvSpPr/>
          <p:nvPr/>
        </p:nvSpPr>
        <p:spPr>
          <a:xfrm>
            <a:off x="381000" y="5334000"/>
            <a:ext cx="18161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" name="Graphic 50" descr="refresh-cw icon">
            <a:extLst>
              <a:ext uri="{FF2B5EF4-FFF2-40B4-BE49-F238E27FC236}">
                <a16:creationId xmlns:a16="http://schemas.microsoft.com/office/drawing/2014/main" id="{CC91B16A-D08A-FDDE-177C-A4CA0F16429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8000" y="5562600"/>
            <a:ext cx="304800" cy="3048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0DFBFF6-0F6B-EC95-287A-4EB5CBBF95BA}"/>
              </a:ext>
            </a:extLst>
          </p:cNvPr>
          <p:cNvSpPr txBox="1"/>
          <p:nvPr/>
        </p:nvSpPr>
        <p:spPr>
          <a:xfrm>
            <a:off x="889000" y="5334000"/>
            <a:ext cx="1244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Restore real values in AI replies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B2052ED-94E3-E0AB-1CEF-AD59E59E82B7}"/>
              </a:ext>
            </a:extLst>
          </p:cNvPr>
          <p:cNvSpPr/>
          <p:nvPr/>
        </p:nvSpPr>
        <p:spPr>
          <a:xfrm>
            <a:off x="2286000" y="5334000"/>
            <a:ext cx="18161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5" name="Graphic 54" descr="scan-text icon">
            <a:extLst>
              <a:ext uri="{FF2B5EF4-FFF2-40B4-BE49-F238E27FC236}">
                <a16:creationId xmlns:a16="http://schemas.microsoft.com/office/drawing/2014/main" id="{B0EDB819-6026-5EA1-F248-25A5EE286E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13000" y="5562600"/>
            <a:ext cx="304800" cy="3048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1D56DDB-29D5-B6B0-7C48-D0A89620E45B}"/>
              </a:ext>
            </a:extLst>
          </p:cNvPr>
          <p:cNvSpPr txBox="1"/>
          <p:nvPr/>
        </p:nvSpPr>
        <p:spPr>
          <a:xfrm>
            <a:off x="2794000" y="5334000"/>
            <a:ext cx="1244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PDF, DOCX and OCR for images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DB3B5D1-E197-833B-3CE8-94D6DBD7BF75}"/>
              </a:ext>
            </a:extLst>
          </p:cNvPr>
          <p:cNvSpPr/>
          <p:nvPr/>
        </p:nvSpPr>
        <p:spPr>
          <a:xfrm>
            <a:off x="4191000" y="5334000"/>
            <a:ext cx="18161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9" name="Graphic 58" descr="languages icon">
            <a:extLst>
              <a:ext uri="{FF2B5EF4-FFF2-40B4-BE49-F238E27FC236}">
                <a16:creationId xmlns:a16="http://schemas.microsoft.com/office/drawing/2014/main" id="{4118902C-45B3-B82B-629D-3B5D17055BF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18000" y="5562600"/>
            <a:ext cx="304800" cy="3048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D84893E-54A0-70FD-A989-56191B361BEF}"/>
              </a:ext>
            </a:extLst>
          </p:cNvPr>
          <p:cNvSpPr txBox="1"/>
          <p:nvPr/>
        </p:nvSpPr>
        <p:spPr>
          <a:xfrm>
            <a:off x="4699000" y="5334000"/>
            <a:ext cx="1244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Hindi and other Indian languages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2DBF5C8-CAB6-963C-D017-9AA8E6D551A9}"/>
              </a:ext>
            </a:extLst>
          </p:cNvPr>
          <p:cNvSpPr/>
          <p:nvPr/>
        </p:nvSpPr>
        <p:spPr>
          <a:xfrm>
            <a:off x="6096000" y="5334000"/>
            <a:ext cx="18161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3" name="Graphic 62" descr="brain-circuit icon">
            <a:extLst>
              <a:ext uri="{FF2B5EF4-FFF2-40B4-BE49-F238E27FC236}">
                <a16:creationId xmlns:a16="http://schemas.microsoft.com/office/drawing/2014/main" id="{4CD291A3-4CBC-C2EC-0771-F2E44167F1A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23000" y="5562600"/>
            <a:ext cx="304800" cy="304800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12198BED-6A72-DEB4-B336-E2B3F5350D56}"/>
              </a:ext>
            </a:extLst>
          </p:cNvPr>
          <p:cNvSpPr txBox="1"/>
          <p:nvPr/>
        </p:nvSpPr>
        <p:spPr>
          <a:xfrm>
            <a:off x="6604000" y="5334000"/>
            <a:ext cx="1244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Local NER model for names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A8946081-6C82-0605-C6EE-F5B9DF4FFF95}"/>
              </a:ext>
            </a:extLst>
          </p:cNvPr>
          <p:cNvSpPr/>
          <p:nvPr/>
        </p:nvSpPr>
        <p:spPr>
          <a:xfrm>
            <a:off x="8001000" y="5334000"/>
            <a:ext cx="18161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1" name="Graphic 130" descr="route icon">
            <a:extLst>
              <a:ext uri="{FF2B5EF4-FFF2-40B4-BE49-F238E27FC236}">
                <a16:creationId xmlns:a16="http://schemas.microsoft.com/office/drawing/2014/main" id="{772CD972-CC06-D9FA-583B-B4F85BBC58D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28000" y="5562600"/>
            <a:ext cx="304800" cy="304800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9888E039-9B28-AFE6-8606-011197DD7F83}"/>
              </a:ext>
            </a:extLst>
          </p:cNvPr>
          <p:cNvSpPr txBox="1"/>
          <p:nvPr/>
        </p:nvSpPr>
        <p:spPr>
          <a:xfrm>
            <a:off x="8509000" y="5334000"/>
            <a:ext cx="1244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Org gateway for desktop apps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E1059DE-1598-38C6-C614-7D22E0A22691}"/>
              </a:ext>
            </a:extLst>
          </p:cNvPr>
          <p:cNvSpPr/>
          <p:nvPr/>
        </p:nvSpPr>
        <p:spPr>
          <a:xfrm>
            <a:off x="9906000" y="5334000"/>
            <a:ext cx="1816100" cy="78740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2" name="Graphic 141" descr="file-lock icon">
            <a:extLst>
              <a:ext uri="{FF2B5EF4-FFF2-40B4-BE49-F238E27FC236}">
                <a16:creationId xmlns:a16="http://schemas.microsoft.com/office/drawing/2014/main" id="{F14C7EAA-E239-7272-C569-C212BDD123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33000" y="5562600"/>
            <a:ext cx="304800" cy="304800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268C8A86-4A72-68C7-C06A-82181BD154C9}"/>
              </a:ext>
            </a:extLst>
          </p:cNvPr>
          <p:cNvSpPr txBox="1"/>
          <p:nvPr/>
        </p:nvSpPr>
        <p:spPr>
          <a:xfrm>
            <a:off x="10414000" y="5334000"/>
            <a:ext cx="12446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000" b="1">
                <a:solidFill>
                  <a:srgbClr val="1F497D"/>
                </a:solidFill>
                <a:latin typeface="Arial" panose="020B0604020202020204" pitchFamily="34" charset="0"/>
              </a:rPr>
              <a:t>Tamper-evident audit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1905000" y="50800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rtl="0"/>
            <a:r>
              <a:rPr lang="en-US" sz="3400" b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  <a:sym typeface="Times New Roman"/>
              </a:rPr>
              <a:t>RESEARCH AND REFERENCES</a:t>
            </a:r>
            <a:endParaRPr sz="3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rtl="0">
              <a:buClr>
                <a:srgbClr val="FFFFFF"/>
              </a:buClr>
              <a:buSzPts val="1200"/>
            </a:pPr>
            <a:r>
              <a:rPr lang="en-IN" sz="1100" u="none" strike="noStrike" cap="none">
                <a:solidFill>
                  <a:srgbClr val="FFFFFF"/>
                </a:solidFill>
                <a:latin typeface="Oswald" panose="00000500000000000000" pitchFamily="2" charset="0"/>
                <a:ea typeface="Oswald"/>
                <a:cs typeface="Oswald"/>
                <a:sym typeface="Oswald"/>
              </a:rPr>
              <a:t>@BITSHIFT Idea submission  ·  TechKnights  ·  P2Shield</a:t>
            </a:r>
            <a:endParaRPr sz="1100" u="none" strike="noStrike" cap="none">
              <a:solidFill>
                <a:srgbClr val="FFFFFF"/>
              </a:solidFill>
              <a:latin typeface="Oswald" panose="00000500000000000000" pitchFamily="2" charset="0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 descr="Your startup LOGO"/>
          <p:cNvSpPr/>
          <p:nvPr/>
        </p:nvSpPr>
        <p:spPr>
          <a:xfrm>
            <a:off x="253999" y="228600"/>
            <a:ext cx="1422400" cy="5842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/>
            <a:r>
              <a:rPr lang="en-US" sz="1500" b="1">
                <a:solidFill>
                  <a:srgbClr val="4B2E83"/>
                </a:solidFill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TechKnights</a:t>
            </a:r>
            <a:endParaRPr sz="1500" b="1">
              <a:solidFill>
                <a:srgbClr val="4B2E83"/>
              </a:solidFill>
              <a:latin typeface="Calibri" panose="020F050202020403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6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r="13096" b="-9830"/>
          <a:stretch/>
        </p:blipFill>
        <p:spPr>
          <a:xfrm>
            <a:off x="10490200" y="76200"/>
            <a:ext cx="1498600" cy="106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61DC32-7C4E-46DF-A614-2E556FC53390}"/>
              </a:ext>
            </a:extLst>
          </p:cNvPr>
          <p:cNvSpPr txBox="1"/>
          <p:nvPr/>
        </p:nvSpPr>
        <p:spPr>
          <a:xfrm>
            <a:off x="1905000" y="685800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b="1">
                <a:solidFill>
                  <a:srgbClr val="1F497D"/>
                </a:solidFill>
                <a:latin typeface="Arial" panose="020B0604020202020204" pitchFamily="34" charset="0"/>
              </a:rPr>
              <a:t>Why the problem is real, and why the market needs it now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65B61C-1BB7-30DD-2E74-8DDA8C3EB610}"/>
              </a:ext>
            </a:extLst>
          </p:cNvPr>
          <p:cNvSpPr/>
          <p:nvPr/>
        </p:nvSpPr>
        <p:spPr>
          <a:xfrm>
            <a:off x="228600" y="1168400"/>
            <a:ext cx="5791200" cy="5054600"/>
          </a:xfrm>
          <a:prstGeom prst="roundRect">
            <a:avLst>
              <a:gd name="adj" fmla="val 3518"/>
            </a:avLst>
          </a:prstGeom>
          <a:gradFill flip="none" rotWithShape="1">
            <a:gsLst>
              <a:gs pos="0">
                <a:srgbClr val="BDF2F6"/>
              </a:gs>
              <a:gs pos="100000">
                <a:srgbClr val="A9C0F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book-open icon">
            <a:extLst>
              <a:ext uri="{FF2B5EF4-FFF2-40B4-BE49-F238E27FC236}">
                <a16:creationId xmlns:a16="http://schemas.microsoft.com/office/drawing/2014/main" id="{BFD07E2D-03EC-01AB-4B4C-0460EFCF5F2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" y="1320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35F3AC-EE28-C46F-70E1-BA37481543B8}"/>
              </a:ext>
            </a:extLst>
          </p:cNvPr>
          <p:cNvSpPr txBox="1"/>
          <p:nvPr/>
        </p:nvSpPr>
        <p:spPr>
          <a:xfrm>
            <a:off x="838200" y="1270000"/>
            <a:ext cx="4953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800" b="1">
                <a:latin typeface="Arial" panose="020B0604020202020204" pitchFamily="34" charset="0"/>
              </a:rPr>
              <a:t>INDUSTRY RESEARCH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A0C3ED-BB51-5C8E-5B01-DD67601F3F71}"/>
              </a:ext>
            </a:extLst>
          </p:cNvPr>
          <p:cNvSpPr/>
          <p:nvPr/>
        </p:nvSpPr>
        <p:spPr>
          <a:xfrm>
            <a:off x="406400" y="1803400"/>
            <a:ext cx="5435600" cy="9906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64790-E5C7-3EF7-E87B-6A8877831867}"/>
              </a:ext>
            </a:extLst>
          </p:cNvPr>
          <p:cNvSpPr txBox="1"/>
          <p:nvPr/>
        </p:nvSpPr>
        <p:spPr>
          <a:xfrm>
            <a:off x="482600" y="1803400"/>
            <a:ext cx="1574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500" b="1">
                <a:solidFill>
                  <a:srgbClr val="D9473F"/>
                </a:solidFill>
                <a:latin typeface="Arial" panose="020B0604020202020204" pitchFamily="34" charset="0"/>
              </a:rPr>
              <a:t>77%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2383EB-10A7-04EB-9824-844E1D61A0AA}"/>
              </a:ext>
            </a:extLst>
          </p:cNvPr>
          <p:cNvCxnSpPr/>
          <p:nvPr/>
        </p:nvCxnSpPr>
        <p:spPr>
          <a:xfrm>
            <a:off x="2108200" y="1981200"/>
            <a:ext cx="0" cy="635000"/>
          </a:xfrm>
          <a:prstGeom prst="straightConnector1">
            <a:avLst/>
          </a:prstGeom>
          <a:ln w="12700">
            <a:solidFill>
              <a:srgbClr val="D5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C4624C-0782-D1AD-899E-ACF42ADDD5BF}"/>
              </a:ext>
            </a:extLst>
          </p:cNvPr>
          <p:cNvSpPr txBox="1"/>
          <p:nvPr/>
        </p:nvSpPr>
        <p:spPr>
          <a:xfrm>
            <a:off x="2260600" y="1879600"/>
            <a:ext cx="3454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of GenAI users paste work data into AI prompts</a:t>
            </a:r>
          </a:p>
          <a:p>
            <a:pPr>
              <a:spcAft>
                <a:spcPts val="400"/>
              </a:spcAft>
            </a:pPr>
            <a:r>
              <a:rPr lang="en-IN" sz="900">
                <a:solidFill>
                  <a:srgbClr val="1D3FA0"/>
                </a:solidFill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LayerX, Enterprise AI &amp; SaaS Data Security Report 2025</a:t>
            </a:r>
            <a:endParaRPr lang="en-IN" sz="900">
              <a:solidFill>
                <a:srgbClr val="1D3FA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F1D861-D139-9755-568B-F6A43804FD68}"/>
              </a:ext>
            </a:extLst>
          </p:cNvPr>
          <p:cNvSpPr/>
          <p:nvPr/>
        </p:nvSpPr>
        <p:spPr>
          <a:xfrm>
            <a:off x="406400" y="2870200"/>
            <a:ext cx="5435600" cy="9906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BB3B3-786D-B618-194E-3F3769CE8CDD}"/>
              </a:ext>
            </a:extLst>
          </p:cNvPr>
          <p:cNvSpPr txBox="1"/>
          <p:nvPr/>
        </p:nvSpPr>
        <p:spPr>
          <a:xfrm>
            <a:off x="482600" y="2870200"/>
            <a:ext cx="1574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500" b="1">
                <a:solidFill>
                  <a:srgbClr val="E07B00"/>
                </a:solidFill>
                <a:latin typeface="Arial" panose="020B0604020202020204" pitchFamily="34" charset="0"/>
              </a:rPr>
              <a:t>39.7%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6E29BD-618E-E53E-15D0-E99F8B6C1EC4}"/>
              </a:ext>
            </a:extLst>
          </p:cNvPr>
          <p:cNvCxnSpPr/>
          <p:nvPr/>
        </p:nvCxnSpPr>
        <p:spPr>
          <a:xfrm>
            <a:off x="2108200" y="3048000"/>
            <a:ext cx="0" cy="635000"/>
          </a:xfrm>
          <a:prstGeom prst="straightConnector1">
            <a:avLst/>
          </a:prstGeom>
          <a:ln w="12700">
            <a:solidFill>
              <a:srgbClr val="D5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287271-6EA6-E3F2-C6A3-B6203DADDF56}"/>
              </a:ext>
            </a:extLst>
          </p:cNvPr>
          <p:cNvSpPr txBox="1"/>
          <p:nvPr/>
        </p:nvSpPr>
        <p:spPr>
          <a:xfrm>
            <a:off x="2260600" y="2946400"/>
            <a:ext cx="3454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of all data shared with AI tools is sensitive</a:t>
            </a:r>
          </a:p>
          <a:p>
            <a:pPr>
              <a:spcAft>
                <a:spcPts val="400"/>
              </a:spcAft>
            </a:pPr>
            <a:r>
              <a:rPr lang="en-IN" sz="900">
                <a:solidFill>
                  <a:srgbClr val="1D3FA0"/>
                </a:solidFill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Cyberhaven Labs, AI Adoption &amp; Risk Report 2026</a:t>
            </a:r>
            <a:endParaRPr lang="en-IN" sz="900">
              <a:solidFill>
                <a:srgbClr val="1D3FA0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0892A3-4E06-52FB-4E9B-0A6ECFCA567C}"/>
              </a:ext>
            </a:extLst>
          </p:cNvPr>
          <p:cNvSpPr/>
          <p:nvPr/>
        </p:nvSpPr>
        <p:spPr>
          <a:xfrm>
            <a:off x="406400" y="3937000"/>
            <a:ext cx="5435600" cy="9906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ADD6EA-524F-F5E8-812A-167D74EA824E}"/>
              </a:ext>
            </a:extLst>
          </p:cNvPr>
          <p:cNvSpPr txBox="1"/>
          <p:nvPr/>
        </p:nvSpPr>
        <p:spPr>
          <a:xfrm>
            <a:off x="482600" y="3937000"/>
            <a:ext cx="1574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500" b="1">
                <a:solidFill>
                  <a:srgbClr val="6F4FB0"/>
                </a:solidFill>
                <a:latin typeface="Arial" panose="020B0604020202020204" pitchFamily="34" charset="0"/>
              </a:rPr>
              <a:t>₹25.5 Cr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6C0C8F-7E8F-E7DA-F318-D7757C7A0EDB}"/>
              </a:ext>
            </a:extLst>
          </p:cNvPr>
          <p:cNvCxnSpPr/>
          <p:nvPr/>
        </p:nvCxnSpPr>
        <p:spPr>
          <a:xfrm>
            <a:off x="2108200" y="4114800"/>
            <a:ext cx="0" cy="635000"/>
          </a:xfrm>
          <a:prstGeom prst="straightConnector1">
            <a:avLst/>
          </a:prstGeom>
          <a:ln w="12700">
            <a:solidFill>
              <a:srgbClr val="D5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94A4FED-58ED-2246-7AA9-8342FD763750}"/>
              </a:ext>
            </a:extLst>
          </p:cNvPr>
          <p:cNvSpPr txBox="1"/>
          <p:nvPr/>
        </p:nvSpPr>
        <p:spPr>
          <a:xfrm>
            <a:off x="2260600" y="4013200"/>
            <a:ext cx="3454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average cost of one data breach in India, a record high</a:t>
            </a:r>
          </a:p>
          <a:p>
            <a:pPr>
              <a:spcAft>
                <a:spcPts val="400"/>
              </a:spcAft>
            </a:pPr>
            <a:r>
              <a:rPr lang="en-IN" sz="900">
                <a:solidFill>
                  <a:srgbClr val="1D3FA0"/>
                </a:solidFill>
                <a:latin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IBM, Cost of a Data Breach Report 2026</a:t>
            </a:r>
            <a:endParaRPr lang="en-IN" sz="900">
              <a:solidFill>
                <a:srgbClr val="1D3FA0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90EAC0-6324-212E-E3F3-5C385F041363}"/>
              </a:ext>
            </a:extLst>
          </p:cNvPr>
          <p:cNvSpPr/>
          <p:nvPr/>
        </p:nvSpPr>
        <p:spPr>
          <a:xfrm>
            <a:off x="406400" y="5003800"/>
            <a:ext cx="5435600" cy="9906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101600" dist="25400" dir="5400000" rotWithShape="0">
              <a:srgbClr val="1E293B">
                <a:alpha val="18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A9BE3-F62E-DD14-99FB-946D55F4DC5D}"/>
              </a:ext>
            </a:extLst>
          </p:cNvPr>
          <p:cNvSpPr txBox="1"/>
          <p:nvPr/>
        </p:nvSpPr>
        <p:spPr>
          <a:xfrm>
            <a:off x="482600" y="5003800"/>
            <a:ext cx="15748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2500" b="1">
                <a:solidFill>
                  <a:srgbClr val="1F497D"/>
                </a:solidFill>
                <a:latin typeface="Arial" panose="020B0604020202020204" pitchFamily="34" charset="0"/>
              </a:rPr>
              <a:t>2023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6D770F-9B87-BBAF-68C8-134C36F11514}"/>
              </a:ext>
            </a:extLst>
          </p:cNvPr>
          <p:cNvCxnSpPr/>
          <p:nvPr/>
        </p:nvCxnSpPr>
        <p:spPr>
          <a:xfrm>
            <a:off x="2108200" y="5181600"/>
            <a:ext cx="0" cy="635000"/>
          </a:xfrm>
          <a:prstGeom prst="straightConnector1">
            <a:avLst/>
          </a:prstGeom>
          <a:ln w="12700">
            <a:solidFill>
              <a:srgbClr val="D5D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02FC2C7-B0BA-2EBA-07AA-63A6B53817AC}"/>
              </a:ext>
            </a:extLst>
          </p:cNvPr>
          <p:cNvSpPr txBox="1"/>
          <p:nvPr/>
        </p:nvSpPr>
        <p:spPr>
          <a:xfrm>
            <a:off x="2260600" y="5080000"/>
            <a:ext cx="3454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lang="en-IN" sz="1250" b="1">
                <a:solidFill>
                  <a:srgbClr val="1A1A1A"/>
                </a:solidFill>
                <a:latin typeface="Arial" panose="020B0604020202020204" pitchFamily="34" charset="0"/>
              </a:rPr>
              <a:t>Samsung bans ChatGPT after engineers leak source code into it</a:t>
            </a:r>
          </a:p>
          <a:p>
            <a:pPr>
              <a:spcAft>
                <a:spcPts val="400"/>
              </a:spcAft>
            </a:pPr>
            <a:r>
              <a:rPr lang="en-IN" sz="900">
                <a:solidFill>
                  <a:srgbClr val="1D3FA0"/>
                </a:solidFill>
                <a:latin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TechCrunch, 2 May 2023</a:t>
            </a:r>
            <a:endParaRPr lang="en-IN" sz="900">
              <a:solidFill>
                <a:srgbClr val="1D3FA0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7529D4F-E15A-12E3-D802-8B14330CCC18}"/>
              </a:ext>
            </a:extLst>
          </p:cNvPr>
          <p:cNvSpPr/>
          <p:nvPr/>
        </p:nvSpPr>
        <p:spPr>
          <a:xfrm>
            <a:off x="6172200" y="1168400"/>
            <a:ext cx="5791200" cy="5054600"/>
          </a:xfrm>
          <a:prstGeom prst="roundRect">
            <a:avLst>
              <a:gd name="adj" fmla="val 3518"/>
            </a:avLst>
          </a:prstGeom>
          <a:gradFill flip="none" rotWithShape="1">
            <a:gsLst>
              <a:gs pos="0">
                <a:srgbClr val="0B0B2B"/>
              </a:gs>
              <a:gs pos="100000">
                <a:srgbClr val="3B39C9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Graphic 24" descr="chart-bar icon">
            <a:extLst>
              <a:ext uri="{FF2B5EF4-FFF2-40B4-BE49-F238E27FC236}">
                <a16:creationId xmlns:a16="http://schemas.microsoft.com/office/drawing/2014/main" id="{3D73E9D2-F131-BBD9-F4C0-CBCF27219D1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5400" y="1320800"/>
            <a:ext cx="304800" cy="304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FEB16F4-0C33-2295-227E-E089CA574EB2}"/>
              </a:ext>
            </a:extLst>
          </p:cNvPr>
          <p:cNvSpPr txBox="1"/>
          <p:nvPr/>
        </p:nvSpPr>
        <p:spPr>
          <a:xfrm>
            <a:off x="6781800" y="1270000"/>
            <a:ext cx="4953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800" b="1">
                <a:solidFill>
                  <a:srgbClr val="FFFFFF"/>
                </a:solidFill>
                <a:latin typeface="Arial" panose="020B0604020202020204" pitchFamily="34" charset="0"/>
              </a:rPr>
              <a:t>MARKET RESEARCH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4CEA125-9C85-8AB4-F867-C3D4446AE7A8}"/>
              </a:ext>
            </a:extLst>
          </p:cNvPr>
          <p:cNvSpPr/>
          <p:nvPr/>
        </p:nvSpPr>
        <p:spPr>
          <a:xfrm>
            <a:off x="6350000" y="1803400"/>
            <a:ext cx="5435600" cy="1803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2B9948-DEC1-E95F-DBEC-7098C069B88F}"/>
              </a:ext>
            </a:extLst>
          </p:cNvPr>
          <p:cNvSpPr txBox="1"/>
          <p:nvPr/>
        </p:nvSpPr>
        <p:spPr>
          <a:xfrm>
            <a:off x="6527800" y="1905000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solidFill>
                  <a:srgbClr val="1F497D"/>
                </a:solidFill>
                <a:latin typeface="Arial" panose="020B0604020202020204" pitchFamily="34" charset="0"/>
              </a:rPr>
              <a:t>Data loss prevention (DLP) market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820E43-3800-98D5-D737-A89BE200B078}"/>
              </a:ext>
            </a:extLst>
          </p:cNvPr>
          <p:cNvSpPr txBox="1"/>
          <p:nvPr/>
        </p:nvSpPr>
        <p:spPr>
          <a:xfrm>
            <a:off x="6527800" y="2133600"/>
            <a:ext cx="3810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900">
                <a:solidFill>
                  <a:srgbClr val="1D3FA0"/>
                </a:solidFill>
                <a:latin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Grand View Research, 2026</a:t>
            </a:r>
            <a:endParaRPr lang="en-IN" sz="900">
              <a:solidFill>
                <a:srgbClr val="1D3FA0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8D6A0E5-8D7A-9E5C-CDF5-9FD24BDBFB58}"/>
              </a:ext>
            </a:extLst>
          </p:cNvPr>
          <p:cNvSpPr/>
          <p:nvPr/>
        </p:nvSpPr>
        <p:spPr>
          <a:xfrm>
            <a:off x="10541000" y="1930400"/>
            <a:ext cx="1117600" cy="3048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rial" panose="020B0604020202020204" pitchFamily="34" charset="0"/>
              </a:rPr>
              <a:t>19% CAGR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F32F47-867E-75D6-90D5-22555485DA09}"/>
              </a:ext>
            </a:extLst>
          </p:cNvPr>
          <p:cNvSpPr txBox="1"/>
          <p:nvPr/>
        </p:nvSpPr>
        <p:spPr>
          <a:xfrm>
            <a:off x="6527800" y="24638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00" b="1">
                <a:solidFill>
                  <a:srgbClr val="1A1A1A"/>
                </a:solidFill>
                <a:latin typeface="Arial" panose="020B0604020202020204" pitchFamily="34" charset="0"/>
              </a:rPr>
              <a:t>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BBBCE4-073B-0B43-2A07-A1A77A06C1C0}"/>
              </a:ext>
            </a:extLst>
          </p:cNvPr>
          <p:cNvSpPr/>
          <p:nvPr/>
        </p:nvSpPr>
        <p:spPr>
          <a:xfrm>
            <a:off x="7137400" y="2501900"/>
            <a:ext cx="782246" cy="304800"/>
          </a:xfrm>
          <a:prstGeom prst="roundRect">
            <a:avLst>
              <a:gd name="adj" fmla="val 20833"/>
            </a:avLst>
          </a:prstGeom>
          <a:solidFill>
            <a:srgbClr val="8FA9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1069F8-E76A-EFBE-E341-BD1B48E83AC1}"/>
              </a:ext>
            </a:extLst>
          </p:cNvPr>
          <p:cNvSpPr txBox="1"/>
          <p:nvPr/>
        </p:nvSpPr>
        <p:spPr>
          <a:xfrm>
            <a:off x="8021246" y="24638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solidFill>
                  <a:srgbClr val="1F497D"/>
                </a:solidFill>
                <a:latin typeface="Arial" panose="020B0604020202020204" pitchFamily="34" charset="0"/>
              </a:rPr>
              <a:t>USD 3.4 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407B91-26D9-FD83-F97F-E9F1F9711D8C}"/>
              </a:ext>
            </a:extLst>
          </p:cNvPr>
          <p:cNvSpPr txBox="1"/>
          <p:nvPr/>
        </p:nvSpPr>
        <p:spPr>
          <a:xfrm>
            <a:off x="6527800" y="29464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00" b="1">
                <a:solidFill>
                  <a:srgbClr val="1A1A1A"/>
                </a:solidFill>
                <a:latin typeface="Arial" panose="020B0604020202020204" pitchFamily="34" charset="0"/>
              </a:rPr>
              <a:t>2033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7133F7A-15F1-F3C4-6EDE-8698EB785608}"/>
              </a:ext>
            </a:extLst>
          </p:cNvPr>
          <p:cNvSpPr/>
          <p:nvPr/>
        </p:nvSpPr>
        <p:spPr>
          <a:xfrm>
            <a:off x="7137400" y="2984500"/>
            <a:ext cx="3175000" cy="304800"/>
          </a:xfrm>
          <a:prstGeom prst="roundRect">
            <a:avLst>
              <a:gd name="adj" fmla="val 20833"/>
            </a:avLst>
          </a:prstGeom>
          <a:solidFill>
            <a:srgbClr val="6F4FB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09BA8-4CD2-01FA-EF63-3624229CFAA4}"/>
              </a:ext>
            </a:extLst>
          </p:cNvPr>
          <p:cNvSpPr txBox="1"/>
          <p:nvPr/>
        </p:nvSpPr>
        <p:spPr>
          <a:xfrm>
            <a:off x="10414000" y="2946400"/>
            <a:ext cx="127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1250" b="1">
                <a:solidFill>
                  <a:srgbClr val="1F497D"/>
                </a:solidFill>
                <a:latin typeface="Arial" panose="020B0604020202020204" pitchFamily="34" charset="0"/>
              </a:rPr>
              <a:t>USD 13.8 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31C6FF-D77D-191F-6DEC-D4826D09DECB}"/>
              </a:ext>
            </a:extLst>
          </p:cNvPr>
          <p:cNvSpPr txBox="1"/>
          <p:nvPr/>
        </p:nvSpPr>
        <p:spPr>
          <a:xfrm>
            <a:off x="6527800" y="3378200"/>
            <a:ext cx="5130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900" i="1">
                <a:solidFill>
                  <a:srgbClr val="55606E"/>
                </a:solidFill>
                <a:latin typeface="Arial" panose="020B0604020202020204" pitchFamily="34" charset="0"/>
              </a:rPr>
              <a:t>About 4× growth in 8 years, driven by data-protection laws and AI adoption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930186B-1DA1-5105-7969-978E78699BBC}"/>
              </a:ext>
            </a:extLst>
          </p:cNvPr>
          <p:cNvSpPr/>
          <p:nvPr/>
        </p:nvSpPr>
        <p:spPr>
          <a:xfrm>
            <a:off x="6350000" y="3810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5B5B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" name="Graphic 39" descr="eye-off icon">
            <a:extLst>
              <a:ext uri="{FF2B5EF4-FFF2-40B4-BE49-F238E27FC236}">
                <a16:creationId xmlns:a16="http://schemas.microsoft.com/office/drawing/2014/main" id="{B5C1188B-E80E-0668-A2A4-08F01514561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64300" y="3924300"/>
            <a:ext cx="279400" cy="279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679CEF1-492E-4979-1D1C-952891B9F23E}"/>
              </a:ext>
            </a:extLst>
          </p:cNvPr>
          <p:cNvSpPr txBox="1"/>
          <p:nvPr/>
        </p:nvSpPr>
        <p:spPr>
          <a:xfrm>
            <a:off x="7010400" y="3759200"/>
            <a:ext cx="4775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IN" sz="1100" b="1">
                <a:solidFill>
                  <a:srgbClr val="A9D4FF"/>
                </a:solidFill>
                <a:latin typeface="Arial" panose="020B0604020202020204" pitchFamily="34" charset="0"/>
              </a:rPr>
              <a:t>Blind spot</a:t>
            </a:r>
          </a:p>
          <a:p>
            <a:pPr>
              <a:spcAft>
                <a:spcPts val="100"/>
              </a:spcAft>
            </a:pPr>
            <a:r>
              <a:rPr lang="en-IN" sz="1100">
                <a:solidFill>
                  <a:srgbClr val="FFFFFF"/>
                </a:solidFill>
                <a:latin typeface="Arial" panose="020B0604020202020204" pitchFamily="34" charset="0"/>
              </a:rPr>
              <a:t>82% of AI pastes come from personal accounts that company network tools cannot see</a:t>
            </a:r>
          </a:p>
          <a:p>
            <a:pPr>
              <a:spcAft>
                <a:spcPts val="100"/>
              </a:spcAft>
            </a:pPr>
            <a:r>
              <a:rPr lang="en-IN" sz="900">
                <a:solidFill>
                  <a:srgbClr val="A9D4FF"/>
                </a:solidFill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LayerX 2025</a:t>
            </a:r>
            <a:endParaRPr lang="en-IN" sz="900">
              <a:solidFill>
                <a:srgbClr val="A9D4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BB2D31-5748-6B38-4CB0-EB85FB48A04F}"/>
              </a:ext>
            </a:extLst>
          </p:cNvPr>
          <p:cNvSpPr/>
          <p:nvPr/>
        </p:nvSpPr>
        <p:spPr>
          <a:xfrm>
            <a:off x="6350000" y="4572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5B5B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Graphic 43" descr="puzzle icon">
            <a:extLst>
              <a:ext uri="{FF2B5EF4-FFF2-40B4-BE49-F238E27FC236}">
                <a16:creationId xmlns:a16="http://schemas.microsoft.com/office/drawing/2014/main" id="{D91862DE-83A6-A4B0-ED89-F15821A5F4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4300" y="4686300"/>
            <a:ext cx="279400" cy="279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3EA9A5D-D1DF-DD1F-A585-E4E4BB1AEAF2}"/>
              </a:ext>
            </a:extLst>
          </p:cNvPr>
          <p:cNvSpPr txBox="1"/>
          <p:nvPr/>
        </p:nvSpPr>
        <p:spPr>
          <a:xfrm>
            <a:off x="7010400" y="4521200"/>
            <a:ext cx="4775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IN" sz="1100" b="1">
                <a:solidFill>
                  <a:srgbClr val="A9D4FF"/>
                </a:solidFill>
                <a:latin typeface="Arial" panose="020B0604020202020204" pitchFamily="34" charset="0"/>
              </a:rPr>
              <a:t>Gap we fill</a:t>
            </a:r>
          </a:p>
          <a:p>
            <a:pPr>
              <a:spcAft>
                <a:spcPts val="100"/>
              </a:spcAft>
            </a:pPr>
            <a:r>
              <a:rPr lang="en-IN" sz="1100">
                <a:solidFill>
                  <a:srgbClr val="FFFFFF"/>
                </a:solidFill>
                <a:latin typeface="Arial" panose="020B0604020202020204" pitchFamily="34" charset="0"/>
              </a:rPr>
              <a:t>Existing tools block AI or route prompts through a cloud proxy. P2Shield cleans them on the device, for free.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8A85E45-AA1E-8FC3-302B-C1EA736B3FA7}"/>
              </a:ext>
            </a:extLst>
          </p:cNvPr>
          <p:cNvSpPr/>
          <p:nvPr/>
        </p:nvSpPr>
        <p:spPr>
          <a:xfrm>
            <a:off x="6350000" y="5334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5B5BD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avel icon">
            <a:extLst>
              <a:ext uri="{FF2B5EF4-FFF2-40B4-BE49-F238E27FC236}">
                <a16:creationId xmlns:a16="http://schemas.microsoft.com/office/drawing/2014/main" id="{6CE69170-3F2C-1757-6B1D-91DB9AA98CD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64300" y="5448300"/>
            <a:ext cx="279400" cy="2794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A9B86E7-CCB8-141D-2426-C4B3EA47456F}"/>
              </a:ext>
            </a:extLst>
          </p:cNvPr>
          <p:cNvSpPr txBox="1"/>
          <p:nvPr/>
        </p:nvSpPr>
        <p:spPr>
          <a:xfrm>
            <a:off x="7010400" y="5283200"/>
            <a:ext cx="4775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n-IN" sz="1100" b="1">
                <a:solidFill>
                  <a:srgbClr val="A9D4FF"/>
                </a:solidFill>
                <a:latin typeface="Arial" panose="020B0604020202020204" pitchFamily="34" charset="0"/>
              </a:rPr>
              <a:t>Why now</a:t>
            </a:r>
          </a:p>
          <a:p>
            <a:pPr>
              <a:spcAft>
                <a:spcPts val="100"/>
              </a:spcAft>
            </a:pPr>
            <a:r>
              <a:rPr lang="en-IN" sz="1100">
                <a:solidFill>
                  <a:srgbClr val="FFFFFF"/>
                </a:solidFill>
                <a:latin typeface="Arial" panose="020B0604020202020204" pitchFamily="34" charset="0"/>
              </a:rPr>
              <a:t>DPDP Rules 2025: full compliance due May 2027, penalties up to ₹250 Cr</a:t>
            </a:r>
          </a:p>
          <a:p>
            <a:pPr>
              <a:spcAft>
                <a:spcPts val="100"/>
              </a:spcAft>
            </a:pPr>
            <a:r>
              <a:rPr lang="en-IN" sz="900">
                <a:solidFill>
                  <a:srgbClr val="A9D4FF"/>
                </a:solidFill>
                <a:latin typeface="Arial" panose="020B060402020202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MeitY, Data Protection Framework</a:t>
            </a:r>
            <a:endParaRPr lang="en-IN" sz="900">
              <a:solidFill>
                <a:srgbClr val="A9D4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Widescreen</PresentationFormat>
  <Paragraphs>260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Segoe UI Symbol</vt:lpstr>
      <vt:lpstr>Times New Roman</vt:lpstr>
      <vt:lpstr>Garamond</vt:lpstr>
      <vt:lpstr>Oswald</vt:lpstr>
      <vt:lpstr>Arial</vt:lpstr>
      <vt:lpstr>Consolas</vt:lpstr>
      <vt:lpstr>Arial Black</vt:lpstr>
      <vt:lpstr>Office Theme</vt:lpstr>
      <vt:lpstr>BITSHIFT 2026</vt:lpstr>
      <vt:lpstr>P2SHIELD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Rohit Tiger</cp:lastModifiedBy>
  <cp:revision>1</cp:revision>
  <dcterms:created xsi:type="dcterms:W3CDTF">2013-12-12T18:46:50Z</dcterms:created>
  <dcterms:modified xsi:type="dcterms:W3CDTF">2026-10-05T18:27:36Z</dcterms:modified>
</cp:coreProperties>
</file>